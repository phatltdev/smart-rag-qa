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334" r:id="rId35"/>
    <p:sldId id="335" r:id="rId36"/>
    <p:sldId id="333" r:id="rId37"/>
    <p:sldId id="336" r:id="rId38"/>
    <p:sldId id="337" r:id="rId39"/>
    <p:sldId id="338" r:id="rId40"/>
    <p:sldId id="33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E99A-335F-ED7F-86D0-0B7CF2470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F235E-5D24-0BE9-BF11-46BFC2709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0A96E-2860-BCD7-F55B-182014DA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773D-AE93-A02A-6965-7C74FB6B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DE86D-A9FC-290D-6781-4C389E13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6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D6FF6-DEE9-493C-E46D-63782C4D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2103"/>
            <a:ext cx="10515600" cy="83944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DDE08-2A33-6A3B-E103-AC51002ED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1"/>
            <a:ext cx="10515600" cy="4351338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9F7C3-2FAB-C484-6315-F8277358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37E93-8C4D-FD47-B07A-22F7D009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216EA-0442-6D89-117E-5485D9FC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AAF8C-4CA0-2153-4719-8AF166288AFE}"/>
              </a:ext>
            </a:extLst>
          </p:cNvPr>
          <p:cNvSpPr/>
          <p:nvPr userDrawn="1"/>
        </p:nvSpPr>
        <p:spPr>
          <a:xfrm>
            <a:off x="0" y="0"/>
            <a:ext cx="12192000" cy="523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9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8A4C-8204-6892-A09E-93E121713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46984-56F7-FA99-F48E-9FFF651EE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6DBE8-1C5B-5755-6697-4F6DE5C6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24E5E-8A2C-A43B-539B-287BA13F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F9404-F36E-F7DF-BEA1-AA9319B8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94AD-360A-D577-B7C0-AB00A1711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81603-89C1-FC93-C87D-DD9F0D6A6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0A722-2683-C5C6-9D61-A6F686EAF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6A4CA-41F0-60AE-1281-2E910DD1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C1F4D-154D-575F-8F99-9FABDADA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F2F91-3C80-21AE-32FD-C0349F95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1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BBF8-5359-6895-E013-43D0C7213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E158-3737-B86B-240F-B8B6D4984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56613-850C-5C90-AB92-370A1F59E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1CBEE-EA50-17F4-B300-978008091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7B828-9D0D-FC4E-21DE-7001E2443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38E6C-D003-7D42-7A48-1DA927B6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1A02F-4800-8F6A-4D1C-50504BF02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C5F13F-2A3C-9EE2-DA73-1FA914FC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7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3BA8C-9F64-2902-6899-1DCCA67D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32632-7821-FEA0-46B4-428643F6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61020-63D4-EA2B-3CE2-C4EA6490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3CD84-094F-B6C6-317E-5397DFC8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1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5C4B82-FAAF-A638-CC82-C5CF85E6B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E16BB-B1CE-47C0-4CA3-98A8429C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2CB38-CA25-25F3-A28C-96974122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71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9FC1-F1B4-935D-223B-FF9026DE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C0D69-EDE1-5722-D309-DB74E5D22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7919C-0284-8FC2-8AF8-E25D25F80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10F71-DD33-A945-40E5-157809B85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940B1-4E0A-86FD-DB63-FA2EDE62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0E100-F3B2-E810-C9C7-B346E02C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0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BDE2E-D7A6-EB4A-7B77-F1EE6063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0C683-9447-7295-1D95-CA429675F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55656-3260-BA45-D5C5-A4A906CA3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330B4-C7E4-49A2-E68D-EBC17442F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D7556-ED10-0DAB-114D-AE364E1E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30525-5767-96D8-DA6E-C5791240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78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F308-92A2-CD96-E4A7-5ACC420F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02245-9478-3604-C050-B4F982616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2ADED-100D-52F8-4EE0-793837A6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5FC5C-2137-AE4A-4950-01E70865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FC086-2164-BAE9-81EE-35F0E9B9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3CDAD-A588-4656-1B11-CBEBBDB72D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D442F-AFBA-259D-DAE7-29B627B16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B83D2-2AD9-3F78-ED0E-E4444D28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4F7E-85E4-FC71-7083-0D75E158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41AD8-951D-1067-551D-B82ED414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2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123170-379D-8CDF-FE8D-D3AE2C26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3EF52-E98F-D16B-0738-A8D2E7E5D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230B8-00DE-D6C8-0398-7AAA7AFE1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B2EA0-E1B1-43E6-876E-C527C1A5BF5D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9018A-AECB-D062-3BFC-E27F832CD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F597D-92D6-84ED-B67D-23F22CD10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08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8685F-167A-9803-8F39-BA4F09949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764" y="884049"/>
            <a:ext cx="11397007" cy="143230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BB5F2-AD2D-4D4A-9903-17DF5CFC1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795" y="2819614"/>
            <a:ext cx="10202944" cy="1655762"/>
          </a:xfrm>
        </p:spPr>
        <p:txBody>
          <a:bodyPr/>
          <a:lstStyle/>
          <a:p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Chapter 5: TEXT CLUSTERING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CBB6B7B-B524-7EBB-585A-DB0BAABB3569}"/>
              </a:ext>
            </a:extLst>
          </p:cNvPr>
          <p:cNvSpPr txBox="1">
            <a:spLocks/>
          </p:cNvSpPr>
          <p:nvPr/>
        </p:nvSpPr>
        <p:spPr>
          <a:xfrm>
            <a:off x="304800" y="5009496"/>
            <a:ext cx="1170790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Trương Quốc Định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Faculty of Information Systems – College of Information &amp; Communication Technology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427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Cluster:</a:t>
            </a:r>
            <a:r>
              <a:rPr lang="en-GB" dirty="0"/>
              <a:t> A </a:t>
            </a:r>
            <a:r>
              <a:rPr lang="en-GB" dirty="0">
                <a:solidFill>
                  <a:srgbClr val="FF0000"/>
                </a:solidFill>
              </a:rPr>
              <a:t>collection of data objects</a:t>
            </a:r>
            <a:r>
              <a:rPr lang="en-GB" dirty="0"/>
              <a:t> </a:t>
            </a:r>
            <a:r>
              <a:rPr lang="en-GB" dirty="0">
                <a:solidFill>
                  <a:srgbClr val="00B050"/>
                </a:solidFill>
              </a:rPr>
              <a:t>similar (or related) to one another</a:t>
            </a:r>
            <a:r>
              <a:rPr lang="en-GB" dirty="0"/>
              <a:t> within the </a:t>
            </a:r>
            <a:r>
              <a:rPr lang="en-GB" dirty="0">
                <a:solidFill>
                  <a:srgbClr val="00B050"/>
                </a:solidFill>
              </a:rPr>
              <a:t>same group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dissimilar (or unrelated) </a:t>
            </a:r>
            <a:r>
              <a:rPr lang="en-GB" dirty="0"/>
              <a:t>to the </a:t>
            </a:r>
            <a:r>
              <a:rPr lang="en-GB" dirty="0">
                <a:solidFill>
                  <a:srgbClr val="0070C0"/>
                </a:solidFill>
              </a:rPr>
              <a:t>objects in other groups.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Cluster analysis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i="1" dirty="0">
                <a:solidFill>
                  <a:srgbClr val="00B050"/>
                </a:solidFill>
              </a:rPr>
              <a:t>Finding similarities between data according to the characteristics</a:t>
            </a:r>
            <a:r>
              <a:rPr lang="en-GB" dirty="0"/>
              <a:t> found in the data and grouping similar data objects into clusters.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Unsupervised learning</a:t>
            </a:r>
            <a:r>
              <a:rPr lang="en-GB" dirty="0"/>
              <a:t>: no predefined classes.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Typical applications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As a stand-alone tool to get insight into data distribution. 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As a preprocessing step for other algorithms.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291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Clustering for Data Understanding and Applications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Information retrieval</a:t>
            </a:r>
            <a:r>
              <a:rPr lang="en-GB" dirty="0"/>
              <a:t>: document clustering.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Land use</a:t>
            </a:r>
            <a:r>
              <a:rPr lang="en-GB" dirty="0"/>
              <a:t>: Identification of areas of similar land use in an earth observation database.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Marketing</a:t>
            </a:r>
            <a:r>
              <a:rPr lang="en-GB" dirty="0"/>
              <a:t>: Help marketers discover distinct groups in their customer bases, and then use this knowledge to develop targeted marketing programs.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Economic Science</a:t>
            </a:r>
            <a:r>
              <a:rPr lang="en-GB" dirty="0"/>
              <a:t>: market research.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…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443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Clustering as a Preprocessing Tool (Utility)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Summarization</a:t>
            </a:r>
            <a:r>
              <a:rPr lang="en-GB" dirty="0"/>
              <a:t>: Preprocessing for regression, association analysis, …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Finding K-nearest Neighbours</a:t>
            </a:r>
            <a:r>
              <a:rPr lang="en-GB" dirty="0"/>
              <a:t>: Localizing search to one or a small number of clusters.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Outlier detection</a:t>
            </a:r>
            <a:r>
              <a:rPr lang="en-GB" dirty="0"/>
              <a:t>: Outliers are often viewed as those “far away” from any cluster.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…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226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Quality: What Is Good Clustering?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</a:rPr>
              <a:t>good clustering method</a:t>
            </a:r>
            <a:r>
              <a:rPr lang="en-GB" dirty="0"/>
              <a:t> will produce </a:t>
            </a:r>
            <a:r>
              <a:rPr lang="en-GB" dirty="0">
                <a:solidFill>
                  <a:srgbClr val="FF0000"/>
                </a:solidFill>
              </a:rPr>
              <a:t>high quality clusters</a:t>
            </a:r>
            <a:r>
              <a:rPr lang="en-GB" dirty="0"/>
              <a:t> 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high intra-class similarity</a:t>
            </a:r>
            <a:r>
              <a:rPr lang="en-GB" dirty="0"/>
              <a:t>: cohesive within clusters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low inter-class similarity</a:t>
            </a:r>
            <a:r>
              <a:rPr lang="en-GB" dirty="0"/>
              <a:t>: distinctive between clusters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quality of a clustering method</a:t>
            </a:r>
            <a:r>
              <a:rPr lang="en-GB" dirty="0"/>
              <a:t> depends on 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</a:t>
            </a:r>
            <a:r>
              <a:rPr lang="en-GB" dirty="0">
                <a:solidFill>
                  <a:srgbClr val="00B050"/>
                </a:solidFill>
              </a:rPr>
              <a:t>similarity measure</a:t>
            </a:r>
            <a:r>
              <a:rPr lang="en-GB" dirty="0"/>
              <a:t> used by the method, 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its </a:t>
            </a:r>
            <a:r>
              <a:rPr lang="en-GB" dirty="0">
                <a:solidFill>
                  <a:srgbClr val="00B050"/>
                </a:solidFill>
              </a:rPr>
              <a:t>implementation</a:t>
            </a:r>
            <a:r>
              <a:rPr lang="en-GB" dirty="0"/>
              <a:t>, and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its ability to </a:t>
            </a:r>
            <a:r>
              <a:rPr lang="en-GB" dirty="0">
                <a:solidFill>
                  <a:srgbClr val="00B050"/>
                </a:solidFill>
              </a:rPr>
              <a:t>discover</a:t>
            </a:r>
            <a:r>
              <a:rPr lang="en-GB" dirty="0"/>
              <a:t> some or all of the </a:t>
            </a:r>
            <a:r>
              <a:rPr lang="en-GB" dirty="0">
                <a:solidFill>
                  <a:srgbClr val="00B050"/>
                </a:solidFill>
              </a:rPr>
              <a:t>hidden patterns</a:t>
            </a:r>
            <a:r>
              <a:rPr lang="en-GB" dirty="0"/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290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Measure the Quality of Clustering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Dissimilarity/Similarity metric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Similarity is expressed in terms of a distance function, typically metric: d(</a:t>
            </a:r>
            <a:r>
              <a:rPr lang="en-GB" dirty="0" err="1"/>
              <a:t>i</a:t>
            </a:r>
            <a:r>
              <a:rPr lang="en-GB" dirty="0"/>
              <a:t>, j).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definitions of distance functions are usually rather different for interval-scaled, </a:t>
            </a:r>
            <a:r>
              <a:rPr lang="en-GB" dirty="0" err="1"/>
              <a:t>boolean</a:t>
            </a:r>
            <a:r>
              <a:rPr lang="en-GB" dirty="0"/>
              <a:t>, categorical, ordinal ratio, and vector variables.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Weights should be associated with different variables based on applications and data semantics.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Quality of clustering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There is usually a separate “quality” function that measures the “goodness” of a cluster.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It is hard to define “similar enough” or “good enough” 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12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Considerations for Cluster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Partitioning criteria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Single level vs. hierarchical partitioning (often, multi-level hierarchical partitioning is desirable).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Separation of clusters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Exclusive (e.g., one customer belongs to only one region) vs. non-exclusive (e.g., one document may belong to more than one class)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Similarity measure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Distance-based (e.g., Euclidian, road network, vector)  vs. connectivity-based (e.g., density or contiguity)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Clustering space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Full space (often when low dimensional) vs. subspaces (often in high-dimensional clustering)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516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and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970426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Scalability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Clustering all the data instead of only on samples.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Ability to deal with different types of attributes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Numerical, binary, categorical, ordinal, linked, and mixture of these 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Constraint-based clustering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User may give inputs on constraints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Use domain knowledge to determine input parameters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Interpretability and usability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Others</a:t>
            </a:r>
            <a:r>
              <a:rPr lang="en-GB" dirty="0"/>
              <a:t> 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Discovery of clusters with arbitrary shape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Ability to deal with noisy data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Incremental clustering and insensitivity to input order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High dimensionality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359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Major Clustering Approaches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970426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Partitioning approach</a:t>
            </a:r>
            <a:r>
              <a:rPr lang="en-GB" dirty="0"/>
              <a:t> 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Construct various partitions and then evaluate them by some criterion, e.g., minimizing the sum of square errors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Typical methods: k-means, k-medoids.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Hierarchical approach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Create a hierarchical decomposition of the set of data (or objects) using some criterion.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Typical methods: Diana, Agnes, …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Density-based approach 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Based on connectivity and density functions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Typical methods</a:t>
            </a:r>
            <a:r>
              <a:rPr lang="en-GB"/>
              <a:t>: DBSCAN</a:t>
            </a:r>
            <a:r>
              <a:rPr lang="en-GB" dirty="0"/>
              <a:t>, …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477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Major Clustering Approaches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970426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Model-based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A model is hypothesized for each of the clusters and tries to find the best fit of that model to each other.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Typical methods: SOM, GHSOM …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Frequent pattern-based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Based on the analysis of frequent patterns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Typical methods: p-Cluster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Link-based clustering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Objects are often linked together in various ways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Massive links can be used to cluster objects: </a:t>
            </a:r>
            <a:r>
              <a:rPr lang="en-GB" dirty="0" err="1"/>
              <a:t>SimRank</a:t>
            </a:r>
            <a:r>
              <a:rPr lang="en-GB" dirty="0"/>
              <a:t>, </a:t>
            </a:r>
            <a:r>
              <a:rPr lang="en-GB" dirty="0" err="1"/>
              <a:t>LinkClus</a:t>
            </a: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799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Partitioning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988355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Partitioning n objects into a set of </a:t>
            </a:r>
            <a:r>
              <a:rPr lang="en-GB" dirty="0">
                <a:solidFill>
                  <a:srgbClr val="00B050"/>
                </a:solidFill>
              </a:rPr>
              <a:t>k clusters</a:t>
            </a:r>
            <a:r>
              <a:rPr lang="en-GB" dirty="0"/>
              <a:t>, such that the sum of squared distances is minimized (where c</a:t>
            </a:r>
            <a:r>
              <a:rPr lang="en-GB" baseline="-25000" dirty="0"/>
              <a:t>i</a:t>
            </a:r>
            <a:r>
              <a:rPr lang="en-GB" dirty="0"/>
              <a:t> is the centroid or medoid of cluster C</a:t>
            </a:r>
            <a:r>
              <a:rPr lang="en-GB" baseline="-25000" dirty="0"/>
              <a:t>i</a:t>
            </a:r>
            <a:r>
              <a:rPr lang="en-GB" dirty="0"/>
              <a:t>)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Given k, find a partition of k clusters that optimizes the chosen partitioning criterion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u="sng" dirty="0"/>
              <a:t>Global optimal</a:t>
            </a:r>
            <a:r>
              <a:rPr lang="en-GB" dirty="0"/>
              <a:t>: exhaustively enumerate all partitions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u="sng" dirty="0"/>
              <a:t>Heuristic methods</a:t>
            </a:r>
            <a:r>
              <a:rPr lang="en-GB" dirty="0"/>
              <a:t>: k-means and k-medoids algorithms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k-means</a:t>
            </a:r>
            <a:r>
              <a:rPr lang="en-GB" dirty="0"/>
              <a:t> (MacQueen’67, Lloyd’57/’82): </a:t>
            </a:r>
            <a:r>
              <a:rPr lang="en-GB" dirty="0">
                <a:solidFill>
                  <a:srgbClr val="00B050"/>
                </a:solidFill>
              </a:rPr>
              <a:t>Each cluster</a:t>
            </a:r>
            <a:r>
              <a:rPr lang="en-GB" dirty="0"/>
              <a:t> is represented by the </a:t>
            </a:r>
            <a:r>
              <a:rPr lang="en-GB" dirty="0">
                <a:solidFill>
                  <a:srgbClr val="00B050"/>
                </a:solidFill>
              </a:rPr>
              <a:t>center of the cluster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k-medoids or PAM</a:t>
            </a:r>
            <a:r>
              <a:rPr lang="en-GB" dirty="0"/>
              <a:t> (Kaufman &amp; Rousseeuw’87): </a:t>
            </a:r>
            <a:r>
              <a:rPr lang="en-GB" dirty="0">
                <a:solidFill>
                  <a:srgbClr val="00B050"/>
                </a:solidFill>
              </a:rPr>
              <a:t>Each cluster</a:t>
            </a:r>
            <a:r>
              <a:rPr lang="en-GB" dirty="0"/>
              <a:t> is represented by </a:t>
            </a:r>
            <a:r>
              <a:rPr lang="en-GB" dirty="0">
                <a:solidFill>
                  <a:srgbClr val="00B050"/>
                </a:solidFill>
              </a:rPr>
              <a:t>one of the objects in the cluster</a:t>
            </a:r>
            <a:r>
              <a:rPr lang="en-GB" dirty="0"/>
              <a:t>. </a:t>
            </a:r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91A0BC-89F5-A31A-4705-8DEFE91CE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297" y="2880360"/>
            <a:ext cx="285750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976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B050"/>
                </a:solidFill>
              </a:rPr>
              <a:t>The K-Means Clustering Method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98835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Given k</a:t>
            </a:r>
            <a:r>
              <a:rPr lang="en-GB" dirty="0"/>
              <a:t>, the k-means algorithm is </a:t>
            </a:r>
            <a:r>
              <a:rPr lang="en-GB" dirty="0">
                <a:solidFill>
                  <a:srgbClr val="FF0000"/>
                </a:solidFill>
              </a:rPr>
              <a:t>implemented in four steps</a:t>
            </a: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Partition objects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into k nonempty subsets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Compute seed points as the centroids</a:t>
            </a:r>
            <a:r>
              <a:rPr lang="en-GB" dirty="0"/>
              <a:t> of the clusters of the current partitioning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Assign each object to the cluster with the nearest seed point 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Go back to Step 2, </a:t>
            </a:r>
            <a:r>
              <a:rPr lang="en-GB" dirty="0">
                <a:solidFill>
                  <a:srgbClr val="00B050"/>
                </a:solidFill>
              </a:rPr>
              <a:t>stop when the assignment does not change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39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Comments on the K-Means Method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98835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Strength</a:t>
            </a: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Efficient: O(</a:t>
            </a:r>
            <a:r>
              <a:rPr lang="en-GB" dirty="0" err="1"/>
              <a:t>tkn</a:t>
            </a:r>
            <a:r>
              <a:rPr lang="en-GB" dirty="0"/>
              <a:t>), where n is # objects, k is # clusters, and t  is # iterations. Normally, k, t &lt;&lt; n.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Weakness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Need to specify k, the number of clusters, in advance (there are ways to automatically determine the best k (see Hastie et al., 2009).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Sensitive to noisy data and outliers.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Not suitable to discover clusters with non-convex shapes.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110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B050"/>
                </a:solidFill>
              </a:rPr>
              <a:t>The K-Medoid Clustering Method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98835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Select k random points</a:t>
            </a:r>
            <a:r>
              <a:rPr lang="en-GB" dirty="0"/>
              <a:t> out of the n data points </a:t>
            </a:r>
            <a:r>
              <a:rPr lang="en-GB" i="1" dirty="0">
                <a:solidFill>
                  <a:srgbClr val="00B050"/>
                </a:solidFill>
              </a:rPr>
              <a:t>as the medoids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Associate each data point</a:t>
            </a:r>
            <a:r>
              <a:rPr lang="en-GB" dirty="0"/>
              <a:t> </a:t>
            </a:r>
            <a:r>
              <a:rPr lang="en-GB" i="1" dirty="0">
                <a:solidFill>
                  <a:srgbClr val="00B050"/>
                </a:solidFill>
              </a:rPr>
              <a:t>to the closest medoid</a:t>
            </a:r>
            <a:r>
              <a:rPr lang="en-GB" dirty="0"/>
              <a:t> by using any common distance metric methods.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70C0"/>
                </a:solidFill>
              </a:rPr>
              <a:t>While the cost decreases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For each medoid m, for each data o point which is not a medoid 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Swap m and o, associate each data point to the closest medoid, and recompute the cost. 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If the total cost is more than that in the previous step, undo the swap.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315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B050"/>
                </a:solidFill>
              </a:rPr>
              <a:t>Hierarchical Clustering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98835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Use distance matrix as clustering criteria.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This method </a:t>
            </a:r>
            <a:r>
              <a:rPr lang="en-GB" dirty="0">
                <a:solidFill>
                  <a:srgbClr val="FF0000"/>
                </a:solidFill>
              </a:rPr>
              <a:t>does not require the number of clusters k</a:t>
            </a:r>
            <a:r>
              <a:rPr lang="en-GB" dirty="0"/>
              <a:t> as an input. 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61" name="Group 4">
            <a:extLst>
              <a:ext uri="{FF2B5EF4-FFF2-40B4-BE49-F238E27FC236}">
                <a16:creationId xmlns:a16="http://schemas.microsoft.com/office/drawing/2014/main" id="{830775F8-3E96-5FC9-558C-1E56E3F0DCEC}"/>
              </a:ext>
            </a:extLst>
          </p:cNvPr>
          <p:cNvGrpSpPr>
            <a:grpSpLocks/>
          </p:cNvGrpSpPr>
          <p:nvPr/>
        </p:nvGrpSpPr>
        <p:grpSpPr bwMode="auto">
          <a:xfrm>
            <a:off x="2617787" y="3054910"/>
            <a:ext cx="6956425" cy="3641725"/>
            <a:chOff x="1200" y="1776"/>
            <a:chExt cx="4382" cy="2294"/>
          </a:xfrm>
        </p:grpSpPr>
        <p:sp>
          <p:nvSpPr>
            <p:cNvPr id="62" name="Line 5">
              <a:extLst>
                <a:ext uri="{FF2B5EF4-FFF2-40B4-BE49-F238E27FC236}">
                  <a16:creationId xmlns:a16="http://schemas.microsoft.com/office/drawing/2014/main" id="{776A4E1C-9CD7-2FDB-D07D-14770428B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112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3" name="Group 6">
              <a:extLst>
                <a:ext uri="{FF2B5EF4-FFF2-40B4-BE49-F238E27FC236}">
                  <a16:creationId xmlns:a16="http://schemas.microsoft.com/office/drawing/2014/main" id="{263598BB-1AF6-AE32-A711-009EAE3C79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785"/>
              <a:ext cx="480" cy="327"/>
              <a:chOff x="1104" y="1785"/>
              <a:chExt cx="480" cy="327"/>
            </a:xfrm>
          </p:grpSpPr>
          <p:sp>
            <p:nvSpPr>
              <p:cNvPr id="115" name="Line 7">
                <a:extLst>
                  <a:ext uri="{FF2B5EF4-FFF2-40B4-BE49-F238E27FC236}">
                    <a16:creationId xmlns:a16="http://schemas.microsoft.com/office/drawing/2014/main" id="{47A8CDF6-9C53-0490-914D-7F843ECDA8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" name="Text Box 8">
                <a:extLst>
                  <a:ext uri="{FF2B5EF4-FFF2-40B4-BE49-F238E27FC236}">
                    <a16:creationId xmlns:a16="http://schemas.microsoft.com/office/drawing/2014/main" id="{3AC9CF0C-5D0F-EE6A-603B-46F7705603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0</a:t>
                </a:r>
                <a:endParaRPr lang="en-US" altLang="zh-CN"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</p:txBody>
          </p:sp>
        </p:grpSp>
        <p:grpSp>
          <p:nvGrpSpPr>
            <p:cNvPr id="64" name="Group 9">
              <a:extLst>
                <a:ext uri="{FF2B5EF4-FFF2-40B4-BE49-F238E27FC236}">
                  <a16:creationId xmlns:a16="http://schemas.microsoft.com/office/drawing/2014/main" id="{69CBD152-D010-E38A-978B-D1F72FFBC6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776"/>
              <a:ext cx="480" cy="327"/>
              <a:chOff x="1104" y="1785"/>
              <a:chExt cx="480" cy="327"/>
            </a:xfrm>
          </p:grpSpPr>
          <p:sp>
            <p:nvSpPr>
              <p:cNvPr id="113" name="Line 10">
                <a:extLst>
                  <a:ext uri="{FF2B5EF4-FFF2-40B4-BE49-F238E27FC236}">
                    <a16:creationId xmlns:a16="http://schemas.microsoft.com/office/drawing/2014/main" id="{76E376E8-4531-CC90-1063-B903A351B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" name="Text Box 11">
                <a:extLst>
                  <a:ext uri="{FF2B5EF4-FFF2-40B4-BE49-F238E27FC236}">
                    <a16:creationId xmlns:a16="http://schemas.microsoft.com/office/drawing/2014/main" id="{A1C6B368-85EA-F372-4A58-005431DD81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1</a:t>
                </a:r>
                <a:endParaRPr lang="en-US" altLang="zh-CN"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</p:txBody>
          </p:sp>
        </p:grpSp>
        <p:grpSp>
          <p:nvGrpSpPr>
            <p:cNvPr id="65" name="Group 12">
              <a:extLst>
                <a:ext uri="{FF2B5EF4-FFF2-40B4-BE49-F238E27FC236}">
                  <a16:creationId xmlns:a16="http://schemas.microsoft.com/office/drawing/2014/main" id="{01885C2E-98BF-93F5-E991-8CE2174F3E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776"/>
              <a:ext cx="480" cy="327"/>
              <a:chOff x="1104" y="1785"/>
              <a:chExt cx="480" cy="327"/>
            </a:xfrm>
          </p:grpSpPr>
          <p:sp>
            <p:nvSpPr>
              <p:cNvPr id="111" name="Line 13">
                <a:extLst>
                  <a:ext uri="{FF2B5EF4-FFF2-40B4-BE49-F238E27FC236}">
                    <a16:creationId xmlns:a16="http://schemas.microsoft.com/office/drawing/2014/main" id="{1D438878-F070-4ED7-96E4-3BF64AD982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Text Box 14">
                <a:extLst>
                  <a:ext uri="{FF2B5EF4-FFF2-40B4-BE49-F238E27FC236}">
                    <a16:creationId xmlns:a16="http://schemas.microsoft.com/office/drawing/2014/main" id="{B8AFF68A-5BAC-1F0C-0132-920806D7BC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2</a:t>
                </a:r>
                <a:endParaRPr lang="en-US" altLang="zh-CN"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</p:txBody>
          </p:sp>
        </p:grpSp>
        <p:grpSp>
          <p:nvGrpSpPr>
            <p:cNvPr id="66" name="Group 15">
              <a:extLst>
                <a:ext uri="{FF2B5EF4-FFF2-40B4-BE49-F238E27FC236}">
                  <a16:creationId xmlns:a16="http://schemas.microsoft.com/office/drawing/2014/main" id="{BCA311C3-BF5C-7D0F-FDCE-EAC749114D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776"/>
              <a:ext cx="480" cy="327"/>
              <a:chOff x="1104" y="1785"/>
              <a:chExt cx="480" cy="327"/>
            </a:xfrm>
          </p:grpSpPr>
          <p:sp>
            <p:nvSpPr>
              <p:cNvPr id="109" name="Line 16">
                <a:extLst>
                  <a:ext uri="{FF2B5EF4-FFF2-40B4-BE49-F238E27FC236}">
                    <a16:creationId xmlns:a16="http://schemas.microsoft.com/office/drawing/2014/main" id="{73002137-60C4-B23E-195F-CF14FB0331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" name="Text Box 17">
                <a:extLst>
                  <a:ext uri="{FF2B5EF4-FFF2-40B4-BE49-F238E27FC236}">
                    <a16:creationId xmlns:a16="http://schemas.microsoft.com/office/drawing/2014/main" id="{DDB022A5-FAF3-8924-8F32-3268ECC8AD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3</a:t>
                </a:r>
                <a:endParaRPr lang="en-US" altLang="zh-CN"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</p:txBody>
          </p:sp>
        </p:grpSp>
        <p:grpSp>
          <p:nvGrpSpPr>
            <p:cNvPr id="67" name="Group 18">
              <a:extLst>
                <a:ext uri="{FF2B5EF4-FFF2-40B4-BE49-F238E27FC236}">
                  <a16:creationId xmlns:a16="http://schemas.microsoft.com/office/drawing/2014/main" id="{C7855337-2947-9553-F5CB-E4234E4FDE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1776"/>
              <a:ext cx="480" cy="327"/>
              <a:chOff x="1104" y="1785"/>
              <a:chExt cx="480" cy="327"/>
            </a:xfrm>
          </p:grpSpPr>
          <p:sp>
            <p:nvSpPr>
              <p:cNvPr id="107" name="Line 19">
                <a:extLst>
                  <a:ext uri="{FF2B5EF4-FFF2-40B4-BE49-F238E27FC236}">
                    <a16:creationId xmlns:a16="http://schemas.microsoft.com/office/drawing/2014/main" id="{FC9EEFFE-9289-C9A5-97C7-7544904B13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Text Box 20">
                <a:extLst>
                  <a:ext uri="{FF2B5EF4-FFF2-40B4-BE49-F238E27FC236}">
                    <a16:creationId xmlns:a16="http://schemas.microsoft.com/office/drawing/2014/main" id="{5DBDD87F-56AA-0F4F-3585-BD2653D0F6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4</a:t>
                </a:r>
                <a:endParaRPr lang="en-US" altLang="zh-CN"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</p:txBody>
          </p:sp>
        </p:grpSp>
        <p:sp>
          <p:nvSpPr>
            <p:cNvPr id="68" name="Text Box 21">
              <a:extLst>
                <a:ext uri="{FF2B5EF4-FFF2-40B4-BE49-F238E27FC236}">
                  <a16:creationId xmlns:a16="http://schemas.microsoft.com/office/drawing/2014/main" id="{B7A8CB26-4B06-94E4-16DA-0289CAF5B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5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</a:p>
          </p:txBody>
        </p:sp>
        <p:sp>
          <p:nvSpPr>
            <p:cNvPr id="69" name="Text Box 22">
              <a:extLst>
                <a:ext uri="{FF2B5EF4-FFF2-40B4-BE49-F238E27FC236}">
                  <a16:creationId xmlns:a16="http://schemas.microsoft.com/office/drawing/2014/main" id="{E814E3DA-D113-FBA9-31E7-FD2A28153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1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d</a:t>
              </a:r>
            </a:p>
          </p:txBody>
        </p:sp>
        <p:sp>
          <p:nvSpPr>
            <p:cNvPr id="70" name="Text Box 23">
              <a:extLst>
                <a:ext uri="{FF2B5EF4-FFF2-40B4-BE49-F238E27FC236}">
                  <a16:creationId xmlns:a16="http://schemas.microsoft.com/office/drawing/2014/main" id="{4585AF03-9A5B-3159-A32F-51B305931E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808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c</a:t>
              </a:r>
            </a:p>
          </p:txBody>
        </p:sp>
        <p:sp>
          <p:nvSpPr>
            <p:cNvPr id="71" name="Text Box 24">
              <a:extLst>
                <a:ext uri="{FF2B5EF4-FFF2-40B4-BE49-F238E27FC236}">
                  <a16:creationId xmlns:a16="http://schemas.microsoft.com/office/drawing/2014/main" id="{5ADDA963-37D3-AA59-4A52-BB5961597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408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e</a:t>
              </a:r>
            </a:p>
          </p:txBody>
        </p:sp>
        <p:sp>
          <p:nvSpPr>
            <p:cNvPr id="72" name="Text Box 25">
              <a:extLst>
                <a:ext uri="{FF2B5EF4-FFF2-40B4-BE49-F238E27FC236}">
                  <a16:creationId xmlns:a16="http://schemas.microsoft.com/office/drawing/2014/main" id="{E0DAB26C-6617-775B-AA3B-2952886F8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208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a</a:t>
              </a:r>
            </a:p>
          </p:txBody>
        </p:sp>
        <p:sp>
          <p:nvSpPr>
            <p:cNvPr id="73" name="Oval 26">
              <a:extLst>
                <a:ext uri="{FF2B5EF4-FFF2-40B4-BE49-F238E27FC236}">
                  <a16:creationId xmlns:a16="http://schemas.microsoft.com/office/drawing/2014/main" id="{36A72570-AE93-ADA5-AF81-1FEC9112F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256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4" name="Oval 27">
              <a:extLst>
                <a:ext uri="{FF2B5EF4-FFF2-40B4-BE49-F238E27FC236}">
                  <a16:creationId xmlns:a16="http://schemas.microsoft.com/office/drawing/2014/main" id="{A821FF61-36CD-904A-9A6A-2B0EF2E16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544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5" name="Oval 28">
              <a:extLst>
                <a:ext uri="{FF2B5EF4-FFF2-40B4-BE49-F238E27FC236}">
                  <a16:creationId xmlns:a16="http://schemas.microsoft.com/office/drawing/2014/main" id="{57EE89E0-E218-BF5B-3481-14187E2D5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832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" name="Oval 29">
              <a:extLst>
                <a:ext uri="{FF2B5EF4-FFF2-40B4-BE49-F238E27FC236}">
                  <a16:creationId xmlns:a16="http://schemas.microsoft.com/office/drawing/2014/main" id="{68831270-6B06-8D67-216F-C9253758B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120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" name="Oval 30">
              <a:extLst>
                <a:ext uri="{FF2B5EF4-FFF2-40B4-BE49-F238E27FC236}">
                  <a16:creationId xmlns:a16="http://schemas.microsoft.com/office/drawing/2014/main" id="{650AB94F-91B9-EB15-AED0-1A4253C82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408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8" name="Text Box 31">
              <a:extLst>
                <a:ext uri="{FF2B5EF4-FFF2-40B4-BE49-F238E27FC236}">
                  <a16:creationId xmlns:a16="http://schemas.microsoft.com/office/drawing/2014/main" id="{998592DE-6D0E-F7D5-371F-E0C27F100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304"/>
              <a:ext cx="3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a b</a:t>
              </a:r>
            </a:p>
          </p:txBody>
        </p:sp>
        <p:sp>
          <p:nvSpPr>
            <p:cNvPr id="79" name="Oval 32">
              <a:extLst>
                <a:ext uri="{FF2B5EF4-FFF2-40B4-BE49-F238E27FC236}">
                  <a16:creationId xmlns:a16="http://schemas.microsoft.com/office/drawing/2014/main" id="{B6143434-AD60-82CB-4418-84CAC24C4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52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0" name="Text Box 33">
              <a:extLst>
                <a:ext uri="{FF2B5EF4-FFF2-40B4-BE49-F238E27FC236}">
                  <a16:creationId xmlns:a16="http://schemas.microsoft.com/office/drawing/2014/main" id="{10263137-9973-6F8C-3DBC-82AE084F4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216"/>
              <a:ext cx="3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d e</a:t>
              </a:r>
            </a:p>
          </p:txBody>
        </p:sp>
        <p:sp>
          <p:nvSpPr>
            <p:cNvPr id="81" name="Oval 34">
              <a:extLst>
                <a:ext uri="{FF2B5EF4-FFF2-40B4-BE49-F238E27FC236}">
                  <a16:creationId xmlns:a16="http://schemas.microsoft.com/office/drawing/2014/main" id="{8E6D18ED-EC07-AF4B-4D51-33BF67D30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264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" name="Text Box 35">
              <a:extLst>
                <a:ext uri="{FF2B5EF4-FFF2-40B4-BE49-F238E27FC236}">
                  <a16:creationId xmlns:a16="http://schemas.microsoft.com/office/drawing/2014/main" id="{1411F521-DAE3-F5B1-C409-E9F6254733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928"/>
              <a:ext cx="4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 dirty="0">
                  <a:latin typeface="Times New Roman" panose="02020603050405020304" pitchFamily="18" charset="0"/>
                  <a:ea typeface="SimSun" panose="02010600030101010101" pitchFamily="2" charset="-122"/>
                </a:rPr>
                <a:t>c d e</a:t>
              </a:r>
            </a:p>
          </p:txBody>
        </p:sp>
        <p:sp>
          <p:nvSpPr>
            <p:cNvPr id="83" name="Oval 36">
              <a:extLst>
                <a:ext uri="{FF2B5EF4-FFF2-40B4-BE49-F238E27FC236}">
                  <a16:creationId xmlns:a16="http://schemas.microsoft.com/office/drawing/2014/main" id="{0ED0C153-7D6D-85E6-B0F5-9087C5EFA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928"/>
              <a:ext cx="624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4" name="Text Box 37">
              <a:extLst>
                <a:ext uri="{FF2B5EF4-FFF2-40B4-BE49-F238E27FC236}">
                  <a16:creationId xmlns:a16="http://schemas.microsoft.com/office/drawing/2014/main" id="{634AB48F-5DC3-14D7-4D67-74ADEB6DA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592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a b c d e</a:t>
              </a:r>
            </a:p>
          </p:txBody>
        </p:sp>
        <p:sp>
          <p:nvSpPr>
            <p:cNvPr id="85" name="Oval 38">
              <a:extLst>
                <a:ext uri="{FF2B5EF4-FFF2-40B4-BE49-F238E27FC236}">
                  <a16:creationId xmlns:a16="http://schemas.microsoft.com/office/drawing/2014/main" id="{B9641694-5765-0EB9-EC9F-AE6E21B39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592"/>
              <a:ext cx="100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6" name="Line 39">
              <a:extLst>
                <a:ext uri="{FF2B5EF4-FFF2-40B4-BE49-F238E27FC236}">
                  <a16:creationId xmlns:a16="http://schemas.microsoft.com/office/drawing/2014/main" id="{EF0A56F2-9697-1C4D-3A94-CD23A03734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753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40">
              <a:extLst>
                <a:ext uri="{FF2B5EF4-FFF2-40B4-BE49-F238E27FC236}">
                  <a16:creationId xmlns:a16="http://schemas.microsoft.com/office/drawing/2014/main" id="{0B4AD3F4-D621-D57A-3F88-84C8E7A5C3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3753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Text Box 41">
              <a:extLst>
                <a:ext uri="{FF2B5EF4-FFF2-40B4-BE49-F238E27FC236}">
                  <a16:creationId xmlns:a16="http://schemas.microsoft.com/office/drawing/2014/main" id="{8AF1C689-77F7-F322-213A-1A2DBF13F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81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Step 4</a:t>
              </a:r>
              <a:endParaRPr lang="en-US" altLang="zh-CN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89" name="Line 42">
              <a:extLst>
                <a:ext uri="{FF2B5EF4-FFF2-40B4-BE49-F238E27FC236}">
                  <a16:creationId xmlns:a16="http://schemas.microsoft.com/office/drawing/2014/main" id="{5BEFBF21-5E99-AFD5-92B8-BF682424CF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Text Box 43">
              <a:extLst>
                <a:ext uri="{FF2B5EF4-FFF2-40B4-BE49-F238E27FC236}">
                  <a16:creationId xmlns:a16="http://schemas.microsoft.com/office/drawing/2014/main" id="{A68BDF10-5D90-63B8-7E55-0A3913E0C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80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Step 3</a:t>
              </a:r>
              <a:endParaRPr lang="en-US" altLang="zh-CN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91" name="Line 44">
              <a:extLst>
                <a:ext uri="{FF2B5EF4-FFF2-40B4-BE49-F238E27FC236}">
                  <a16:creationId xmlns:a16="http://schemas.microsoft.com/office/drawing/2014/main" id="{426F1C25-9938-5EA6-706F-D20C2CB0ED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Text Box 45">
              <a:extLst>
                <a:ext uri="{FF2B5EF4-FFF2-40B4-BE49-F238E27FC236}">
                  <a16:creationId xmlns:a16="http://schemas.microsoft.com/office/drawing/2014/main" id="{95E739E4-1AA6-B063-60E0-2A6B7A0FF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80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Step 2</a:t>
              </a:r>
              <a:endParaRPr lang="en-US" altLang="zh-CN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93" name="Line 46">
              <a:extLst>
                <a:ext uri="{FF2B5EF4-FFF2-40B4-BE49-F238E27FC236}">
                  <a16:creationId xmlns:a16="http://schemas.microsoft.com/office/drawing/2014/main" id="{E59D55D8-5495-32F9-C0E4-721C527E8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Text Box 47">
              <a:extLst>
                <a:ext uri="{FF2B5EF4-FFF2-40B4-BE49-F238E27FC236}">
                  <a16:creationId xmlns:a16="http://schemas.microsoft.com/office/drawing/2014/main" id="{66383C40-1E08-3779-A4F7-E14F704E1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80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Step 1</a:t>
              </a:r>
              <a:endParaRPr lang="en-US" altLang="zh-CN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95" name="Line 48">
              <a:extLst>
                <a:ext uri="{FF2B5EF4-FFF2-40B4-BE49-F238E27FC236}">
                  <a16:creationId xmlns:a16="http://schemas.microsoft.com/office/drawing/2014/main" id="{A9DE5AB0-EAAD-0C01-78A4-FFF7546637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Text Box 49">
              <a:extLst>
                <a:ext uri="{FF2B5EF4-FFF2-40B4-BE49-F238E27FC236}">
                  <a16:creationId xmlns:a16="http://schemas.microsoft.com/office/drawing/2014/main" id="{7CF9D4C7-29DA-3FE6-2ED8-C9D740290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80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Step 0</a:t>
              </a:r>
              <a:endParaRPr lang="en-US" altLang="zh-CN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97" name="Line 50">
              <a:extLst>
                <a:ext uri="{FF2B5EF4-FFF2-40B4-BE49-F238E27FC236}">
                  <a16:creationId xmlns:a16="http://schemas.microsoft.com/office/drawing/2014/main" id="{7958319B-5270-3EF2-69AE-87BC44BD4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352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Line 51">
              <a:extLst>
                <a:ext uri="{FF2B5EF4-FFF2-40B4-BE49-F238E27FC236}">
                  <a16:creationId xmlns:a16="http://schemas.microsoft.com/office/drawing/2014/main" id="{9C76ED20-08B2-7C3D-266A-CBD7E26D00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44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" name="Line 52">
              <a:extLst>
                <a:ext uri="{FF2B5EF4-FFF2-40B4-BE49-F238E27FC236}">
                  <a16:creationId xmlns:a16="http://schemas.microsoft.com/office/drawing/2014/main" id="{BB54CD64-F7C5-7507-AAF3-119B66D4D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216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Line 53">
              <a:extLst>
                <a:ext uri="{FF2B5EF4-FFF2-40B4-BE49-F238E27FC236}">
                  <a16:creationId xmlns:a16="http://schemas.microsoft.com/office/drawing/2014/main" id="{537CDF7B-01EF-7416-E7AA-D19CFFEDD7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360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Line 54">
              <a:extLst>
                <a:ext uri="{FF2B5EF4-FFF2-40B4-BE49-F238E27FC236}">
                  <a16:creationId xmlns:a16="http://schemas.microsoft.com/office/drawing/2014/main" id="{FEEE0871-EE3B-14CE-2C13-BA7AE8B3C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976"/>
              <a:ext cx="110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Line 55">
              <a:extLst>
                <a:ext uri="{FF2B5EF4-FFF2-40B4-BE49-F238E27FC236}">
                  <a16:creationId xmlns:a16="http://schemas.microsoft.com/office/drawing/2014/main" id="{1FE56BCE-4B54-F58D-9333-0154FBDCEE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307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Line 56">
              <a:extLst>
                <a:ext uri="{FF2B5EF4-FFF2-40B4-BE49-F238E27FC236}">
                  <a16:creationId xmlns:a16="http://schemas.microsoft.com/office/drawing/2014/main" id="{115D174E-916E-CFA1-6033-A2C9E647E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496"/>
              <a:ext cx="7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Line 57">
              <a:extLst>
                <a:ext uri="{FF2B5EF4-FFF2-40B4-BE49-F238E27FC236}">
                  <a16:creationId xmlns:a16="http://schemas.microsoft.com/office/drawing/2014/main" id="{4E273FB5-5A63-5DFC-A4FD-83C605212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7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Text Box 58">
              <a:extLst>
                <a:ext uri="{FF2B5EF4-FFF2-40B4-BE49-F238E27FC236}">
                  <a16:creationId xmlns:a16="http://schemas.microsoft.com/office/drawing/2014/main" id="{2B263063-5A49-08F5-893B-C8F62C655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" y="1824"/>
              <a:ext cx="127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  <a:ea typeface="SimSun" panose="02010600030101010101" pitchFamily="2" charset="-122"/>
                </a:rPr>
                <a:t>agglomerative</a:t>
              </a:r>
            </a:p>
            <a:p>
              <a:r>
                <a:rPr lang="en-US" altLang="zh-CN" b="1">
                  <a:latin typeface="Times New Roman" panose="02020603050405020304" pitchFamily="18" charset="0"/>
                  <a:ea typeface="SimSun" panose="02010600030101010101" pitchFamily="2" charset="-122"/>
                </a:rPr>
                <a:t>(AGNES)</a:t>
              </a:r>
            </a:p>
          </p:txBody>
        </p:sp>
        <p:sp>
          <p:nvSpPr>
            <p:cNvPr id="106" name="Text Box 59">
              <a:extLst>
                <a:ext uri="{FF2B5EF4-FFF2-40B4-BE49-F238E27FC236}">
                  <a16:creationId xmlns:a16="http://schemas.microsoft.com/office/drawing/2014/main" id="{2BFE41F0-4947-1A21-E569-C0EEAF698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1" y="3552"/>
              <a:ext cx="87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  <a:ea typeface="SimSun" panose="02010600030101010101" pitchFamily="2" charset="-122"/>
                </a:rPr>
                <a:t>divisive</a:t>
              </a:r>
            </a:p>
            <a:p>
              <a:r>
                <a:rPr lang="en-US" altLang="zh-CN" b="1">
                  <a:latin typeface="Times New Roman" panose="02020603050405020304" pitchFamily="18" charset="0"/>
                  <a:ea typeface="SimSun" panose="02010600030101010101" pitchFamily="2" charset="-122"/>
                </a:rPr>
                <a:t>(DIANA)</a:t>
              </a:r>
              <a:endParaRPr lang="en-US" altLang="zh-CN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9902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B050"/>
                </a:solidFill>
              </a:rPr>
              <a:t>Hierarchical Clustering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988355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 err="1">
                <a:solidFill>
                  <a:srgbClr val="FF0000"/>
                </a:solidFill>
              </a:rPr>
              <a:t>Botom</a:t>
            </a:r>
            <a:r>
              <a:rPr lang="en-GB" dirty="0">
                <a:solidFill>
                  <a:srgbClr val="FF0000"/>
                </a:solidFill>
              </a:rPr>
              <a:t>-up (Agglomerative) Clustering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Form all possible singleton clusters (each containing a single object).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Greedily combine clusters with “maximum similarity” (or “minimum distance”) together into a new cluster.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Continue until all objects are contained in a single cluster.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Top-down (Divisive) Clustering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Start with a cluster containing all objects.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Greedily split the cluster into two, assigning objects to clusters so as to maximize the within-group similarity.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Continue splitting clusters which are the least coherent until either having only singleton clusters or reaching the number of desired clusters. 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212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B050"/>
                </a:solidFill>
              </a:rPr>
              <a:t>The Bottom-up Hierarchical Clustering Algorithm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98835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02AA4F-15C7-6774-E4EF-0C81403DF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822" y="1960711"/>
            <a:ext cx="6610356" cy="432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43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B050"/>
                </a:solidFill>
              </a:rPr>
              <a:t>The Top-down Hierarchical Clustering Algorithm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98835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B6D5E-04A5-9441-6E80-AC8A98C27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520" y="2178050"/>
            <a:ext cx="7010959" cy="387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69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Distance between Clusters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378755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MIN (Single Link) Proximity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Cluster proximity is defined as the shortest distance between two points, 𝑥 and 𝑦, that are in different clusters, 𝐴 and 𝐵.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MAX (Complete Link) Proximity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Defines cluster proximity as the furthest distance between two points, 𝑥 and 𝑦, that are in different clusters, 𝐴 and 𝐵.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Group Average Proximity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Defines cluster proximity as the average distance between two points, 𝑥 and 𝑦, that are in different clusters, 𝐴 and 𝐵 (number of points in cluster 𝑗 is 𝑛</a:t>
            </a:r>
            <a:r>
              <a:rPr lang="en-GB" baseline="-25000" dirty="0"/>
              <a:t>𝑗</a:t>
            </a:r>
            <a:r>
              <a:rPr lang="en-GB" dirty="0"/>
              <a:t>)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6B1F18-9976-19D9-EA9C-A38C69785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82" y="6041774"/>
            <a:ext cx="4922250" cy="68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89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>
                <a:solidFill>
                  <a:srgbClr val="FF0000"/>
                </a:solidFill>
              </a:rPr>
              <a:t>Density-Based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Clustering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800430" cy="402336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latin typeface="+mj-lt"/>
                <a:cs typeface="Calibri" panose="020F0502020204030204" pitchFamily="34" charset="0"/>
              </a:rPr>
              <a:t> </a:t>
            </a:r>
            <a:r>
              <a:rPr lang="vi-VN" dirty="0">
                <a:latin typeface="+mj-lt"/>
                <a:cs typeface="Calibri" panose="020F0502020204030204" pitchFamily="34" charset="0"/>
              </a:rPr>
              <a:t>Clustering based on density (local cluster criterion), such as density-connected points</a:t>
            </a:r>
            <a:r>
              <a:rPr lang="en-US" dirty="0">
                <a:latin typeface="+mj-lt"/>
                <a:cs typeface="Calibri" panose="020F0502020204030204" pitchFamily="34" charset="0"/>
              </a:rPr>
              <a:t>. </a:t>
            </a:r>
            <a:endParaRPr lang="vi-VN" dirty="0">
              <a:latin typeface="+mj-lt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vi-VN" dirty="0">
                <a:solidFill>
                  <a:srgbClr val="00B050"/>
                </a:solidFill>
                <a:latin typeface="+mj-lt"/>
                <a:cs typeface="Calibri" panose="020F0502020204030204" pitchFamily="34" charset="0"/>
              </a:rPr>
              <a:t>Major features</a:t>
            </a:r>
          </a:p>
          <a:p>
            <a:pPr lvl="1">
              <a:spcBef>
                <a:spcPts val="600"/>
              </a:spcBef>
            </a:pPr>
            <a:r>
              <a:rPr lang="vi-VN" dirty="0">
                <a:latin typeface="+mj-lt"/>
                <a:cs typeface="Calibri" panose="020F0502020204030204" pitchFamily="34" charset="0"/>
              </a:rPr>
              <a:t>Discover clusters of arbitrary shape</a:t>
            </a:r>
            <a:r>
              <a:rPr lang="en-US" dirty="0">
                <a:latin typeface="+mj-lt"/>
                <a:cs typeface="Calibri" panose="020F0502020204030204" pitchFamily="34" charset="0"/>
              </a:rPr>
              <a:t>,</a:t>
            </a:r>
            <a:endParaRPr lang="vi-VN" dirty="0">
              <a:latin typeface="+mj-lt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vi-VN" dirty="0">
                <a:latin typeface="+mj-lt"/>
                <a:cs typeface="Calibri" panose="020F0502020204030204" pitchFamily="34" charset="0"/>
              </a:rPr>
              <a:t>Handle noise</a:t>
            </a:r>
            <a:r>
              <a:rPr lang="en-US" dirty="0">
                <a:latin typeface="+mj-lt"/>
                <a:cs typeface="Calibri" panose="020F0502020204030204" pitchFamily="34" charset="0"/>
              </a:rPr>
              <a:t>,</a:t>
            </a:r>
            <a:endParaRPr lang="vi-VN" dirty="0">
              <a:latin typeface="+mj-lt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vi-VN" dirty="0">
                <a:latin typeface="+mj-lt"/>
                <a:cs typeface="Calibri" panose="020F0502020204030204" pitchFamily="34" charset="0"/>
              </a:rPr>
              <a:t>One scan</a:t>
            </a:r>
            <a:r>
              <a:rPr lang="en-US" dirty="0">
                <a:latin typeface="+mj-lt"/>
                <a:cs typeface="Calibri" panose="020F0502020204030204" pitchFamily="34" charset="0"/>
              </a:rPr>
              <a:t>,</a:t>
            </a:r>
            <a:endParaRPr lang="vi-VN" dirty="0">
              <a:latin typeface="+mj-lt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vi-VN" dirty="0">
                <a:latin typeface="+mj-lt"/>
                <a:cs typeface="Calibri" panose="020F0502020204030204" pitchFamily="34" charset="0"/>
              </a:rPr>
              <a:t>Need density parameters as termination condition</a:t>
            </a:r>
            <a:r>
              <a:rPr lang="en-US" dirty="0">
                <a:latin typeface="+mj-lt"/>
                <a:cs typeface="Calibri" panose="020F0502020204030204" pitchFamily="34" charset="0"/>
              </a:rPr>
              <a:t>.</a:t>
            </a:r>
            <a:endParaRPr lang="vi-VN" dirty="0">
              <a:latin typeface="+mj-lt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vi-VN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2E476-1187-1A39-6519-8A666CEA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20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40CFC-708C-CC76-7961-7C40BB5B62FB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>
                <a:solidFill>
                  <a:srgbClr val="FF0000"/>
                </a:solidFill>
              </a:rPr>
              <a:t>Density-Based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Clustering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642775" cy="471643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vi-VN" dirty="0">
                <a:solidFill>
                  <a:srgbClr val="00B050"/>
                </a:solidFill>
                <a:latin typeface="+mj-lt"/>
                <a:cs typeface="Calibri" panose="020F0502020204030204" pitchFamily="34" charset="0"/>
              </a:rPr>
              <a:t>Two parameters</a:t>
            </a:r>
          </a:p>
          <a:p>
            <a:pPr lvl="1">
              <a:spcBef>
                <a:spcPts val="600"/>
              </a:spcBef>
            </a:pPr>
            <a:r>
              <a:rPr lang="vi-VN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Eps</a:t>
            </a:r>
            <a:r>
              <a:rPr lang="vi-VN" dirty="0">
                <a:latin typeface="+mj-lt"/>
                <a:cs typeface="Calibri" panose="020F0502020204030204" pitchFamily="34" charset="0"/>
              </a:rPr>
              <a:t>: Maximum radius of the neighbourhood</a:t>
            </a:r>
            <a:r>
              <a:rPr lang="en-US" dirty="0">
                <a:latin typeface="+mj-lt"/>
                <a:cs typeface="Calibri" panose="020F0502020204030204" pitchFamily="34" charset="0"/>
              </a:rPr>
              <a:t>.</a:t>
            </a:r>
            <a:endParaRPr lang="vi-VN" dirty="0">
              <a:latin typeface="+mj-lt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vi-VN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MinPts</a:t>
            </a:r>
            <a:r>
              <a:rPr lang="vi-VN" dirty="0">
                <a:latin typeface="+mj-lt"/>
                <a:cs typeface="Calibri" panose="020F0502020204030204" pitchFamily="34" charset="0"/>
              </a:rPr>
              <a:t>: Minimum number of points in an Eps-neighbourhood of that point</a:t>
            </a:r>
            <a:r>
              <a:rPr lang="en-US" dirty="0">
                <a:latin typeface="+mj-lt"/>
                <a:cs typeface="Calibri" panose="020F0502020204030204" pitchFamily="34" charset="0"/>
              </a:rPr>
              <a:t>.</a:t>
            </a:r>
            <a:endParaRPr lang="vi-VN" dirty="0">
              <a:latin typeface="+mj-lt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vi-VN" dirty="0">
                <a:solidFill>
                  <a:srgbClr val="00B050"/>
                </a:solidFill>
                <a:latin typeface="+mj-lt"/>
                <a:cs typeface="Calibri" panose="020F0502020204030204" pitchFamily="34" charset="0"/>
              </a:rPr>
              <a:t>NEps(p):</a:t>
            </a:r>
            <a:r>
              <a:rPr lang="vi-VN" dirty="0">
                <a:latin typeface="+mj-lt"/>
                <a:cs typeface="Calibri" panose="020F0502020204030204" pitchFamily="34" charset="0"/>
              </a:rPr>
              <a:t> {q belongs to D | dist(p,q) ≤ Eps}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+mj-lt"/>
                <a:cs typeface="Calibri" panose="020F0502020204030204" pitchFamily="34" charset="0"/>
              </a:rPr>
              <a:t> </a:t>
            </a:r>
            <a:r>
              <a:rPr lang="vi-VN" u="sng" dirty="0">
                <a:latin typeface="+mj-lt"/>
                <a:cs typeface="Calibri" panose="020F0502020204030204" pitchFamily="34" charset="0"/>
              </a:rPr>
              <a:t>Directly density-reachable</a:t>
            </a:r>
            <a:r>
              <a:rPr lang="vi-VN" dirty="0">
                <a:latin typeface="+mj-lt"/>
                <a:cs typeface="Calibri" panose="020F0502020204030204" pitchFamily="34" charset="0"/>
              </a:rPr>
              <a:t>: A point </a:t>
            </a:r>
            <a:r>
              <a:rPr lang="vi-VN" dirty="0">
                <a:solidFill>
                  <a:srgbClr val="00B0F0"/>
                </a:solidFill>
                <a:latin typeface="+mj-lt"/>
                <a:cs typeface="Calibri" panose="020F0502020204030204" pitchFamily="34" charset="0"/>
              </a:rPr>
              <a:t>p</a:t>
            </a:r>
            <a:r>
              <a:rPr lang="vi-VN" dirty="0">
                <a:latin typeface="+mj-lt"/>
                <a:cs typeface="Calibri" panose="020F0502020204030204" pitchFamily="34" charset="0"/>
              </a:rPr>
              <a:t> is directly density-reachable from a point </a:t>
            </a:r>
            <a:r>
              <a:rPr lang="vi-VN" dirty="0">
                <a:solidFill>
                  <a:srgbClr val="00B0F0"/>
                </a:solidFill>
                <a:latin typeface="+mj-lt"/>
                <a:cs typeface="Calibri" panose="020F0502020204030204" pitchFamily="34" charset="0"/>
              </a:rPr>
              <a:t>q</a:t>
            </a:r>
            <a:r>
              <a:rPr lang="vi-VN" dirty="0">
                <a:latin typeface="+mj-lt"/>
                <a:cs typeface="Calibri" panose="020F0502020204030204" pitchFamily="34" charset="0"/>
              </a:rPr>
              <a:t> w.r.t. </a:t>
            </a:r>
            <a:r>
              <a:rPr lang="vi-VN" dirty="0">
                <a:solidFill>
                  <a:srgbClr val="00B0F0"/>
                </a:solidFill>
                <a:latin typeface="+mj-lt"/>
                <a:cs typeface="Calibri" panose="020F0502020204030204" pitchFamily="34" charset="0"/>
              </a:rPr>
              <a:t>Eps</a:t>
            </a:r>
            <a:r>
              <a:rPr lang="vi-VN" dirty="0">
                <a:latin typeface="+mj-lt"/>
                <a:cs typeface="Calibri" panose="020F0502020204030204" pitchFamily="34" charset="0"/>
              </a:rPr>
              <a:t>, </a:t>
            </a:r>
            <a:r>
              <a:rPr lang="vi-VN" dirty="0">
                <a:solidFill>
                  <a:srgbClr val="00B0F0"/>
                </a:solidFill>
                <a:latin typeface="+mj-lt"/>
                <a:cs typeface="Calibri" panose="020F0502020204030204" pitchFamily="34" charset="0"/>
              </a:rPr>
              <a:t>MinPts</a:t>
            </a:r>
            <a:r>
              <a:rPr lang="vi-VN" dirty="0">
                <a:latin typeface="+mj-lt"/>
                <a:cs typeface="Calibri" panose="020F0502020204030204" pitchFamily="34" charset="0"/>
              </a:rPr>
              <a:t> if 	</a:t>
            </a:r>
          </a:p>
          <a:p>
            <a:pPr lvl="1">
              <a:spcBef>
                <a:spcPts val="600"/>
              </a:spcBef>
            </a:pPr>
            <a:r>
              <a:rPr lang="vi-VN" dirty="0">
                <a:latin typeface="+mj-lt"/>
                <a:cs typeface="Calibri" panose="020F0502020204030204" pitchFamily="34" charset="0"/>
              </a:rPr>
              <a:t>p belongs to NEps(q)</a:t>
            </a:r>
          </a:p>
          <a:p>
            <a:pPr lvl="1">
              <a:spcBef>
                <a:spcPts val="600"/>
              </a:spcBef>
            </a:pPr>
            <a:r>
              <a:rPr lang="vi-VN" dirty="0">
                <a:latin typeface="+mj-lt"/>
                <a:cs typeface="Calibri" panose="020F0502020204030204" pitchFamily="34" charset="0"/>
              </a:rPr>
              <a:t>|NEps (q)| ≥ MinPts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F9C9D-FE02-E37E-BB3A-BC68D75A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21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0383E-0CBB-516A-34EC-39EE21CFF309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>
                <a:solidFill>
                  <a:srgbClr val="FF0000"/>
                </a:solidFill>
              </a:rPr>
              <a:t>Density-Based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Clustering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386638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Density-reachable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dirty="0"/>
              <a:t>A point </a:t>
            </a:r>
            <a:r>
              <a:rPr lang="en-US" dirty="0">
                <a:solidFill>
                  <a:srgbClr val="00B0F0"/>
                </a:solidFill>
              </a:rPr>
              <a:t>p</a:t>
            </a:r>
            <a:r>
              <a:rPr lang="en-US" dirty="0"/>
              <a:t> is density-reachable from a point </a:t>
            </a:r>
            <a:r>
              <a:rPr lang="en-US" dirty="0">
                <a:solidFill>
                  <a:srgbClr val="00B0F0"/>
                </a:solidFill>
              </a:rPr>
              <a:t>q</a:t>
            </a:r>
            <a:r>
              <a:rPr lang="en-US" dirty="0"/>
              <a:t> w.r.t. </a:t>
            </a:r>
            <a:r>
              <a:rPr lang="en-US" dirty="0">
                <a:solidFill>
                  <a:srgbClr val="00B0F0"/>
                </a:solidFill>
              </a:rPr>
              <a:t>Eps</a:t>
            </a:r>
            <a:r>
              <a:rPr lang="en-US" dirty="0"/>
              <a:t>, </a:t>
            </a:r>
            <a:r>
              <a:rPr lang="en-US" dirty="0" err="1">
                <a:solidFill>
                  <a:srgbClr val="00B0F0"/>
                </a:solidFill>
              </a:rPr>
              <a:t>MinPts</a:t>
            </a:r>
            <a:r>
              <a:rPr lang="en-US" dirty="0"/>
              <a:t> if there is a chain of points </a:t>
            </a:r>
            <a:r>
              <a:rPr lang="en-US" dirty="0">
                <a:solidFill>
                  <a:srgbClr val="00B0F0"/>
                </a:solidFill>
              </a:rPr>
              <a:t>p</a:t>
            </a:r>
            <a:r>
              <a:rPr lang="en-US" baseline="-25000" dirty="0">
                <a:solidFill>
                  <a:srgbClr val="00B0F0"/>
                </a:solidFill>
              </a:rPr>
              <a:t>1</a:t>
            </a:r>
            <a:r>
              <a:rPr lang="en-US" dirty="0">
                <a:solidFill>
                  <a:srgbClr val="00B0F0"/>
                </a:solidFill>
              </a:rPr>
              <a:t>, …, </a:t>
            </a:r>
            <a:r>
              <a:rPr lang="en-US" dirty="0" err="1">
                <a:solidFill>
                  <a:srgbClr val="00B0F0"/>
                </a:solidFill>
              </a:rPr>
              <a:t>p</a:t>
            </a:r>
            <a:r>
              <a:rPr lang="en-US" baseline="-25000" dirty="0" err="1">
                <a:solidFill>
                  <a:srgbClr val="00B0F0"/>
                </a:solidFill>
              </a:rPr>
              <a:t>n</a:t>
            </a:r>
            <a:r>
              <a:rPr lang="en-US" dirty="0"/>
              <a:t>, </a:t>
            </a:r>
            <a:r>
              <a:rPr lang="en-US" dirty="0">
                <a:solidFill>
                  <a:srgbClr val="00B0F0"/>
                </a:solidFill>
              </a:rPr>
              <a:t>p</a:t>
            </a:r>
            <a:r>
              <a:rPr lang="en-US" baseline="-25000" dirty="0">
                <a:solidFill>
                  <a:srgbClr val="00B0F0"/>
                </a:solidFill>
              </a:rPr>
              <a:t>1</a:t>
            </a:r>
            <a:r>
              <a:rPr lang="en-US" dirty="0">
                <a:solidFill>
                  <a:srgbClr val="00B0F0"/>
                </a:solidFill>
              </a:rPr>
              <a:t> = q, </a:t>
            </a:r>
            <a:r>
              <a:rPr lang="en-US" dirty="0" err="1">
                <a:solidFill>
                  <a:srgbClr val="00B0F0"/>
                </a:solidFill>
              </a:rPr>
              <a:t>p</a:t>
            </a:r>
            <a:r>
              <a:rPr lang="en-US" baseline="-25000" dirty="0" err="1">
                <a:solidFill>
                  <a:srgbClr val="00B0F0"/>
                </a:solidFill>
              </a:rPr>
              <a:t>n</a:t>
            </a:r>
            <a:r>
              <a:rPr lang="en-US" dirty="0">
                <a:solidFill>
                  <a:srgbClr val="00B0F0"/>
                </a:solidFill>
              </a:rPr>
              <a:t> = p </a:t>
            </a:r>
            <a:r>
              <a:rPr lang="en-US" dirty="0">
                <a:solidFill>
                  <a:schemeClr val="tx1"/>
                </a:solidFill>
              </a:rPr>
              <a:t>such that </a:t>
            </a:r>
            <a:r>
              <a:rPr lang="en-US" dirty="0">
                <a:solidFill>
                  <a:srgbClr val="00B0F0"/>
                </a:solidFill>
              </a:rPr>
              <a:t>p</a:t>
            </a:r>
            <a:r>
              <a:rPr lang="en-US" baseline="-25000" dirty="0">
                <a:solidFill>
                  <a:srgbClr val="00B0F0"/>
                </a:solidFill>
              </a:rPr>
              <a:t>i+1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is directly density-reachable from </a:t>
            </a:r>
            <a:r>
              <a:rPr lang="en-US" dirty="0">
                <a:solidFill>
                  <a:srgbClr val="00B0F0"/>
                </a:solidFill>
              </a:rPr>
              <a:t>p</a:t>
            </a:r>
            <a:r>
              <a:rPr lang="en-US" baseline="-25000" dirty="0">
                <a:solidFill>
                  <a:srgbClr val="00B0F0"/>
                </a:solidFill>
              </a:rPr>
              <a:t>i</a:t>
            </a:r>
            <a:r>
              <a:rPr lang="en-US" dirty="0"/>
              <a:t>.	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Density-connected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dirty="0"/>
              <a:t>A point </a:t>
            </a:r>
            <a:r>
              <a:rPr lang="en-US" dirty="0">
                <a:solidFill>
                  <a:srgbClr val="00B0F0"/>
                </a:solidFill>
              </a:rPr>
              <a:t>p</a:t>
            </a:r>
            <a:r>
              <a:rPr lang="en-US" dirty="0"/>
              <a:t> is density-connected to a point </a:t>
            </a:r>
            <a:r>
              <a:rPr lang="en-US" dirty="0">
                <a:solidFill>
                  <a:srgbClr val="00B0F0"/>
                </a:solidFill>
              </a:rPr>
              <a:t>q</a:t>
            </a:r>
            <a:r>
              <a:rPr lang="en-US" dirty="0"/>
              <a:t> w.r.t. </a:t>
            </a:r>
            <a:r>
              <a:rPr lang="en-US" dirty="0">
                <a:solidFill>
                  <a:srgbClr val="00B0F0"/>
                </a:solidFill>
              </a:rPr>
              <a:t>Eps</a:t>
            </a:r>
            <a:r>
              <a:rPr lang="en-US" dirty="0"/>
              <a:t>, </a:t>
            </a:r>
            <a:r>
              <a:rPr lang="en-US" dirty="0" err="1">
                <a:solidFill>
                  <a:srgbClr val="00B0F0"/>
                </a:solidFill>
              </a:rPr>
              <a:t>MinPts</a:t>
            </a:r>
            <a:r>
              <a:rPr lang="en-US" dirty="0"/>
              <a:t> if there is a point </a:t>
            </a:r>
            <a:r>
              <a:rPr lang="en-US" dirty="0">
                <a:solidFill>
                  <a:srgbClr val="00B0F0"/>
                </a:solidFill>
              </a:rPr>
              <a:t>o</a:t>
            </a:r>
            <a:r>
              <a:rPr lang="en-US" dirty="0"/>
              <a:t> such that both, </a:t>
            </a:r>
            <a:r>
              <a:rPr lang="en-US" dirty="0">
                <a:solidFill>
                  <a:srgbClr val="00B0F0"/>
                </a:solidFill>
              </a:rPr>
              <a:t>p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</a:rPr>
              <a:t>q</a:t>
            </a:r>
            <a:r>
              <a:rPr lang="en-US" dirty="0"/>
              <a:t> are density-reachable from </a:t>
            </a:r>
            <a:r>
              <a:rPr lang="en-US" dirty="0">
                <a:solidFill>
                  <a:srgbClr val="00B0F0"/>
                </a:solidFill>
              </a:rPr>
              <a:t>o</a:t>
            </a:r>
            <a:r>
              <a:rPr lang="en-US" dirty="0"/>
              <a:t> w.r.t. </a:t>
            </a:r>
            <a:r>
              <a:rPr lang="en-US" dirty="0">
                <a:solidFill>
                  <a:srgbClr val="00B0F0"/>
                </a:solidFill>
              </a:rPr>
              <a:t>Eps</a:t>
            </a:r>
            <a:r>
              <a:rPr lang="en-US" dirty="0"/>
              <a:t> and </a:t>
            </a:r>
            <a:r>
              <a:rPr lang="en-US" dirty="0" err="1">
                <a:solidFill>
                  <a:srgbClr val="00B0F0"/>
                </a:solidFill>
              </a:rPr>
              <a:t>MinPts</a:t>
            </a:r>
            <a:r>
              <a:rPr lang="en-US" dirty="0"/>
              <a:t>.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vi-VN" dirty="0"/>
          </a:p>
        </p:txBody>
      </p:sp>
      <p:grpSp>
        <p:nvGrpSpPr>
          <p:cNvPr id="4" name="Group 3"/>
          <p:cNvGrpSpPr/>
          <p:nvPr/>
        </p:nvGrpSpPr>
        <p:grpSpPr>
          <a:xfrm>
            <a:off x="8489950" y="1825625"/>
            <a:ext cx="2863850" cy="4229100"/>
            <a:chOff x="5867400" y="1752600"/>
            <a:chExt cx="2863850" cy="4229100"/>
          </a:xfrm>
        </p:grpSpPr>
        <p:sp>
          <p:nvSpPr>
            <p:cNvPr id="5" name="Oval 1028"/>
            <p:cNvSpPr>
              <a:spLocks noChangeArrowheads="1"/>
            </p:cNvSpPr>
            <p:nvPr/>
          </p:nvSpPr>
          <p:spPr bwMode="auto">
            <a:xfrm>
              <a:off x="7019925" y="2459038"/>
              <a:ext cx="100013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6" name="Oval 1029"/>
            <p:cNvSpPr>
              <a:spLocks noChangeArrowheads="1"/>
            </p:cNvSpPr>
            <p:nvPr/>
          </p:nvSpPr>
          <p:spPr bwMode="auto">
            <a:xfrm>
              <a:off x="7356475" y="2570163"/>
              <a:ext cx="98425" cy="10001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7" name="Oval 1030"/>
            <p:cNvSpPr>
              <a:spLocks noChangeArrowheads="1"/>
            </p:cNvSpPr>
            <p:nvPr/>
          </p:nvSpPr>
          <p:spPr bwMode="auto">
            <a:xfrm>
              <a:off x="7356475" y="2235200"/>
              <a:ext cx="98425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8" name="Oval 1031"/>
            <p:cNvSpPr>
              <a:spLocks noChangeArrowheads="1"/>
            </p:cNvSpPr>
            <p:nvPr/>
          </p:nvSpPr>
          <p:spPr bwMode="auto">
            <a:xfrm>
              <a:off x="6908800" y="2905125"/>
              <a:ext cx="98425" cy="10001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9" name="Oval 1032"/>
            <p:cNvSpPr>
              <a:spLocks noChangeArrowheads="1"/>
            </p:cNvSpPr>
            <p:nvPr/>
          </p:nvSpPr>
          <p:spPr bwMode="auto">
            <a:xfrm>
              <a:off x="7132638" y="2682875"/>
              <a:ext cx="98425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0" name="Oval 1033"/>
            <p:cNvSpPr>
              <a:spLocks noChangeArrowheads="1"/>
            </p:cNvSpPr>
            <p:nvPr/>
          </p:nvSpPr>
          <p:spPr bwMode="auto">
            <a:xfrm>
              <a:off x="7132638" y="2905125"/>
              <a:ext cx="98425" cy="10001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1" name="Oval 1034"/>
            <p:cNvSpPr>
              <a:spLocks noChangeArrowheads="1"/>
            </p:cNvSpPr>
            <p:nvPr/>
          </p:nvSpPr>
          <p:spPr bwMode="auto">
            <a:xfrm>
              <a:off x="7467600" y="3017838"/>
              <a:ext cx="98425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2" name="Oval 1035"/>
            <p:cNvSpPr>
              <a:spLocks noChangeArrowheads="1"/>
            </p:cNvSpPr>
            <p:nvPr/>
          </p:nvSpPr>
          <p:spPr bwMode="auto">
            <a:xfrm>
              <a:off x="7467600" y="2011363"/>
              <a:ext cx="98425" cy="10001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3" name="Oval 1036"/>
            <p:cNvSpPr>
              <a:spLocks noChangeArrowheads="1"/>
            </p:cNvSpPr>
            <p:nvPr/>
          </p:nvSpPr>
          <p:spPr bwMode="auto">
            <a:xfrm>
              <a:off x="8137525" y="2682875"/>
              <a:ext cx="100013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4" name="Oval 1037"/>
            <p:cNvSpPr>
              <a:spLocks noChangeArrowheads="1"/>
            </p:cNvSpPr>
            <p:nvPr/>
          </p:nvSpPr>
          <p:spPr bwMode="auto">
            <a:xfrm>
              <a:off x="7915275" y="2235200"/>
              <a:ext cx="98425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5" name="Oval 1038"/>
            <p:cNvSpPr>
              <a:spLocks noChangeArrowheads="1"/>
            </p:cNvSpPr>
            <p:nvPr/>
          </p:nvSpPr>
          <p:spPr bwMode="auto">
            <a:xfrm>
              <a:off x="7356475" y="2794000"/>
              <a:ext cx="98425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6" name="Oval 1039"/>
            <p:cNvSpPr>
              <a:spLocks noChangeArrowheads="1"/>
            </p:cNvSpPr>
            <p:nvPr/>
          </p:nvSpPr>
          <p:spPr bwMode="auto">
            <a:xfrm>
              <a:off x="7578725" y="2570163"/>
              <a:ext cx="100013" cy="10001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7" name="Oval 1040"/>
            <p:cNvSpPr>
              <a:spLocks noChangeArrowheads="1"/>
            </p:cNvSpPr>
            <p:nvPr/>
          </p:nvSpPr>
          <p:spPr bwMode="auto">
            <a:xfrm>
              <a:off x="7802563" y="2905125"/>
              <a:ext cx="100012" cy="10001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8" name="Oval 1041"/>
            <p:cNvSpPr>
              <a:spLocks noChangeArrowheads="1"/>
            </p:cNvSpPr>
            <p:nvPr/>
          </p:nvSpPr>
          <p:spPr bwMode="auto">
            <a:xfrm>
              <a:off x="8361363" y="3017838"/>
              <a:ext cx="100012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19" name="Oval 1042"/>
            <p:cNvSpPr>
              <a:spLocks noChangeArrowheads="1"/>
            </p:cNvSpPr>
            <p:nvPr/>
          </p:nvSpPr>
          <p:spPr bwMode="auto">
            <a:xfrm>
              <a:off x="7086600" y="2438400"/>
              <a:ext cx="1104900" cy="11049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20" name="Oval 1043"/>
            <p:cNvSpPr>
              <a:spLocks noChangeArrowheads="1"/>
            </p:cNvSpPr>
            <p:nvPr/>
          </p:nvSpPr>
          <p:spPr bwMode="auto">
            <a:xfrm>
              <a:off x="6370638" y="2311400"/>
              <a:ext cx="1104900" cy="11049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21" name="Rectangle 1044"/>
            <p:cNvSpPr>
              <a:spLocks noChangeArrowheads="1"/>
            </p:cNvSpPr>
            <p:nvPr/>
          </p:nvSpPr>
          <p:spPr bwMode="auto">
            <a:xfrm>
              <a:off x="7969250" y="2051050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SimSun" panose="02010600030101010101" pitchFamily="2" charset="-122"/>
                </a:rPr>
                <a:t>p</a:t>
              </a:r>
            </a:p>
          </p:txBody>
        </p:sp>
        <p:sp>
          <p:nvSpPr>
            <p:cNvPr id="22" name="Rectangle 1045"/>
            <p:cNvSpPr>
              <a:spLocks noChangeArrowheads="1"/>
            </p:cNvSpPr>
            <p:nvPr/>
          </p:nvSpPr>
          <p:spPr bwMode="auto">
            <a:xfrm>
              <a:off x="6597650" y="2736850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SimSun" panose="02010600030101010101" pitchFamily="2" charset="-122"/>
                </a:rPr>
                <a:t>q</a:t>
              </a:r>
            </a:p>
          </p:txBody>
        </p:sp>
        <p:sp>
          <p:nvSpPr>
            <p:cNvPr id="23" name="Oval 1046"/>
            <p:cNvSpPr>
              <a:spLocks noChangeArrowheads="1"/>
            </p:cNvSpPr>
            <p:nvPr/>
          </p:nvSpPr>
          <p:spPr bwMode="auto">
            <a:xfrm>
              <a:off x="7315200" y="1752600"/>
              <a:ext cx="1104900" cy="11049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/>
            </a:p>
          </p:txBody>
        </p:sp>
        <p:sp>
          <p:nvSpPr>
            <p:cNvPr id="24" name="Rectangle 1047"/>
            <p:cNvSpPr>
              <a:spLocks noChangeArrowheads="1"/>
            </p:cNvSpPr>
            <p:nvPr/>
          </p:nvSpPr>
          <p:spPr bwMode="auto">
            <a:xfrm>
              <a:off x="7359650" y="2508250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SimSun" panose="02010600030101010101" pitchFamily="2" charset="-122"/>
                </a:rPr>
                <a:t>p</a:t>
              </a:r>
              <a:r>
                <a:rPr lang="en-US" altLang="zh-CN" b="1" i="1" baseline="-25000">
                  <a:latin typeface="Times New Roman" panose="02020603050405020304" pitchFamily="18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25" name="Line 1048"/>
            <p:cNvSpPr>
              <a:spLocks noChangeShapeType="1"/>
            </p:cNvSpPr>
            <p:nvPr/>
          </p:nvSpPr>
          <p:spPr bwMode="auto">
            <a:xfrm flipH="1">
              <a:off x="7435850" y="2355850"/>
              <a:ext cx="45720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grpSp>
          <p:nvGrpSpPr>
            <p:cNvPr id="26" name="Group 1049"/>
            <p:cNvGrpSpPr/>
            <p:nvPr/>
          </p:nvGrpSpPr>
          <p:grpSpPr bwMode="auto">
            <a:xfrm>
              <a:off x="5867400" y="4343400"/>
              <a:ext cx="2863850" cy="1638300"/>
              <a:chOff x="3428" y="2740"/>
              <a:chExt cx="1804" cy="1032"/>
            </a:xfrm>
          </p:grpSpPr>
          <p:sp>
            <p:nvSpPr>
              <p:cNvPr id="28" name="Oval 1050"/>
              <p:cNvSpPr>
                <a:spLocks noChangeArrowheads="1"/>
              </p:cNvSpPr>
              <p:nvPr/>
            </p:nvSpPr>
            <p:spPr bwMode="auto">
              <a:xfrm>
                <a:off x="3914" y="3089"/>
                <a:ext cx="63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29" name="Oval 1051"/>
              <p:cNvSpPr>
                <a:spLocks noChangeArrowheads="1"/>
              </p:cNvSpPr>
              <p:nvPr/>
            </p:nvSpPr>
            <p:spPr bwMode="auto">
              <a:xfrm>
                <a:off x="4126" y="3159"/>
                <a:ext cx="62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30" name="Oval 1052"/>
              <p:cNvSpPr>
                <a:spLocks noChangeArrowheads="1"/>
              </p:cNvSpPr>
              <p:nvPr/>
            </p:nvSpPr>
            <p:spPr bwMode="auto">
              <a:xfrm>
                <a:off x="4126" y="2948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31" name="Oval 1053"/>
              <p:cNvSpPr>
                <a:spLocks noChangeArrowheads="1"/>
              </p:cNvSpPr>
              <p:nvPr/>
            </p:nvSpPr>
            <p:spPr bwMode="auto">
              <a:xfrm>
                <a:off x="3844" y="3370"/>
                <a:ext cx="62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32" name="Oval 1054"/>
              <p:cNvSpPr>
                <a:spLocks noChangeArrowheads="1"/>
              </p:cNvSpPr>
              <p:nvPr/>
            </p:nvSpPr>
            <p:spPr bwMode="auto">
              <a:xfrm>
                <a:off x="3985" y="3230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33" name="Oval 1055"/>
              <p:cNvSpPr>
                <a:spLocks noChangeArrowheads="1"/>
              </p:cNvSpPr>
              <p:nvPr/>
            </p:nvSpPr>
            <p:spPr bwMode="auto">
              <a:xfrm>
                <a:off x="4129" y="3514"/>
                <a:ext cx="62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34" name="Oval 1056"/>
              <p:cNvSpPr>
                <a:spLocks noChangeArrowheads="1"/>
              </p:cNvSpPr>
              <p:nvPr/>
            </p:nvSpPr>
            <p:spPr bwMode="auto">
              <a:xfrm>
                <a:off x="4196" y="3297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35" name="Oval 1057"/>
              <p:cNvSpPr>
                <a:spLocks noChangeArrowheads="1"/>
              </p:cNvSpPr>
              <p:nvPr/>
            </p:nvSpPr>
            <p:spPr bwMode="auto">
              <a:xfrm>
                <a:off x="4196" y="2807"/>
                <a:ext cx="62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36" name="Oval 1058"/>
              <p:cNvSpPr>
                <a:spLocks noChangeArrowheads="1"/>
              </p:cNvSpPr>
              <p:nvPr/>
            </p:nvSpPr>
            <p:spPr bwMode="auto">
              <a:xfrm>
                <a:off x="4618" y="3230"/>
                <a:ext cx="63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37" name="Oval 1059"/>
              <p:cNvSpPr>
                <a:spLocks noChangeArrowheads="1"/>
              </p:cNvSpPr>
              <p:nvPr/>
            </p:nvSpPr>
            <p:spPr bwMode="auto">
              <a:xfrm>
                <a:off x="4478" y="2948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38" name="Oval 1060"/>
              <p:cNvSpPr>
                <a:spLocks noChangeArrowheads="1"/>
              </p:cNvSpPr>
              <p:nvPr/>
            </p:nvSpPr>
            <p:spPr bwMode="auto">
              <a:xfrm>
                <a:off x="3694" y="3252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39" name="Oval 1061"/>
              <p:cNvSpPr>
                <a:spLocks noChangeArrowheads="1"/>
              </p:cNvSpPr>
              <p:nvPr/>
            </p:nvSpPr>
            <p:spPr bwMode="auto">
              <a:xfrm>
                <a:off x="4266" y="3159"/>
                <a:ext cx="63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40" name="Oval 1062"/>
              <p:cNvSpPr>
                <a:spLocks noChangeArrowheads="1"/>
              </p:cNvSpPr>
              <p:nvPr/>
            </p:nvSpPr>
            <p:spPr bwMode="auto">
              <a:xfrm>
                <a:off x="4407" y="3370"/>
                <a:ext cx="63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41" name="Oval 1063"/>
              <p:cNvSpPr>
                <a:spLocks noChangeArrowheads="1"/>
              </p:cNvSpPr>
              <p:nvPr/>
            </p:nvSpPr>
            <p:spPr bwMode="auto">
              <a:xfrm>
                <a:off x="4759" y="3441"/>
                <a:ext cx="63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42" name="Rectangle 1064"/>
              <p:cNvSpPr>
                <a:spLocks noChangeArrowheads="1"/>
              </p:cNvSpPr>
              <p:nvPr/>
            </p:nvSpPr>
            <p:spPr bwMode="auto">
              <a:xfrm>
                <a:off x="3504" y="283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b="1" i="1">
                    <a:latin typeface="Times New Roman" panose="02020603050405020304" pitchFamily="18" charset="0"/>
                    <a:ea typeface="SimSun" panose="02010600030101010101" pitchFamily="2" charset="-122"/>
                  </a:rPr>
                  <a:t>p</a:t>
                </a:r>
              </a:p>
            </p:txBody>
          </p:sp>
          <p:sp>
            <p:nvSpPr>
              <p:cNvPr id="43" name="Rectangle 1065"/>
              <p:cNvSpPr>
                <a:spLocks noChangeArrowheads="1"/>
              </p:cNvSpPr>
              <p:nvPr/>
            </p:nvSpPr>
            <p:spPr bwMode="auto">
              <a:xfrm>
                <a:off x="4992" y="283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b="1" i="1">
                    <a:latin typeface="Times New Roman" panose="02020603050405020304" pitchFamily="18" charset="0"/>
                    <a:ea typeface="SimSun" panose="02010600030101010101" pitchFamily="2" charset="-122"/>
                  </a:rPr>
                  <a:t>q</a:t>
                </a:r>
              </a:p>
            </p:txBody>
          </p:sp>
          <p:sp>
            <p:nvSpPr>
              <p:cNvPr id="44" name="Oval 1066"/>
              <p:cNvSpPr>
                <a:spLocks noChangeArrowheads="1"/>
              </p:cNvSpPr>
              <p:nvPr/>
            </p:nvSpPr>
            <p:spPr bwMode="auto">
              <a:xfrm>
                <a:off x="4858" y="3182"/>
                <a:ext cx="63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45" name="Oval 1067"/>
              <p:cNvSpPr>
                <a:spLocks noChangeArrowheads="1"/>
              </p:cNvSpPr>
              <p:nvPr/>
            </p:nvSpPr>
            <p:spPr bwMode="auto">
              <a:xfrm>
                <a:off x="4506" y="3207"/>
                <a:ext cx="63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46" name="Oval 1068"/>
              <p:cNvSpPr>
                <a:spLocks noChangeArrowheads="1"/>
              </p:cNvSpPr>
              <p:nvPr/>
            </p:nvSpPr>
            <p:spPr bwMode="auto">
              <a:xfrm>
                <a:off x="4647" y="3322"/>
                <a:ext cx="63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47" name="Oval 1069"/>
              <p:cNvSpPr>
                <a:spLocks noChangeArrowheads="1"/>
              </p:cNvSpPr>
              <p:nvPr/>
            </p:nvSpPr>
            <p:spPr bwMode="auto">
              <a:xfrm>
                <a:off x="4954" y="2942"/>
                <a:ext cx="63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48" name="Oval 1070"/>
              <p:cNvSpPr>
                <a:spLocks noChangeArrowheads="1"/>
              </p:cNvSpPr>
              <p:nvPr/>
            </p:nvSpPr>
            <p:spPr bwMode="auto">
              <a:xfrm>
                <a:off x="4602" y="2871"/>
                <a:ext cx="63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49" name="Oval 1071"/>
              <p:cNvSpPr>
                <a:spLocks noChangeArrowheads="1"/>
              </p:cNvSpPr>
              <p:nvPr/>
            </p:nvSpPr>
            <p:spPr bwMode="auto">
              <a:xfrm>
                <a:off x="4791" y="3034"/>
                <a:ext cx="63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50" name="Oval 1072"/>
              <p:cNvSpPr>
                <a:spLocks noChangeArrowheads="1"/>
              </p:cNvSpPr>
              <p:nvPr/>
            </p:nvSpPr>
            <p:spPr bwMode="auto">
              <a:xfrm>
                <a:off x="3524" y="2980"/>
                <a:ext cx="696" cy="6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51" name="Oval 1073"/>
              <p:cNvSpPr>
                <a:spLocks noChangeArrowheads="1"/>
              </p:cNvSpPr>
              <p:nvPr/>
            </p:nvSpPr>
            <p:spPr bwMode="auto">
              <a:xfrm>
                <a:off x="3860" y="3076"/>
                <a:ext cx="696" cy="6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52" name="Oval 1074"/>
              <p:cNvSpPr>
                <a:spLocks noChangeArrowheads="1"/>
              </p:cNvSpPr>
              <p:nvPr/>
            </p:nvSpPr>
            <p:spPr bwMode="auto">
              <a:xfrm>
                <a:off x="4244" y="2980"/>
                <a:ext cx="696" cy="6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53" name="Oval 1075"/>
              <p:cNvSpPr>
                <a:spLocks noChangeArrowheads="1"/>
              </p:cNvSpPr>
              <p:nvPr/>
            </p:nvSpPr>
            <p:spPr bwMode="auto">
              <a:xfrm>
                <a:off x="4484" y="2740"/>
                <a:ext cx="696" cy="6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54" name="Line 1076"/>
              <p:cNvSpPr>
                <a:spLocks noChangeShapeType="1"/>
              </p:cNvSpPr>
              <p:nvPr/>
            </p:nvSpPr>
            <p:spPr bwMode="auto">
              <a:xfrm flipV="1">
                <a:off x="3888" y="3312"/>
                <a:ext cx="288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55" name="Line 1077"/>
              <p:cNvSpPr>
                <a:spLocks noChangeShapeType="1"/>
              </p:cNvSpPr>
              <p:nvPr/>
            </p:nvSpPr>
            <p:spPr bwMode="auto">
              <a:xfrm flipH="1">
                <a:off x="4272" y="3264"/>
                <a:ext cx="240" cy="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56" name="Oval 1078"/>
              <p:cNvSpPr>
                <a:spLocks noChangeArrowheads="1"/>
              </p:cNvSpPr>
              <p:nvPr/>
            </p:nvSpPr>
            <p:spPr bwMode="auto">
              <a:xfrm>
                <a:off x="3818" y="2993"/>
                <a:ext cx="63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57" name="Oval 1079"/>
              <p:cNvSpPr>
                <a:spLocks noChangeArrowheads="1"/>
              </p:cNvSpPr>
              <p:nvPr/>
            </p:nvSpPr>
            <p:spPr bwMode="auto">
              <a:xfrm>
                <a:off x="3694" y="3044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58" name="Oval 1080"/>
              <p:cNvSpPr>
                <a:spLocks noChangeArrowheads="1"/>
              </p:cNvSpPr>
              <p:nvPr/>
            </p:nvSpPr>
            <p:spPr bwMode="auto">
              <a:xfrm>
                <a:off x="3860" y="2807"/>
                <a:ext cx="62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59" name="Oval 1081"/>
              <p:cNvSpPr>
                <a:spLocks noChangeArrowheads="1"/>
              </p:cNvSpPr>
              <p:nvPr/>
            </p:nvSpPr>
            <p:spPr bwMode="auto">
              <a:xfrm>
                <a:off x="3428" y="2740"/>
                <a:ext cx="696" cy="6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vi-VN" altLang="vi-VN"/>
              </a:p>
            </p:txBody>
          </p:sp>
          <p:sp>
            <p:nvSpPr>
              <p:cNvPr id="60" name="Line 1082"/>
              <p:cNvSpPr>
                <a:spLocks noChangeShapeType="1"/>
              </p:cNvSpPr>
              <p:nvPr/>
            </p:nvSpPr>
            <p:spPr bwMode="auto">
              <a:xfrm>
                <a:off x="3744" y="3072"/>
                <a:ext cx="96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61" name="Line 1083"/>
              <p:cNvSpPr>
                <a:spLocks noChangeShapeType="1"/>
              </p:cNvSpPr>
              <p:nvPr/>
            </p:nvSpPr>
            <p:spPr bwMode="auto">
              <a:xfrm flipH="1">
                <a:off x="4560" y="3072"/>
                <a:ext cx="24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62" name="Rectangle 1084"/>
              <p:cNvSpPr>
                <a:spLocks noChangeArrowheads="1"/>
              </p:cNvSpPr>
              <p:nvPr/>
            </p:nvSpPr>
            <p:spPr bwMode="auto">
              <a:xfrm>
                <a:off x="4176" y="331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b="1" i="1">
                    <a:latin typeface="Times New Roman" panose="02020603050405020304" pitchFamily="18" charset="0"/>
                    <a:ea typeface="SimSun" panose="02010600030101010101" pitchFamily="2" charset="-122"/>
                  </a:rPr>
                  <a:t>o</a:t>
                </a:r>
              </a:p>
            </p:txBody>
          </p:sp>
        </p:grpSp>
        <p:sp>
          <p:nvSpPr>
            <p:cNvPr id="27" name="Line 1085"/>
            <p:cNvSpPr>
              <a:spLocks noChangeShapeType="1"/>
            </p:cNvSpPr>
            <p:nvPr/>
          </p:nvSpPr>
          <p:spPr bwMode="auto">
            <a:xfrm flipV="1">
              <a:off x="6934200" y="2667000"/>
              <a:ext cx="45720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</p:grp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B6A64AE7-1F71-307B-A4C9-CD02DDFB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22</a:t>
            </a:fld>
            <a:endParaRPr lang="vi-V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8D7D8A-3642-7829-A003-90E51E1A2C72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DBSCAN: Density-Based Spatial Clustering of Applications with Noise</a:t>
            </a:r>
            <a:endParaRPr lang="vi-V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703" y="1669170"/>
            <a:ext cx="5276056" cy="4047116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A cluster is defined as a </a:t>
            </a:r>
            <a:r>
              <a:rPr lang="en-US" sz="2400" dirty="0">
                <a:solidFill>
                  <a:srgbClr val="00B050"/>
                </a:solidFill>
              </a:rPr>
              <a:t>maximal set of density-connected points.</a:t>
            </a:r>
          </a:p>
          <a:p>
            <a:pPr>
              <a:spcBef>
                <a:spcPts val="600"/>
              </a:spcBef>
            </a:pPr>
            <a:r>
              <a:rPr lang="en-US" sz="2400" u="sng" dirty="0"/>
              <a:t>Algorithm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Arbitrary select a point </a:t>
            </a:r>
            <a:r>
              <a:rPr lang="en-US" sz="2000" dirty="0">
                <a:solidFill>
                  <a:srgbClr val="00B0F0"/>
                </a:solidFill>
              </a:rPr>
              <a:t>p</a:t>
            </a:r>
            <a:r>
              <a:rPr lang="en-US" sz="2000" dirty="0"/>
              <a:t>.</a:t>
            </a:r>
          </a:p>
          <a:p>
            <a:pPr lvl="1">
              <a:spcBef>
                <a:spcPts val="600"/>
              </a:spcBef>
            </a:pPr>
            <a:r>
              <a:rPr lang="en-US" sz="2000" dirty="0">
                <a:solidFill>
                  <a:srgbClr val="00B0F0"/>
                </a:solidFill>
              </a:rPr>
              <a:t>Retrieve all points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92D050"/>
                </a:solidFill>
              </a:rPr>
              <a:t>density-reachable</a:t>
            </a:r>
            <a:r>
              <a:rPr lang="en-US" sz="2000" dirty="0"/>
              <a:t> from </a:t>
            </a:r>
            <a:r>
              <a:rPr lang="en-US" sz="2000" dirty="0">
                <a:solidFill>
                  <a:srgbClr val="00B0F0"/>
                </a:solidFill>
              </a:rPr>
              <a:t>p</a:t>
            </a:r>
            <a:r>
              <a:rPr lang="en-US" sz="2000" dirty="0"/>
              <a:t> w.r.t. </a:t>
            </a:r>
            <a:r>
              <a:rPr lang="en-US" sz="2000" dirty="0">
                <a:solidFill>
                  <a:srgbClr val="00B0F0"/>
                </a:solidFill>
              </a:rPr>
              <a:t>Eps</a:t>
            </a:r>
            <a:r>
              <a:rPr lang="en-US" sz="2000" dirty="0"/>
              <a:t> and </a:t>
            </a:r>
            <a:r>
              <a:rPr lang="en-US" sz="2000" dirty="0" err="1">
                <a:solidFill>
                  <a:srgbClr val="00B0F0"/>
                </a:solidFill>
              </a:rPr>
              <a:t>MinPts</a:t>
            </a:r>
            <a:r>
              <a:rPr lang="en-US" sz="2000" dirty="0">
                <a:solidFill>
                  <a:srgbClr val="00B0F0"/>
                </a:solidFill>
              </a:rPr>
              <a:t>.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If </a:t>
            </a:r>
            <a:r>
              <a:rPr lang="en-US" sz="2000" dirty="0">
                <a:solidFill>
                  <a:srgbClr val="00B0F0"/>
                </a:solidFill>
              </a:rPr>
              <a:t>p</a:t>
            </a:r>
            <a:r>
              <a:rPr lang="en-US" sz="2000" dirty="0"/>
              <a:t> is a </a:t>
            </a:r>
            <a:r>
              <a:rPr lang="en-US" sz="2000" dirty="0">
                <a:solidFill>
                  <a:srgbClr val="92D050"/>
                </a:solidFill>
              </a:rPr>
              <a:t>core point</a:t>
            </a:r>
            <a:r>
              <a:rPr lang="en-US" sz="2000" dirty="0"/>
              <a:t>, a </a:t>
            </a:r>
            <a:r>
              <a:rPr lang="en-US" sz="2000" dirty="0">
                <a:solidFill>
                  <a:srgbClr val="92D050"/>
                </a:solidFill>
              </a:rPr>
              <a:t>cluster is formed</a:t>
            </a:r>
            <a:r>
              <a:rPr lang="en-US" sz="2000" dirty="0"/>
              <a:t>.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If </a:t>
            </a:r>
            <a:r>
              <a:rPr lang="en-US" sz="2000" dirty="0">
                <a:solidFill>
                  <a:srgbClr val="00B0F0"/>
                </a:solidFill>
              </a:rPr>
              <a:t>p</a:t>
            </a:r>
            <a:r>
              <a:rPr lang="en-US" sz="2000" dirty="0"/>
              <a:t> is a </a:t>
            </a:r>
            <a:r>
              <a:rPr lang="en-US" sz="2000" dirty="0">
                <a:solidFill>
                  <a:srgbClr val="00B050"/>
                </a:solidFill>
              </a:rPr>
              <a:t>border point</a:t>
            </a:r>
            <a:r>
              <a:rPr lang="en-US" sz="2000" dirty="0"/>
              <a:t>, no points are density-reachable from p and DBSCAN visits the next point of the database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Continue the process until all of the points have been processed.</a:t>
            </a:r>
          </a:p>
          <a:p>
            <a:pPr lvl="1">
              <a:spcBef>
                <a:spcPts val="600"/>
              </a:spcBef>
            </a:pPr>
            <a:endParaRPr lang="vi-VN" sz="2000" dirty="0"/>
          </a:p>
        </p:txBody>
      </p:sp>
      <p:grpSp>
        <p:nvGrpSpPr>
          <p:cNvPr id="4" name="Group 4"/>
          <p:cNvGrpSpPr/>
          <p:nvPr/>
        </p:nvGrpSpPr>
        <p:grpSpPr bwMode="auto">
          <a:xfrm>
            <a:off x="6095699" y="2664028"/>
            <a:ext cx="5991076" cy="2743200"/>
            <a:chOff x="672" y="1824"/>
            <a:chExt cx="4365" cy="2112"/>
          </a:xfrm>
        </p:grpSpPr>
        <p:sp>
          <p:nvSpPr>
            <p:cNvPr id="5" name="Oval 5"/>
            <p:cNvSpPr>
              <a:spLocks noChangeArrowheads="1"/>
            </p:cNvSpPr>
            <p:nvPr/>
          </p:nvSpPr>
          <p:spPr bwMode="auto">
            <a:xfrm>
              <a:off x="1872" y="249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1824" y="273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2064" y="278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2160" y="249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2256" y="2928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1872" y="297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2064" y="312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1968" y="336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2208" y="350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2304" y="369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2256" y="326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2880" y="192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2976" y="249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2832" y="2688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3168" y="278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3264" y="254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2976" y="288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1392" y="1824"/>
              <a:ext cx="2448" cy="21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1584" y="2304"/>
              <a:ext cx="576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1872" y="2880"/>
              <a:ext cx="576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2688" y="1824"/>
              <a:ext cx="576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  <p:sp>
          <p:nvSpPr>
            <p:cNvPr id="26" name="AutoShape 26"/>
            <p:cNvSpPr/>
            <p:nvPr/>
          </p:nvSpPr>
          <p:spPr bwMode="auto">
            <a:xfrm>
              <a:off x="1094" y="3124"/>
              <a:ext cx="576" cy="284"/>
            </a:xfrm>
            <a:prstGeom prst="borderCallout1">
              <a:avLst>
                <a:gd name="adj1" fmla="val 18750"/>
                <a:gd name="adj2" fmla="val 108333"/>
                <a:gd name="adj3" fmla="val 18750"/>
                <a:gd name="adj4" fmla="val 16875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Core</a:t>
              </a:r>
            </a:p>
          </p:txBody>
        </p:sp>
        <p:sp>
          <p:nvSpPr>
            <p:cNvPr id="27" name="AutoShape 27"/>
            <p:cNvSpPr/>
            <p:nvPr/>
          </p:nvSpPr>
          <p:spPr bwMode="auto">
            <a:xfrm>
              <a:off x="672" y="2523"/>
              <a:ext cx="817" cy="284"/>
            </a:xfrm>
            <a:prstGeom prst="borderCallout1">
              <a:avLst>
                <a:gd name="adj1" fmla="val 14458"/>
                <a:gd name="adj2" fmla="val 105884"/>
                <a:gd name="adj3" fmla="val 14458"/>
                <a:gd name="adj4" fmla="val 148528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 sz="18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Border</a:t>
              </a:r>
            </a:p>
          </p:txBody>
        </p:sp>
        <p:sp>
          <p:nvSpPr>
            <p:cNvPr id="28" name="AutoShape 28"/>
            <p:cNvSpPr/>
            <p:nvPr/>
          </p:nvSpPr>
          <p:spPr bwMode="auto">
            <a:xfrm>
              <a:off x="3697" y="1921"/>
              <a:ext cx="824" cy="284"/>
            </a:xfrm>
            <a:prstGeom prst="borderCallout1">
              <a:avLst>
                <a:gd name="adj1" fmla="val 24491"/>
                <a:gd name="adj2" fmla="val -5810"/>
                <a:gd name="adj3" fmla="val 21431"/>
                <a:gd name="adj4" fmla="val -8281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Outlier</a:t>
              </a: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4081" y="2736"/>
              <a:ext cx="956" cy="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Eps = 1cm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zh-CN" sz="1800" dirty="0" err="1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MinPts</a:t>
              </a:r>
              <a:r>
                <a:rPr lang="en-US" altLang="zh-CN" sz="18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 = 5</a:t>
              </a:r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2400" y="345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vi-VN" altLang="vi-VN" sz="1800">
                <a:latin typeface="+mj-lt"/>
              </a:endParaRPr>
            </a:p>
          </p:txBody>
        </p:sp>
      </p:grp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48668395-A7A5-CED8-667B-9F93F04E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23</a:t>
            </a:fld>
            <a:endParaRPr lang="vi-V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A6E21A-0139-7575-79CD-F68CF2D5D54E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DBSCAN: Density-Based Spatial Clustering of Applications with Noise</a:t>
            </a:r>
            <a:endParaRPr lang="vi-V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703" y="1669170"/>
            <a:ext cx="5276056" cy="4047116"/>
          </a:xfrm>
        </p:spPr>
        <p:txBody>
          <a:bodyPr>
            <a:noAutofit/>
          </a:bodyPr>
          <a:lstStyle/>
          <a:p>
            <a:pPr lvl="1">
              <a:spcBef>
                <a:spcPts val="600"/>
              </a:spcBef>
            </a:pPr>
            <a:endParaRPr lang="vi-VN" sz="2000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48668395-A7A5-CED8-667B-9F93F04E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24</a:t>
            </a:fld>
            <a:endParaRPr lang="vi-V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A6E21A-0139-7575-79CD-F68CF2D5D54E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Understanding DBSCAN Algorithm and Implementation from Scratch | by  Andrewngai | Towards Data Science">
            <a:extLst>
              <a:ext uri="{FF2B5EF4-FFF2-40B4-BE49-F238E27FC236}">
                <a16:creationId xmlns:a16="http://schemas.microsoft.com/office/drawing/2014/main" id="{FDCBCAD3-6AE6-FED2-B6CA-3DFF249DB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034" y="2668961"/>
            <a:ext cx="7399449" cy="275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189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rgbClr val="FF0000"/>
                </a:solidFill>
              </a:rPr>
              <a:t>Self organizing map approach</a:t>
            </a:r>
            <a:r>
              <a:rPr lang="vi-VN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2" descr="Hình ảnh có liên qu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162" y="2128583"/>
            <a:ext cx="3099675" cy="402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2D5802-8AFA-A260-7320-0F5341D88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25</a:t>
            </a:fld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DB39D-C6C3-2997-393A-6FCE04612BF8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rgbClr val="FF0000"/>
                </a:solidFill>
              </a:rPr>
              <a:t>SOM - Self </a:t>
            </a:r>
            <a:r>
              <a:rPr lang="vi-VN" dirty="0" err="1">
                <a:solidFill>
                  <a:srgbClr val="FF0000"/>
                </a:solidFill>
              </a:rPr>
              <a:t>Organizing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Map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Description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SOM can map all these high-dimension data onto 2 dimensions space.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SOM are not very sensitive to some noisy data and the clustering quality can also be assured.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Architecture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Each neuron (node) corresponds a set of samples from the dataset.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Each neuron is associated a vector of weights (codebook).</a:t>
            </a:r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414DA-39FE-AEA2-8589-1AF8C71D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26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C90E0-785E-026F-C47A-CC4EFCBB0A72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rgbClr val="FF0000"/>
                </a:solidFill>
              </a:rPr>
              <a:t>SOM - Self </a:t>
            </a:r>
            <a:r>
              <a:rPr lang="vi-VN" dirty="0" err="1">
                <a:solidFill>
                  <a:srgbClr val="FF0000"/>
                </a:solidFill>
              </a:rPr>
              <a:t>Organizing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Map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vi-VN" dirty="0">
                <a:solidFill>
                  <a:srgbClr val="00B050"/>
                </a:solidFill>
              </a:rPr>
              <a:t>Map topology</a:t>
            </a:r>
          </a:p>
          <a:p>
            <a:endParaRPr lang="vi-V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931" y="2416887"/>
            <a:ext cx="7538138" cy="356058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845E4-326E-82F8-AD4D-77C3B3A6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27</a:t>
            </a:fld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F50AB-003F-479C-D946-2CA89A77AA4D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rgbClr val="FF0000"/>
                </a:solidFill>
              </a:rPr>
              <a:t>SOM - Self </a:t>
            </a:r>
            <a:r>
              <a:rPr lang="vi-VN" dirty="0" err="1">
                <a:solidFill>
                  <a:srgbClr val="FF0000"/>
                </a:solidFill>
              </a:rPr>
              <a:t>Organizing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Map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64806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Input</a:t>
            </a:r>
            <a:r>
              <a:rPr lang="en-US" dirty="0"/>
              <a:t>: dataset, size and topology of the map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Output</a:t>
            </a:r>
            <a:r>
              <a:rPr lang="en-US" dirty="0"/>
              <a:t>: the codebook for each output node.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Method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dirty="0"/>
              <a:t>1. Randomize the map’s nodes weight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dirty="0"/>
              <a:t>2. Select randomly one instance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dirty="0"/>
              <a:t>3. Find the closest node: best matching unit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dirty="0"/>
              <a:t>4. The codebook of this node is updated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dirty="0"/>
              <a:t>5. The codebooks of the adjacent (neighbour) nodes are also updated, by not to the same degree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dirty="0"/>
              <a:t>6. Reduce the intensity of the update progressively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dirty="0"/>
              <a:t>7. Repeat 2 to 6 for </a:t>
            </a:r>
            <a:r>
              <a:rPr lang="en-US" dirty="0" err="1"/>
              <a:t>T</a:t>
            </a:r>
            <a:r>
              <a:rPr lang="en-US" baseline="-25000" dirty="0" err="1"/>
              <a:t>max</a:t>
            </a:r>
            <a:r>
              <a:rPr lang="en-US" dirty="0"/>
              <a:t> iterations</a:t>
            </a:r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BAEFE-DB9F-2388-B163-E19F70F2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28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EF428-312C-932E-0DE7-DED61061AF7E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rgbClr val="FF0000"/>
                </a:solidFill>
              </a:rPr>
              <a:t>SOM - Self </a:t>
            </a:r>
            <a:r>
              <a:rPr lang="vi-VN" dirty="0" err="1">
                <a:solidFill>
                  <a:srgbClr val="FF0000"/>
                </a:solidFill>
              </a:rPr>
              <a:t>Organizing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Map</a:t>
            </a:r>
            <a:endParaRPr lang="vi-V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81922"/>
                <a:ext cx="10515600" cy="4689475"/>
              </a:xfrm>
            </p:spPr>
            <p:txBody>
              <a:bodyPr>
                <a:normAutofit fontScale="85000" lnSpcReduction="10000"/>
              </a:bodyPr>
              <a:lstStyle/>
              <a:p>
                <a:pPr algn="just"/>
                <a:r>
                  <a:rPr lang="en-US" dirty="0">
                    <a:solidFill>
                      <a:srgbClr val="00B050"/>
                    </a:solidFill>
                  </a:rPr>
                  <a:t>Algorithm</a:t>
                </a:r>
              </a:p>
              <a:p>
                <a:pPr lvl="1" algn="just"/>
                <a:r>
                  <a:rPr lang="en-US" dirty="0"/>
                  <a:t>Weight update rule for node </a:t>
                </a:r>
                <a:r>
                  <a:rPr lang="en-US" dirty="0">
                    <a:solidFill>
                      <a:srgbClr val="00B0F0"/>
                    </a:solidFill>
                  </a:rPr>
                  <a:t>j, j*</a:t>
                </a:r>
                <a:r>
                  <a:rPr lang="en-US" dirty="0"/>
                  <a:t> is the winning node</a:t>
                </a:r>
              </a:p>
              <a:p>
                <a:pPr lvl="1" algn="just"/>
                <a:endParaRPr lang="en-US" dirty="0"/>
              </a:p>
              <a:p>
                <a:pPr lvl="2" algn="just"/>
                <a:endParaRPr lang="en-US" dirty="0"/>
              </a:p>
              <a:p>
                <a:pPr lvl="2" algn="just"/>
                <a:r>
                  <a:rPr lang="en-US" sz="2400" dirty="0" err="1"/>
                  <a:t>h</a:t>
                </a:r>
                <a:r>
                  <a:rPr lang="en-US" sz="2400" baseline="-25000" dirty="0" err="1"/>
                  <a:t>t</a:t>
                </a:r>
                <a:r>
                  <a:rPr lang="en-US" sz="2400" dirty="0"/>
                  <a:t>(): is a neighborhood function. Its amplitude (spatial width of the kernel) decreases according to the step index (t)</a:t>
                </a:r>
              </a:p>
              <a:p>
                <a:pPr lvl="3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4" algn="just"/>
                <a:r>
                  <a:rPr lang="en-US" dirty="0"/>
                  <a:t>d(j, j</a:t>
                </a:r>
                <a:r>
                  <a:rPr lang="en-US" baseline="30000" dirty="0"/>
                  <a:t>*</a:t>
                </a:r>
                <a:r>
                  <a:rPr lang="en-US" dirty="0"/>
                  <a:t>): distance between the node j and j* on the map.</a:t>
                </a:r>
              </a:p>
              <a:p>
                <a:pPr lvl="4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2" algn="just"/>
                <a:r>
                  <a:rPr lang="en-US" sz="2400" dirty="0">
                    <a:sym typeface="Symbol" panose="05050102010706020507" pitchFamily="18" charset="2"/>
                  </a:rPr>
                  <a:t>: is learning rate. Its value decreases according the step index t.</a:t>
                </a:r>
              </a:p>
              <a:p>
                <a:pPr lvl="2" algn="just"/>
                <a:r>
                  <a:rPr lang="en-US" sz="2400" dirty="0">
                    <a:sym typeface="Symbol" panose="05050102010706020507" pitchFamily="18" charset="2"/>
                  </a:rPr>
                  <a:t></a:t>
                </a:r>
                <a:r>
                  <a:rPr lang="en-US" sz="2400" baseline="-25000" dirty="0">
                    <a:sym typeface="Symbol" panose="05050102010706020507" pitchFamily="18" charset="2"/>
                  </a:rPr>
                  <a:t>0</a:t>
                </a:r>
                <a:r>
                  <a:rPr lang="en-US" sz="2400" dirty="0">
                    <a:sym typeface="Symbol" panose="05050102010706020507" pitchFamily="18" charset="2"/>
                  </a:rPr>
                  <a:t> = 1.5</a:t>
                </a:r>
                <a:endParaRPr lang="vi-V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81922"/>
                <a:ext cx="10515600" cy="4689475"/>
              </a:xfrm>
              <a:blipFill>
                <a:blip r:embed="rId2"/>
                <a:stretch>
                  <a:fillRect l="-754" t="-780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81213" y="2837067"/>
                <a:ext cx="6134100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/>
                </a:solidFill>
              </a:ln>
            </p:spPr>
            <p:txBody>
              <a:bodyPr wrap="square" lIns="0" tIns="0" rIns="0" bIns="0" rtlCol="0" anchor="ctr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vi-V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vi-V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vi-V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vi-V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vi-V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vi-V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.(</m:t>
                      </m:r>
                      <m:sSub>
                        <m:sSubPr>
                          <m:ctrlP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vi-V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vi-V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vi-V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213" y="2837067"/>
                <a:ext cx="6134100" cy="369332"/>
              </a:xfrm>
              <a:prstGeom prst="rect">
                <a:avLst/>
              </a:prstGeom>
              <a:blipFill>
                <a:blip r:embed="rId3"/>
                <a:stretch>
                  <a:fillRect b="-34921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81F63-A3FD-DBF7-27C5-01EB5742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29</a:t>
            </a:fld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4A7BB-5B89-DD8E-4D70-22FC21EA8711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rgbClr val="FF0000"/>
                </a:solidFill>
              </a:rPr>
              <a:t>SOM - Self </a:t>
            </a:r>
            <a:r>
              <a:rPr lang="vi-VN" dirty="0" err="1">
                <a:solidFill>
                  <a:srgbClr val="FF0000"/>
                </a:solidFill>
              </a:rPr>
              <a:t>Organizing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Map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708280"/>
            <a:ext cx="10762129" cy="464807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Advantages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US" dirty="0"/>
              <a:t>It is very simple.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US" dirty="0"/>
              <a:t>It classify data well and then are easily evaluate for their own quality so you can actually calculated how good a map is and how strong the similarities between objects are.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Disadvantages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r>
              <a:rPr lang="en-US" dirty="0"/>
              <a:t>SOMs organize sample data so that in the final product, the samples are usually surrounded by similar samples, however similar samples are not always near each other.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14B7F-E2B2-F0E0-72DA-347930FD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30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B23C4-7F11-A18F-7AD1-EE407EA9F823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GHSOM - The Growing Hierarchical SOM</a:t>
            </a:r>
            <a:endParaRPr lang="vi-V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000238" cy="4023360"/>
          </a:xfrm>
        </p:spPr>
        <p:txBody>
          <a:bodyPr>
            <a:normAutofit fontScale="92500"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Description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dirty="0"/>
              <a:t>The key idea of GH-SOM is to use a </a:t>
            </a:r>
            <a:r>
              <a:rPr lang="en-US" dirty="0">
                <a:solidFill>
                  <a:srgbClr val="00B0F0"/>
                </a:solidFill>
              </a:rPr>
              <a:t>hierarchical structure of multiple layers </a:t>
            </a:r>
            <a:r>
              <a:rPr lang="en-US" dirty="0"/>
              <a:t>where each layer consists of a number of independent self-organizing maps (SOMs).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vi-V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342" y="2237511"/>
            <a:ext cx="5854791" cy="323980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D42B9-E086-D304-E615-C9A9B5A45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31</a:t>
            </a:fld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7F2ED-5317-EBCD-0328-F0569F685C89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GHSOM - The Growing Hierarchical SOM</a:t>
            </a:r>
            <a:endParaRPr lang="vi-V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25625"/>
                <a:ext cx="10515600" cy="5032375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vi-VN" dirty="0">
                    <a:solidFill>
                      <a:srgbClr val="00B050"/>
                    </a:solidFill>
                  </a:rPr>
                  <a:t>Algorithm</a:t>
                </a:r>
              </a:p>
              <a:p>
                <a:pPr marL="457200" lvl="1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:r>
                  <a:rPr lang="vi-VN" dirty="0"/>
                  <a:t>1. For present SOM start learning process and finish it after </a:t>
                </a:r>
                <a:r>
                  <a:rPr lang="el-GR" dirty="0"/>
                  <a:t>λ-</a:t>
                </a:r>
                <a:r>
                  <a:rPr lang="vi-VN" dirty="0"/>
                  <a:t>iterations.</a:t>
                </a:r>
              </a:p>
              <a:p>
                <a:pPr marL="457200" lvl="1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:r>
                  <a:rPr lang="vi-VN" dirty="0"/>
                  <a:t>2. For each unit, count error (distance) between its weight vector </a:t>
                </a:r>
                <a:r>
                  <a:rPr lang="vi-VN" dirty="0">
                    <a:solidFill>
                      <a:srgbClr val="00B0F0"/>
                    </a:solidFill>
                  </a:rPr>
                  <a:t>m</a:t>
                </a:r>
                <a:r>
                  <a:rPr lang="vi-VN" baseline="-25000" dirty="0">
                    <a:solidFill>
                      <a:srgbClr val="00B0F0"/>
                    </a:solidFill>
                  </a:rPr>
                  <a:t>i</a:t>
                </a:r>
                <a:r>
                  <a:rPr lang="vi-VN" dirty="0"/>
                  <a:t> and input patterns x(t) mapped onto this unit in the SOM learning process (this error is called quantization error </a:t>
                </a:r>
                <a:r>
                  <a:rPr lang="vi-VN" dirty="0">
                    <a:solidFill>
                      <a:srgbClr val="00B0F0"/>
                    </a:solidFill>
                  </a:rPr>
                  <a:t>qe</a:t>
                </a:r>
                <a:r>
                  <a:rPr lang="vi-VN" dirty="0"/>
                  <a:t>).</a:t>
                </a:r>
              </a:p>
              <a:p>
                <a:pPr marL="457200" lvl="1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:r>
                  <a:rPr lang="vi-VN" dirty="0"/>
                  <a:t>3. If the sum of quantization errors is greater or equal than certain fraction of quantization error of parent unit:</a:t>
                </a:r>
                <a:endParaRPr lang="en-US" dirty="0"/>
              </a:p>
              <a:p>
                <a:pPr marL="457200" lvl="1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𝑝𝑎𝑟𝑒𝑛𝑡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𝑢𝑛𝑖𝑡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457200" lvl="1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:r>
                  <a:rPr lang="en-US" dirty="0"/>
                  <a:t>		3a. If yes - select unit with biggest error and find neighbor to this unit which is most dissimilar. Go to step 4.</a:t>
                </a:r>
              </a:p>
              <a:p>
                <a:pPr marL="457200" lvl="1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:r>
                  <a:rPr lang="en-US" dirty="0"/>
                  <a:t>		3b. else - stop.</a:t>
                </a:r>
              </a:p>
              <a:p>
                <a:pPr marL="457200" lvl="1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:r>
                  <a:rPr lang="en-US" dirty="0"/>
                  <a:t>4. Between these two units put row/column.</a:t>
                </a:r>
              </a:p>
              <a:p>
                <a:pPr marL="457200" lvl="1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:r>
                  <a:rPr lang="en-US" dirty="0"/>
                  <a:t>5. Reset learning parameter and neighbor function for next SOM learning process. Go to step 1.</a:t>
                </a:r>
              </a:p>
              <a:p>
                <a:pPr marL="457200" lvl="1" indent="0">
                  <a:lnSpc>
                    <a:spcPct val="130000"/>
                  </a:lnSpc>
                  <a:spcBef>
                    <a:spcPts val="600"/>
                  </a:spcBef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When quantization error of unit in examined map is greater than fraction τ2 of global stop parameter, then a new SOM (usually initialized by 2x2) is added to structure.</a:t>
                </a:r>
              </a:p>
              <a:p>
                <a:pPr lvl="1">
                  <a:lnSpc>
                    <a:spcPct val="130000"/>
                  </a:lnSpc>
                  <a:spcBef>
                    <a:spcPts val="600"/>
                  </a:spcBef>
                </a:pPr>
                <a:endParaRPr lang="en-US" dirty="0"/>
              </a:p>
              <a:p>
                <a:pPr lvl="1">
                  <a:lnSpc>
                    <a:spcPct val="130000"/>
                  </a:lnSpc>
                  <a:spcBef>
                    <a:spcPts val="600"/>
                  </a:spcBef>
                </a:pPr>
                <a:endParaRPr lang="vi-VN" dirty="0"/>
              </a:p>
              <a:p>
                <a:pPr>
                  <a:lnSpc>
                    <a:spcPct val="130000"/>
                  </a:lnSpc>
                  <a:spcBef>
                    <a:spcPts val="600"/>
                  </a:spcBef>
                </a:pPr>
                <a:endParaRPr lang="vi-V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25625"/>
                <a:ext cx="10515600" cy="5032375"/>
              </a:xfrm>
              <a:blipFill>
                <a:blip r:embed="rId2"/>
                <a:stretch>
                  <a:fillRect l="-522" t="-484" b="-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6B7F9-BB61-0F19-F5AF-41BED1B0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32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53117-F69C-DADF-8EEB-A170A368140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labelling</a:t>
            </a:r>
            <a:endParaRPr lang="vi-V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25625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GB" dirty="0"/>
                  <a:t>Differential cluster labelling </a:t>
                </a:r>
                <a:r>
                  <a:rPr lang="en-GB" dirty="0">
                    <a:solidFill>
                      <a:srgbClr val="00B050"/>
                    </a:solidFill>
                  </a:rPr>
                  <a:t>selects cluster labels</a:t>
                </a:r>
                <a:r>
                  <a:rPr lang="en-GB" dirty="0"/>
                  <a:t> by </a:t>
                </a:r>
                <a:r>
                  <a:rPr lang="en-GB" i="1" dirty="0">
                    <a:solidFill>
                      <a:srgbClr val="00B050"/>
                    </a:solidFill>
                  </a:rPr>
                  <a:t>comparing the distribution of terms</a:t>
                </a:r>
                <a:r>
                  <a:rPr lang="en-GB" dirty="0"/>
                  <a:t> in </a:t>
                </a:r>
                <a:r>
                  <a:rPr lang="en-GB" i="1" dirty="0">
                    <a:solidFill>
                      <a:srgbClr val="00B0F0"/>
                    </a:solidFill>
                  </a:rPr>
                  <a:t>one cluster with that of other clusters</a:t>
                </a:r>
                <a:r>
                  <a:rPr lang="en-GB" dirty="0"/>
                  <a:t>.</a:t>
                </a:r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GB" dirty="0"/>
                  <a:t>The </a:t>
                </a:r>
                <a:r>
                  <a:rPr lang="en-GB" dirty="0">
                    <a:solidFill>
                      <a:srgbClr val="FF0000"/>
                    </a:solidFill>
                  </a:rPr>
                  <a:t>feature selection methods</a:t>
                </a:r>
                <a:r>
                  <a:rPr lang="en-GB" dirty="0"/>
                  <a:t> can all be used for differential cluster labelling.</a:t>
                </a:r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en-GB" dirty="0"/>
                  <a:t>In particular, </a:t>
                </a:r>
                <a:r>
                  <a:rPr lang="en-GB" dirty="0">
                    <a:solidFill>
                      <a:srgbClr val="FF0000"/>
                    </a:solidFill>
                  </a:rPr>
                  <a:t>mutual information (MI)</a:t>
                </a:r>
                <a:r>
                  <a:rPr lang="en-GB" dirty="0"/>
                  <a:t> or, equivalently, </a:t>
                </a:r>
                <a:r>
                  <a:rPr lang="en-GB" dirty="0">
                    <a:solidFill>
                      <a:srgbClr val="FF0000"/>
                    </a:solidFill>
                  </a:rPr>
                  <a:t>information gain</a:t>
                </a:r>
                <a:r>
                  <a:rPr lang="en-GB" dirty="0"/>
                  <a:t> and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 </a:t>
                </a:r>
                <a:r>
                  <a:rPr lang="en-GB" dirty="0"/>
                  <a:t>will identify </a:t>
                </a:r>
                <a:r>
                  <a:rPr lang="en-GB" i="1" dirty="0">
                    <a:solidFill>
                      <a:srgbClr val="00B050"/>
                    </a:solidFill>
                  </a:rPr>
                  <a:t>cluster labels that characterize one cluster in contrast to other clusters</a:t>
                </a:r>
                <a:r>
                  <a:rPr lang="en-GB" dirty="0"/>
                  <a:t>.</a:t>
                </a:r>
                <a:endParaRPr lang="en-US" dirty="0"/>
              </a:p>
              <a:p>
                <a:pPr lvl="1" algn="just">
                  <a:lnSpc>
                    <a:spcPct val="130000"/>
                  </a:lnSpc>
                  <a:spcBef>
                    <a:spcPts val="600"/>
                  </a:spcBef>
                </a:pPr>
                <a:endParaRPr lang="vi-VN" dirty="0"/>
              </a:p>
              <a:p>
                <a:pPr algn="just">
                  <a:lnSpc>
                    <a:spcPct val="130000"/>
                  </a:lnSpc>
                  <a:spcBef>
                    <a:spcPts val="600"/>
                  </a:spcBef>
                </a:pPr>
                <a:endParaRPr lang="vi-V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25625"/>
                <a:ext cx="10515600" cy="5032375"/>
              </a:xfrm>
              <a:blipFill>
                <a:blip r:embed="rId2"/>
                <a:stretch>
                  <a:fillRect l="-1043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6B7F9-BB61-0F19-F5AF-41BED1B0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33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53117-F69C-DADF-8EEB-A170A368140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4175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oint entropy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25625"/>
            <a:ext cx="10515600" cy="4628963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joint entropy of two discrete </a:t>
            </a:r>
            <a:r>
              <a:rPr lang="en-GB" dirty="0">
                <a:solidFill>
                  <a:srgbClr val="00B050"/>
                </a:solidFill>
              </a:rPr>
              <a:t>random variables X and Y</a:t>
            </a:r>
            <a:r>
              <a:rPr lang="en-GB" dirty="0"/>
              <a:t> with a joint distribution p(x, y) is: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conditional entropy H(Y|X) quantifies the uncertainty of Y that remains if the outcome of X is given.</a:t>
            </a:r>
            <a:endParaRPr lang="en-US" dirty="0"/>
          </a:p>
          <a:p>
            <a:pPr lvl="1" algn="just">
              <a:lnSpc>
                <a:spcPct val="130000"/>
              </a:lnSpc>
              <a:spcBef>
                <a:spcPts val="600"/>
              </a:spcBef>
            </a:pPr>
            <a:endParaRPr lang="vi-VN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6B7F9-BB61-0F19-F5AF-41BED1B0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34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53117-F69C-DADF-8EEB-A170A368140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4681ED-1F10-5C13-AC0D-14C546FAE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16" y="3078449"/>
            <a:ext cx="4864568" cy="8122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73E75D-5A7E-E178-E0A3-BF9D8FFC6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509" y="5651531"/>
            <a:ext cx="1384067" cy="5536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41D15A-741F-C2CD-7267-C4F587A5E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405" y="5657485"/>
            <a:ext cx="2497414" cy="6988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10E13E-2FE4-6913-09CB-3DB2003CB0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269" y="5592615"/>
            <a:ext cx="3757928" cy="81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901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oint entropy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25625"/>
            <a:ext cx="10515600" cy="4628963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GB" dirty="0"/>
              <a:t>The chain rule for entropy is analogous to the chain rule for probability and, in fact, derives directly from it.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vi-VN" dirty="0"/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6B7F9-BB61-0F19-F5AF-41BED1B0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35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53117-F69C-DADF-8EEB-A170A368140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51BE7F-64C2-729E-99B6-438F9D7D9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316" y="3171480"/>
            <a:ext cx="3662504" cy="51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24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utual information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25626"/>
            <a:ext cx="10515600" cy="4530724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sz="2400" dirty="0"/>
              <a:t>The MI describes the amount of information about one random variable obtained through the other one or </a:t>
            </a:r>
            <a:r>
              <a:rPr lang="en-GB" sz="2400" dirty="0">
                <a:solidFill>
                  <a:srgbClr val="FF0000"/>
                </a:solidFill>
              </a:rPr>
              <a:t>how different the joint distribution is from pure independence</a:t>
            </a:r>
            <a:r>
              <a:rPr lang="en-GB" sz="2400" dirty="0"/>
              <a:t>.</a:t>
            </a:r>
          </a:p>
          <a:p>
            <a:pPr algn="just">
              <a:spcBef>
                <a:spcPts val="600"/>
              </a:spcBef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FF0000"/>
                </a:solidFill>
              </a:rPr>
              <a:t>MI I(X; Y)</a:t>
            </a:r>
            <a:r>
              <a:rPr lang="en-GB" sz="2400" dirty="0"/>
              <a:t> is the </a:t>
            </a:r>
            <a:r>
              <a:rPr lang="en-GB" sz="2400" i="1" dirty="0" err="1">
                <a:solidFill>
                  <a:srgbClr val="00B050"/>
                </a:solidFill>
              </a:rPr>
              <a:t>Kullback-Leibler</a:t>
            </a:r>
            <a:r>
              <a:rPr lang="en-GB" sz="2400" i="1" dirty="0">
                <a:solidFill>
                  <a:srgbClr val="00B050"/>
                </a:solidFill>
              </a:rPr>
              <a:t> Divergence between the joint distribution and the product distribution p(x)p(y)</a:t>
            </a:r>
            <a:endParaRPr lang="en-US" sz="2400" i="1" dirty="0">
              <a:solidFill>
                <a:srgbClr val="00B050"/>
              </a:solidFill>
            </a:endParaRPr>
          </a:p>
          <a:p>
            <a:pPr algn="just">
              <a:spcBef>
                <a:spcPts val="600"/>
              </a:spcBef>
            </a:pPr>
            <a:endParaRPr lang="en-US" sz="2400" dirty="0"/>
          </a:p>
          <a:p>
            <a:pPr algn="just">
              <a:spcBef>
                <a:spcPts val="600"/>
              </a:spcBef>
            </a:pPr>
            <a:endParaRPr lang="en-US" sz="2400" dirty="0"/>
          </a:p>
          <a:p>
            <a:pPr algn="just">
              <a:spcBef>
                <a:spcPts val="600"/>
              </a:spcBef>
            </a:pPr>
            <a:r>
              <a:rPr lang="en-GB" sz="2400" dirty="0"/>
              <a:t>We can rewrite the definition of mutual information </a:t>
            </a:r>
            <a:r>
              <a:rPr lang="en-GB" sz="2400" dirty="0">
                <a:solidFill>
                  <a:srgbClr val="FF0000"/>
                </a:solidFill>
              </a:rPr>
              <a:t>I(X; Y)</a:t>
            </a:r>
            <a:r>
              <a:rPr lang="en-GB" sz="2400" dirty="0"/>
              <a:t> as</a:t>
            </a:r>
          </a:p>
          <a:p>
            <a:pPr marL="0" indent="0" algn="just">
              <a:spcBef>
                <a:spcPts val="600"/>
              </a:spcBef>
              <a:buNone/>
            </a:pPr>
            <a:endParaRPr lang="vi-VN" sz="2400" dirty="0"/>
          </a:p>
          <a:p>
            <a:pPr algn="just">
              <a:spcBef>
                <a:spcPts val="600"/>
              </a:spcBef>
            </a:pPr>
            <a:endParaRPr lang="vi-V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6B7F9-BB61-0F19-F5AF-41BED1B0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36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53117-F69C-DADF-8EEB-A170A368140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71250F-7218-4209-86EE-436242CE8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919" y="4284099"/>
            <a:ext cx="4745754" cy="9512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506461-9267-39A9-C9A6-9D572B5C4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919" y="5942966"/>
            <a:ext cx="1965864" cy="4133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F33032-E01A-1A6D-873A-2BCF7B79A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141" y="5944604"/>
            <a:ext cx="1954951" cy="41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834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Chi-square test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25626"/>
            <a:ext cx="10515600" cy="4530724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sz="2400" dirty="0"/>
              <a:t>A </a:t>
            </a:r>
            <a:r>
              <a:rPr lang="en-GB" sz="2400" dirty="0">
                <a:solidFill>
                  <a:srgbClr val="FF0000"/>
                </a:solidFill>
              </a:rPr>
              <a:t>formal statistical test</a:t>
            </a:r>
            <a:r>
              <a:rPr lang="en-GB" sz="2400" dirty="0"/>
              <a:t> to determine </a:t>
            </a:r>
            <a:r>
              <a:rPr lang="en-GB" sz="2400" dirty="0">
                <a:solidFill>
                  <a:srgbClr val="00B050"/>
                </a:solidFill>
              </a:rPr>
              <a:t>whether results are statistically significant</a:t>
            </a:r>
            <a:r>
              <a:rPr lang="en-GB" sz="2400" dirty="0"/>
              <a:t>.</a:t>
            </a:r>
          </a:p>
          <a:p>
            <a:pPr algn="just">
              <a:spcBef>
                <a:spcPts val="600"/>
              </a:spcBef>
            </a:pPr>
            <a:r>
              <a:rPr lang="en-GB" sz="2400" u="sng" dirty="0"/>
              <a:t>Example</a:t>
            </a:r>
          </a:p>
          <a:p>
            <a:pPr lvl="1" algn="just">
              <a:spcBef>
                <a:spcPts val="600"/>
              </a:spcBef>
            </a:pPr>
            <a:r>
              <a:rPr lang="en-GB" sz="2000" dirty="0"/>
              <a:t>Hypothetical </a:t>
            </a:r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outbreak of Salmonella on a cruise ship</a:t>
            </a:r>
            <a:r>
              <a:rPr lang="en-GB" sz="2000" dirty="0"/>
              <a:t>.</a:t>
            </a:r>
          </a:p>
          <a:p>
            <a:pPr lvl="1" algn="just">
              <a:spcBef>
                <a:spcPts val="600"/>
              </a:spcBef>
            </a:pPr>
            <a:r>
              <a:rPr lang="en-GB" sz="2000" dirty="0"/>
              <a:t>All </a:t>
            </a:r>
            <a:r>
              <a:rPr lang="en-GB" sz="2000" dirty="0">
                <a:solidFill>
                  <a:srgbClr val="00B050"/>
                </a:solidFill>
              </a:rPr>
              <a:t>300 people</a:t>
            </a:r>
            <a:r>
              <a:rPr lang="en-GB" sz="2000" dirty="0"/>
              <a:t> on cruise ship </a:t>
            </a:r>
            <a:r>
              <a:rPr lang="en-GB" sz="2000" dirty="0">
                <a:solidFill>
                  <a:srgbClr val="00B050"/>
                </a:solidFill>
              </a:rPr>
              <a:t>interviewed</a:t>
            </a:r>
            <a:r>
              <a:rPr lang="en-GB" sz="2000" dirty="0"/>
              <a:t>, </a:t>
            </a:r>
            <a:r>
              <a:rPr lang="en-GB" sz="2000" dirty="0">
                <a:solidFill>
                  <a:srgbClr val="FF0000"/>
                </a:solidFill>
              </a:rPr>
              <a:t>60 had symptoms</a:t>
            </a:r>
            <a:r>
              <a:rPr lang="en-GB" sz="2000" dirty="0"/>
              <a:t> consistent </a:t>
            </a:r>
            <a:r>
              <a:rPr lang="en-GB" sz="2000" dirty="0">
                <a:solidFill>
                  <a:srgbClr val="FF0000"/>
                </a:solidFill>
              </a:rPr>
              <a:t>with Salmonella.</a:t>
            </a:r>
          </a:p>
          <a:p>
            <a:pPr lvl="1" algn="just">
              <a:spcBef>
                <a:spcPts val="600"/>
              </a:spcBef>
            </a:pPr>
            <a:r>
              <a:rPr lang="en-GB" sz="2000" dirty="0">
                <a:solidFill>
                  <a:srgbClr val="FF0000"/>
                </a:solidFill>
              </a:rPr>
              <a:t>Questionnaires indicate</a:t>
            </a:r>
            <a:r>
              <a:rPr lang="en-GB" sz="2000" dirty="0"/>
              <a:t> many of the </a:t>
            </a:r>
            <a:r>
              <a:rPr lang="en-GB" sz="2000" i="1" dirty="0">
                <a:solidFill>
                  <a:srgbClr val="FF0000"/>
                </a:solidFill>
              </a:rPr>
              <a:t>case-patients ate tomatoes</a:t>
            </a:r>
            <a:r>
              <a:rPr lang="en-GB" sz="2000" dirty="0"/>
              <a:t> from the salad bar.</a:t>
            </a:r>
          </a:p>
          <a:p>
            <a:pPr lvl="1" algn="just">
              <a:spcBef>
                <a:spcPts val="600"/>
              </a:spcBef>
            </a:pPr>
            <a:endParaRPr lang="en-GB" sz="2000" dirty="0"/>
          </a:p>
          <a:p>
            <a:pPr marL="0" indent="0" algn="just">
              <a:spcBef>
                <a:spcPts val="600"/>
              </a:spcBef>
              <a:buNone/>
            </a:pPr>
            <a:endParaRPr lang="vi-VN" sz="2400" dirty="0"/>
          </a:p>
          <a:p>
            <a:pPr algn="just">
              <a:spcBef>
                <a:spcPts val="600"/>
              </a:spcBef>
            </a:pPr>
            <a:endParaRPr lang="vi-V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6B7F9-BB61-0F19-F5AF-41BED1B0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37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53117-F69C-DADF-8EEB-A170A368140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table">
            <a:extLst>
              <a:ext uri="{FF2B5EF4-FFF2-40B4-BE49-F238E27FC236}">
                <a16:creationId xmlns:a16="http://schemas.microsoft.com/office/drawing/2014/main" id="{71F87B7D-DE50-8606-DB51-41675F499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462" y="4502148"/>
            <a:ext cx="6315075" cy="203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3902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Chi-square test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25626"/>
            <a:ext cx="10515600" cy="4530724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sz="2400" dirty="0"/>
              <a:t>To </a:t>
            </a:r>
            <a:r>
              <a:rPr lang="en-GB" sz="2400" dirty="0">
                <a:solidFill>
                  <a:srgbClr val="92D050"/>
                </a:solidFill>
              </a:rPr>
              <a:t>conduct a chi-square</a:t>
            </a:r>
            <a:r>
              <a:rPr lang="en-GB" sz="2400" dirty="0"/>
              <a:t> the following </a:t>
            </a:r>
            <a:r>
              <a:rPr lang="en-GB" sz="2400" i="1" dirty="0">
                <a:solidFill>
                  <a:srgbClr val="92D050"/>
                </a:solidFill>
              </a:rPr>
              <a:t>conditions must be met</a:t>
            </a:r>
          </a:p>
          <a:p>
            <a:pPr lvl="1" algn="just">
              <a:spcBef>
                <a:spcPts val="600"/>
              </a:spcBef>
            </a:pPr>
            <a:r>
              <a:rPr lang="en-GB" sz="2000" dirty="0"/>
              <a:t>There must be </a:t>
            </a:r>
            <a:r>
              <a:rPr lang="en-GB" sz="2000" dirty="0">
                <a:solidFill>
                  <a:srgbClr val="FF0000"/>
                </a:solidFill>
              </a:rPr>
              <a:t>at least a total of 30 observations</a:t>
            </a:r>
            <a:r>
              <a:rPr lang="en-GB" sz="2000" dirty="0"/>
              <a:t> (people) in the table.</a:t>
            </a:r>
          </a:p>
          <a:p>
            <a:pPr lvl="1" algn="just">
              <a:spcBef>
                <a:spcPts val="600"/>
              </a:spcBef>
            </a:pPr>
            <a:r>
              <a:rPr lang="en-GB" sz="2000" dirty="0">
                <a:solidFill>
                  <a:srgbClr val="FF0000"/>
                </a:solidFill>
              </a:rPr>
              <a:t>Each cell</a:t>
            </a:r>
            <a:r>
              <a:rPr lang="en-GB" sz="2000" dirty="0"/>
              <a:t> must contain a </a:t>
            </a:r>
            <a:r>
              <a:rPr lang="en-GB" sz="2000" i="1" dirty="0">
                <a:solidFill>
                  <a:srgbClr val="FF0000"/>
                </a:solidFill>
              </a:rPr>
              <a:t>count of 5 or more</a:t>
            </a:r>
            <a:r>
              <a:rPr lang="en-GB" sz="2000" dirty="0"/>
              <a:t>.</a:t>
            </a:r>
          </a:p>
          <a:p>
            <a:pPr algn="just">
              <a:spcBef>
                <a:spcPts val="600"/>
              </a:spcBef>
            </a:pPr>
            <a:r>
              <a:rPr lang="en-GB" sz="2400" dirty="0"/>
              <a:t>To </a:t>
            </a:r>
            <a:r>
              <a:rPr lang="en-GB" sz="2400" dirty="0">
                <a:solidFill>
                  <a:srgbClr val="00B050"/>
                </a:solidFill>
              </a:rPr>
              <a:t>conduct a chi-square test</a:t>
            </a:r>
            <a:r>
              <a:rPr lang="en-GB" sz="2400" dirty="0"/>
              <a:t> we </a:t>
            </a:r>
            <a:r>
              <a:rPr lang="en-GB" sz="2400" i="1" dirty="0">
                <a:solidFill>
                  <a:srgbClr val="FF0000"/>
                </a:solidFill>
              </a:rPr>
              <a:t>compare the observed data</a:t>
            </a:r>
            <a:r>
              <a:rPr lang="en-GB" sz="2400" dirty="0"/>
              <a:t> (from study results) </a:t>
            </a:r>
            <a:r>
              <a:rPr lang="en-GB" sz="2400" i="1" dirty="0">
                <a:solidFill>
                  <a:srgbClr val="FF0000"/>
                </a:solidFill>
              </a:rPr>
              <a:t>with the data we would expect to see</a:t>
            </a:r>
            <a:r>
              <a:rPr lang="en-GB" sz="2400" dirty="0"/>
              <a:t>.</a:t>
            </a:r>
          </a:p>
          <a:p>
            <a:pPr lvl="1" algn="just">
              <a:spcBef>
                <a:spcPts val="600"/>
              </a:spcBef>
            </a:pPr>
            <a:endParaRPr lang="en-GB" sz="2000" dirty="0"/>
          </a:p>
          <a:p>
            <a:pPr lvl="1" algn="just">
              <a:spcBef>
                <a:spcPts val="600"/>
              </a:spcBef>
            </a:pPr>
            <a:endParaRPr lang="en-GB" sz="2000" dirty="0"/>
          </a:p>
          <a:p>
            <a:pPr marL="0" indent="0" algn="just">
              <a:spcBef>
                <a:spcPts val="600"/>
              </a:spcBef>
              <a:buNone/>
            </a:pPr>
            <a:endParaRPr lang="vi-VN" sz="2400" dirty="0"/>
          </a:p>
          <a:p>
            <a:pPr algn="just">
              <a:spcBef>
                <a:spcPts val="600"/>
              </a:spcBef>
            </a:pPr>
            <a:endParaRPr lang="vi-V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6B7F9-BB61-0F19-F5AF-41BED1B0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38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53117-F69C-DADF-8EEB-A170A368140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71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Chi-square test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25626"/>
                <a:ext cx="10515600" cy="4530724"/>
              </a:xfrm>
            </p:spPr>
            <p:txBody>
              <a:bodyPr>
                <a:normAutofit/>
              </a:bodyPr>
              <a:lstStyle/>
              <a:p>
                <a:pPr algn="just">
                  <a:spcBef>
                    <a:spcPts val="600"/>
                  </a:spcBef>
                </a:pPr>
                <a:endParaRPr lang="en-GB" sz="2400" dirty="0"/>
              </a:p>
              <a:p>
                <a:pPr algn="just">
                  <a:spcBef>
                    <a:spcPts val="600"/>
                  </a:spcBef>
                </a:pPr>
                <a:endParaRPr lang="en-GB" sz="2400" dirty="0"/>
              </a:p>
              <a:p>
                <a:pPr algn="just">
                  <a:spcBef>
                    <a:spcPts val="600"/>
                  </a:spcBef>
                </a:pPr>
                <a:r>
                  <a:rPr lang="en-GB" sz="2400" dirty="0"/>
                  <a:t>Gives an </a:t>
                </a:r>
                <a:r>
                  <a:rPr lang="en-GB" sz="2400" dirty="0">
                    <a:solidFill>
                      <a:srgbClr val="00B050"/>
                    </a:solidFill>
                  </a:rPr>
                  <a:t>overall distribution</a:t>
                </a:r>
                <a:r>
                  <a:rPr lang="en-GB" sz="2400" dirty="0"/>
                  <a:t> of people who </a:t>
                </a:r>
                <a:r>
                  <a:rPr lang="en-GB" sz="2400" dirty="0">
                    <a:solidFill>
                      <a:srgbClr val="00B050"/>
                    </a:solidFill>
                  </a:rPr>
                  <a:t>ate tomatoes and became sick</a:t>
                </a:r>
                <a:r>
                  <a:rPr lang="en-GB" sz="2400" dirty="0"/>
                  <a:t>.</a:t>
                </a:r>
              </a:p>
              <a:p>
                <a:pPr algn="just">
                  <a:spcBef>
                    <a:spcPts val="600"/>
                  </a:spcBef>
                </a:pPr>
                <a:r>
                  <a:rPr lang="en-GB" sz="2400" dirty="0"/>
                  <a:t>Based on these distributions we can fill in the empty cells with the </a:t>
                </a:r>
                <a:r>
                  <a:rPr lang="en-GB" sz="2400" b="1" dirty="0">
                    <a:solidFill>
                      <a:srgbClr val="FF0000"/>
                    </a:solidFill>
                  </a:rPr>
                  <a:t>expected values.</a:t>
                </a:r>
              </a:p>
              <a:p>
                <a:pPr lvl="1" algn="just">
                  <a:spcBef>
                    <a:spcPts val="600"/>
                  </a:spcBef>
                </a:pPr>
                <a:r>
                  <a:rPr lang="en-GB" sz="2000" dirty="0"/>
                  <a:t>Expected Value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𝑅𝑜𝑤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𝐶𝑜𝑙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𝐺𝑟𝑎𝑛𝑑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den>
                    </m:f>
                  </m:oMath>
                </a14:m>
                <a:endParaRPr lang="en-GB" sz="2000" dirty="0"/>
              </a:p>
              <a:p>
                <a:pPr algn="just">
                  <a:spcBef>
                    <a:spcPts val="600"/>
                  </a:spcBef>
                </a:pPr>
                <a:endParaRPr lang="en-GB" sz="2400" dirty="0"/>
              </a:p>
              <a:p>
                <a:pPr lvl="1" algn="just">
                  <a:spcBef>
                    <a:spcPts val="600"/>
                  </a:spcBef>
                </a:pPr>
                <a:endParaRPr lang="en-GB" sz="2000" dirty="0"/>
              </a:p>
              <a:p>
                <a:pPr lvl="1" algn="just">
                  <a:spcBef>
                    <a:spcPts val="600"/>
                  </a:spcBef>
                </a:pPr>
                <a:endParaRPr lang="en-GB" sz="2000" dirty="0"/>
              </a:p>
              <a:p>
                <a:pPr marL="0" indent="0" algn="just">
                  <a:spcBef>
                    <a:spcPts val="600"/>
                  </a:spcBef>
                  <a:buNone/>
                </a:pPr>
                <a:endParaRPr lang="vi-VN" sz="2400" dirty="0"/>
              </a:p>
              <a:p>
                <a:pPr algn="just">
                  <a:spcBef>
                    <a:spcPts val="600"/>
                  </a:spcBef>
                </a:pPr>
                <a:endParaRPr lang="vi-V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25626"/>
                <a:ext cx="10515600" cy="4530724"/>
              </a:xfrm>
              <a:blipFill>
                <a:blip r:embed="rId2"/>
                <a:stretch>
                  <a:fillRect l="-754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6B7F9-BB61-0F19-F5AF-41BED1B0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39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53117-F69C-DADF-8EEB-A170A368140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table">
            <a:extLst>
              <a:ext uri="{FF2B5EF4-FFF2-40B4-BE49-F238E27FC236}">
                <a16:creationId xmlns:a16="http://schemas.microsoft.com/office/drawing/2014/main" id="{865A23F3-F930-E340-BF0B-48FB2ECCE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781" y="1218454"/>
            <a:ext cx="6387353" cy="1628149"/>
          </a:xfrm>
          <a:prstGeom prst="rect">
            <a:avLst/>
          </a:prstGeom>
        </p:spPr>
      </p:pic>
      <p:pic>
        <p:nvPicPr>
          <p:cNvPr id="7" name="table">
            <a:extLst>
              <a:ext uri="{FF2B5EF4-FFF2-40B4-BE49-F238E27FC236}">
                <a16:creationId xmlns:a16="http://schemas.microsoft.com/office/drawing/2014/main" id="{444B4CE8-DB60-B59C-D6D5-C222168D6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985" y="4212190"/>
            <a:ext cx="6430813" cy="186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188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Chi-square test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25626"/>
            <a:ext cx="10515600" cy="4530724"/>
          </a:xfrm>
        </p:spPr>
        <p:txBody>
          <a:bodyPr>
            <a:normAutofit lnSpcReduction="10000"/>
          </a:bodyPr>
          <a:lstStyle/>
          <a:p>
            <a:pPr algn="just">
              <a:spcBef>
                <a:spcPts val="600"/>
              </a:spcBef>
            </a:pPr>
            <a:r>
              <a:rPr lang="en-GB" sz="2400" dirty="0"/>
              <a:t>Chi-square is </a:t>
            </a:r>
            <a:r>
              <a:rPr lang="en-GB" sz="2400" dirty="0">
                <a:solidFill>
                  <a:srgbClr val="00B050"/>
                </a:solidFill>
              </a:rPr>
              <a:t>[(Observed – Expected)</a:t>
            </a:r>
            <a:r>
              <a:rPr lang="en-GB" sz="2400" baseline="30000" dirty="0">
                <a:solidFill>
                  <a:srgbClr val="00B050"/>
                </a:solidFill>
              </a:rPr>
              <a:t>2</a:t>
            </a:r>
            <a:r>
              <a:rPr lang="en-GB" sz="2400" dirty="0">
                <a:solidFill>
                  <a:srgbClr val="00B050"/>
                </a:solidFill>
              </a:rPr>
              <a:t>/Expected]</a:t>
            </a:r>
            <a:r>
              <a:rPr lang="en-GB" sz="2400" dirty="0"/>
              <a:t> for each cell of the table.</a:t>
            </a:r>
          </a:p>
          <a:p>
            <a:pPr algn="just">
              <a:spcBef>
                <a:spcPts val="600"/>
              </a:spcBef>
            </a:pPr>
            <a:endParaRPr lang="en-GB" sz="2400" dirty="0"/>
          </a:p>
          <a:p>
            <a:pPr algn="just">
              <a:spcBef>
                <a:spcPts val="600"/>
              </a:spcBef>
            </a:pPr>
            <a:endParaRPr lang="en-GB" sz="2400" dirty="0"/>
          </a:p>
          <a:p>
            <a:pPr algn="just">
              <a:spcBef>
                <a:spcPts val="600"/>
              </a:spcBef>
            </a:pPr>
            <a:endParaRPr lang="en-GB" sz="2400" dirty="0"/>
          </a:p>
          <a:p>
            <a:pPr lvl="1" algn="just">
              <a:spcBef>
                <a:spcPts val="600"/>
              </a:spcBef>
            </a:pPr>
            <a:endParaRPr lang="en-GB" sz="2000" dirty="0"/>
          </a:p>
          <a:p>
            <a:pPr lvl="1" algn="just">
              <a:spcBef>
                <a:spcPts val="600"/>
              </a:spcBef>
            </a:pPr>
            <a:endParaRPr lang="en-GB" sz="2000" dirty="0"/>
          </a:p>
          <a:p>
            <a:pPr marL="0" indent="0" algn="just">
              <a:spcBef>
                <a:spcPts val="600"/>
              </a:spcBef>
              <a:buNone/>
            </a:pPr>
            <a:endParaRPr lang="vi-VN" sz="2400" dirty="0"/>
          </a:p>
          <a:p>
            <a:pPr algn="just">
              <a:spcBef>
                <a:spcPts val="600"/>
              </a:spcBef>
            </a:pPr>
            <a:r>
              <a:rPr lang="en-GB" sz="2400" dirty="0">
                <a:solidFill>
                  <a:srgbClr val="FF0000"/>
                </a:solidFill>
              </a:rPr>
              <a:t>What does the chi-square tell you?</a:t>
            </a:r>
          </a:p>
          <a:p>
            <a:pPr lvl="1" algn="just">
              <a:spcBef>
                <a:spcPts val="600"/>
              </a:spcBef>
            </a:pPr>
            <a:r>
              <a:rPr lang="en-GB" sz="2000" dirty="0"/>
              <a:t>In general, </a:t>
            </a:r>
            <a:r>
              <a:rPr lang="en-GB" sz="2000" dirty="0">
                <a:solidFill>
                  <a:srgbClr val="FF0000"/>
                </a:solidFill>
              </a:rPr>
              <a:t>the higher the chi-square value</a:t>
            </a:r>
            <a:r>
              <a:rPr lang="en-GB" sz="2000" dirty="0"/>
              <a:t>, the greater the likelihood there is a </a:t>
            </a:r>
            <a:r>
              <a:rPr lang="en-GB" sz="2000" i="1" dirty="0">
                <a:solidFill>
                  <a:srgbClr val="FF0000"/>
                </a:solidFill>
              </a:rPr>
              <a:t>statistically significant difference between the two groups you are comparing</a:t>
            </a:r>
            <a:r>
              <a:rPr lang="en-GB" sz="2000" dirty="0"/>
              <a:t>.</a:t>
            </a:r>
          </a:p>
          <a:p>
            <a:pPr algn="just">
              <a:spcBef>
                <a:spcPts val="600"/>
              </a:spcBef>
            </a:pPr>
            <a:endParaRPr lang="vi-V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6B7F9-BB61-0F19-F5AF-41BED1B0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40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53117-F69C-DADF-8EEB-A170A3681407}"/>
              </a:ext>
            </a:extLst>
          </p:cNvPr>
          <p:cNvSpPr txBox="1"/>
          <p:nvPr/>
        </p:nvSpPr>
        <p:spPr>
          <a:xfrm>
            <a:off x="9927598" y="90707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TEXT CLUSTERING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table">
            <a:extLst>
              <a:ext uri="{FF2B5EF4-FFF2-40B4-BE49-F238E27FC236}">
                <a16:creationId xmlns:a16="http://schemas.microsoft.com/office/drawing/2014/main" id="{B939FD2D-93BE-5600-3B5A-9AFD8E29D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276" y="2438446"/>
            <a:ext cx="6871447" cy="244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208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3319</TotalTime>
  <Words>2756</Words>
  <Application>Microsoft Office PowerPoint</Application>
  <PresentationFormat>Widescreen</PresentationFormat>
  <Paragraphs>460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NATURAL LANGUAGE PROCESSING (NLP)</vt:lpstr>
      <vt:lpstr>Introduction</vt:lpstr>
      <vt:lpstr>Introduction</vt:lpstr>
      <vt:lpstr>Introduction</vt:lpstr>
      <vt:lpstr>Quality: What Is Good Clustering?</vt:lpstr>
      <vt:lpstr>Measure the Quality of Clustering</vt:lpstr>
      <vt:lpstr>Considerations for Cluster Analysis</vt:lpstr>
      <vt:lpstr>Requirements and Challenges</vt:lpstr>
      <vt:lpstr>Major Clustering Approaches </vt:lpstr>
      <vt:lpstr>Major Clustering Approaches </vt:lpstr>
      <vt:lpstr>Partitioning Algorithms</vt:lpstr>
      <vt:lpstr>The K-Means Clustering Method </vt:lpstr>
      <vt:lpstr>Comments on the K-Means Method </vt:lpstr>
      <vt:lpstr>The K-Medoid Clustering Method </vt:lpstr>
      <vt:lpstr>Hierarchical Clustering </vt:lpstr>
      <vt:lpstr>Hierarchical Clustering </vt:lpstr>
      <vt:lpstr>The Bottom-up Hierarchical Clustering Algorithm </vt:lpstr>
      <vt:lpstr>The Top-down Hierarchical Clustering Algorithm </vt:lpstr>
      <vt:lpstr>Distance between Clusters </vt:lpstr>
      <vt:lpstr>Density-Based Clustering</vt:lpstr>
      <vt:lpstr>Density-Based Clustering</vt:lpstr>
      <vt:lpstr>Density-Based Clustering</vt:lpstr>
      <vt:lpstr>DBSCAN: Density-Based Spatial Clustering of Applications with Noise</vt:lpstr>
      <vt:lpstr>DBSCAN: Density-Based Spatial Clustering of Applications with Noise</vt:lpstr>
      <vt:lpstr>Self organizing map approach </vt:lpstr>
      <vt:lpstr>SOM - Self Organizing Map</vt:lpstr>
      <vt:lpstr>SOM - Self Organizing Map</vt:lpstr>
      <vt:lpstr>SOM - Self Organizing Map</vt:lpstr>
      <vt:lpstr>SOM - Self Organizing Map</vt:lpstr>
      <vt:lpstr>SOM - Self Organizing Map</vt:lpstr>
      <vt:lpstr>GHSOM - The Growing Hierarchical SOM</vt:lpstr>
      <vt:lpstr>GHSOM - The Growing Hierarchical SOM</vt:lpstr>
      <vt:lpstr>Cluster labelling</vt:lpstr>
      <vt:lpstr>Joint entropy</vt:lpstr>
      <vt:lpstr>Joint entropy</vt:lpstr>
      <vt:lpstr>Mutual information </vt:lpstr>
      <vt:lpstr>Chi-square test </vt:lpstr>
      <vt:lpstr>Chi-square test </vt:lpstr>
      <vt:lpstr>Chi-square test </vt:lpstr>
      <vt:lpstr>Chi-square test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  TECHNOLOGY AND MANAGEMENT</dc:title>
  <dc:creator>Quoc Dinh</dc:creator>
  <cp:lastModifiedBy>Quoc Dinh Truong</cp:lastModifiedBy>
  <cp:revision>419</cp:revision>
  <dcterms:created xsi:type="dcterms:W3CDTF">2023-02-12T07:59:05Z</dcterms:created>
  <dcterms:modified xsi:type="dcterms:W3CDTF">2024-09-26T08:42:34Z</dcterms:modified>
</cp:coreProperties>
</file>