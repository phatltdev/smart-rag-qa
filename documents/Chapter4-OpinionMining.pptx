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E99A-335F-ED7F-86D0-0B7CF2470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F235E-5D24-0BE9-BF11-46BFC2709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0A96E-2860-BCD7-F55B-182014DA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773D-AE93-A02A-6965-7C74FB6B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E86D-A9FC-290D-6781-4C389E13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6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D6FF6-DEE9-493C-E46D-63782C4D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2103"/>
            <a:ext cx="10515600" cy="83944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DDE08-2A33-6A3B-E103-AC51002ED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1"/>
            <a:ext cx="10515600" cy="435133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20000"/>
              </a:lnSpc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9F7C3-2FAB-C484-6315-F8277358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7E93-8C4D-FD47-B07A-22F7D009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216EA-0442-6D89-117E-5485D9FC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AAF8C-4CA0-2153-4719-8AF166288AFE}"/>
              </a:ext>
            </a:extLst>
          </p:cNvPr>
          <p:cNvSpPr/>
          <p:nvPr userDrawn="1"/>
        </p:nvSpPr>
        <p:spPr>
          <a:xfrm>
            <a:off x="0" y="0"/>
            <a:ext cx="12192000" cy="5237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9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8A4C-8204-6892-A09E-93E12171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46984-56F7-FA99-F48E-9FFF651EE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6DBE8-1C5B-5755-6697-4F6DE5C6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24E5E-8A2C-A43B-539B-287BA13F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F9404-F36E-F7DF-BEA1-AA9319B8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94AD-360A-D577-B7C0-AB00A1711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1603-89C1-FC93-C87D-DD9F0D6A6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0A722-2683-C5C6-9D61-A6F686EAF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6A4CA-41F0-60AE-1281-2E910DD1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C1F4D-154D-575F-8F99-9FABDADA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F2F91-3C80-21AE-32FD-C0349F95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1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BBF8-5359-6895-E013-43D0C721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E158-3737-B86B-240F-B8B6D4984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56613-850C-5C90-AB92-370A1F59E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11CBEE-EA50-17F4-B300-978008091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7B828-9D0D-FC4E-21DE-7001E2443F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38E6C-D003-7D42-7A48-1DA927B6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1A02F-4800-8F6A-4D1C-50504BF02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5F13F-2A3C-9EE2-DA73-1FA914FCE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72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3BA8C-9F64-2902-6899-1DCCA67D4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32632-7821-FEA0-46B4-428643F6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61020-63D4-EA2B-3CE2-C4EA6490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3CD84-094F-B6C6-317E-5397DFC8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1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C4B82-FAAF-A638-CC82-C5CF85E6B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AE16BB-B1CE-47C0-4CA3-98A8429C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2CB38-CA25-25F3-A28C-96974122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71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9FC1-F1B4-935D-223B-FF9026DE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0D69-EDE1-5722-D309-DB74E5D22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7919C-0284-8FC2-8AF8-E25D25F80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10F71-DD33-A945-40E5-157809B85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940B1-4E0A-86FD-DB63-FA2EDE627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0E100-F3B2-E810-C9C7-B346E02C3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0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BDE2E-D7A6-EB4A-7B77-F1EE606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0C683-9447-7295-1D95-CA429675F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55656-3260-BA45-D5C5-A4A906CA3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330B4-C7E4-49A2-E68D-EBC17442F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D7556-ED10-0DAB-114D-AE364E1E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30525-5767-96D8-DA6E-C5791240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7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F308-92A2-CD96-E4A7-5ACC420F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02245-9478-3604-C050-B4F982616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ADED-100D-52F8-4EE0-793837A6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5FC5C-2137-AE4A-4950-01E70865D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FC086-2164-BAE9-81EE-35F0E9B9A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3CDAD-A588-4656-1B11-CBEBBDB72D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ED442F-AFBA-259D-DAE7-29B627B16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B83D2-2AD9-3F78-ED0E-E4444D28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4F7E-85E4-FC71-7083-0D75E158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41AD8-951D-1067-551D-B82ED414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2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23170-379D-8CDF-FE8D-D3AE2C26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3EF52-E98F-D16B-0738-A8D2E7E5D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230B8-00DE-D6C8-0398-7AAA7AFE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B2EA0-E1B1-43E6-876E-C527C1A5BF5D}" type="datetimeFigureOut">
              <a:rPr lang="en-US" smtClean="0"/>
              <a:t>10/15/2023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9018A-AECB-D062-3BFC-E27F832CD2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F597D-92D6-84ED-B67D-23F22CD10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6FD23-15CA-41D3-9BB3-718190659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08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685F-167A-9803-8F39-BA4F09949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764" y="884049"/>
            <a:ext cx="11397007" cy="143230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BB5F2-AD2D-4D4A-9903-17DF5CFC1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795" y="2819614"/>
            <a:ext cx="10202944" cy="1655762"/>
          </a:xfrm>
        </p:spPr>
        <p:txBody>
          <a:bodyPr/>
          <a:lstStyle/>
          <a:p>
            <a:r>
              <a:rPr lang="en-US" sz="40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Chapter 4: OPINION MINING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CBB6B7B-B524-7EBB-585A-DB0BAABB3569}"/>
              </a:ext>
            </a:extLst>
          </p:cNvPr>
          <p:cNvSpPr txBox="1">
            <a:spLocks/>
          </p:cNvSpPr>
          <p:nvPr/>
        </p:nvSpPr>
        <p:spPr>
          <a:xfrm>
            <a:off x="304800" y="5009496"/>
            <a:ext cx="11707906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Trương Quốc Định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Faculty of Information Systems – College of Information &amp; Communication Technology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42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Opinion mining</a:t>
            </a:r>
            <a:r>
              <a:rPr lang="en-US" dirty="0"/>
              <a:t> is a computational study of </a:t>
            </a:r>
            <a:r>
              <a:rPr lang="en-US" dirty="0">
                <a:solidFill>
                  <a:srgbClr val="00B050"/>
                </a:solidFill>
              </a:rPr>
              <a:t>opinion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sentiment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evaluation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emotion</a:t>
            </a:r>
            <a:r>
              <a:rPr lang="en-US" dirty="0"/>
              <a:t>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Why is it important?</a:t>
            </a:r>
          </a:p>
          <a:p>
            <a:pPr lvl="1" algn="just"/>
            <a:r>
              <a:rPr lang="en-US" dirty="0"/>
              <a:t>Opinion are key influencers of our behaviors.</a:t>
            </a:r>
          </a:p>
          <a:p>
            <a:pPr lvl="2" algn="just"/>
            <a:r>
              <a:rPr lang="en-US" dirty="0"/>
              <a:t>Whenever we need to </a:t>
            </a:r>
            <a:r>
              <a:rPr lang="en-US" dirty="0">
                <a:solidFill>
                  <a:srgbClr val="00B050"/>
                </a:solidFill>
              </a:rPr>
              <a:t>make a decision </a:t>
            </a:r>
            <a:r>
              <a:rPr lang="en-US" dirty="0"/>
              <a:t>we often </a:t>
            </a:r>
            <a:r>
              <a:rPr lang="en-US" i="1" dirty="0">
                <a:solidFill>
                  <a:srgbClr val="00B050"/>
                </a:solidFill>
              </a:rPr>
              <a:t>seek out the opinions from others</a:t>
            </a:r>
            <a:r>
              <a:rPr lang="en-US" dirty="0"/>
              <a:t>.</a:t>
            </a:r>
          </a:p>
          <a:p>
            <a:pPr lvl="2" algn="just"/>
            <a:r>
              <a:rPr lang="en-US" dirty="0"/>
              <a:t>Rise of social media </a:t>
            </a:r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solidFill>
                  <a:srgbClr val="FF0000"/>
                </a:solidFill>
                <a:sym typeface="Symbol" panose="05050102010706020507" pitchFamily="18" charset="2"/>
              </a:rPr>
              <a:t>opinion data</a:t>
            </a:r>
            <a:r>
              <a:rPr lang="en-US" dirty="0">
                <a:sym typeface="Symbol" panose="05050102010706020507" pitchFamily="18" charset="2"/>
              </a:rPr>
              <a:t>.</a:t>
            </a:r>
          </a:p>
          <a:p>
            <a:pPr lvl="1" algn="just"/>
            <a:r>
              <a:rPr lang="en-US" dirty="0">
                <a:sym typeface="Symbol" panose="05050102010706020507" pitchFamily="18" charset="2"/>
              </a:rPr>
              <a:t>Rise of AI and chatbots</a:t>
            </a:r>
          </a:p>
          <a:p>
            <a:pPr lvl="2" algn="just"/>
            <a:r>
              <a:rPr lang="en-US" dirty="0">
                <a:sym typeface="Symbol" panose="05050102010706020507" pitchFamily="18" charset="2"/>
              </a:rPr>
              <a:t>Emotion and sentiments are key to human communication.</a:t>
            </a:r>
            <a:endParaRPr lang="en-US" dirty="0"/>
          </a:p>
          <a:p>
            <a:pPr lvl="2"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291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Sentiment</a:t>
            </a:r>
            <a:r>
              <a:rPr lang="en-US" dirty="0"/>
              <a:t> – an attitude, thought or judgment prompted by feeling.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Opinion</a:t>
            </a:r>
            <a:r>
              <a:rPr lang="en-US" dirty="0"/>
              <a:t> – a view, judgment or appraisal formed in the mind about a particular matter.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Sentiment analysis </a:t>
            </a:r>
            <a:r>
              <a:rPr lang="en-US" dirty="0"/>
              <a:t>- </a:t>
            </a:r>
            <a:r>
              <a:rPr lang="en-US" dirty="0">
                <a:solidFill>
                  <a:srgbClr val="00B050"/>
                </a:solidFill>
              </a:rPr>
              <a:t>A Fascinating Problem</a:t>
            </a:r>
          </a:p>
          <a:p>
            <a:pPr lvl="1" algn="just"/>
            <a:r>
              <a:rPr lang="en-GB" dirty="0"/>
              <a:t>Intellectually challenging &amp; major applications.</a:t>
            </a:r>
          </a:p>
          <a:p>
            <a:pPr lvl="2" algn="just"/>
            <a:r>
              <a:rPr lang="en-GB" dirty="0"/>
              <a:t>A popular research topic in recent years in NLP and Web data mining. </a:t>
            </a:r>
          </a:p>
          <a:p>
            <a:pPr lvl="1" algn="just"/>
            <a:r>
              <a:rPr lang="en-GB" dirty="0"/>
              <a:t>It touches every aspect of NLP and yet is restricted and confined.</a:t>
            </a:r>
          </a:p>
          <a:p>
            <a:pPr lvl="2" algn="just"/>
            <a:r>
              <a:rPr lang="en-GB" dirty="0"/>
              <a:t>Little research in NLP/Linguistics in the past.</a:t>
            </a:r>
          </a:p>
          <a:p>
            <a:pPr lvl="1" algn="just"/>
            <a:r>
              <a:rPr lang="en-GB" dirty="0"/>
              <a:t>Potentially a major technology from NLP </a:t>
            </a:r>
          </a:p>
          <a:p>
            <a:pPr lvl="2" algn="just"/>
            <a:r>
              <a:rPr lang="en-GB" dirty="0"/>
              <a:t>But “not yet” and not easy!</a:t>
            </a:r>
          </a:p>
          <a:p>
            <a:pPr lvl="2" algn="just"/>
            <a:r>
              <a:rPr lang="en-GB" dirty="0"/>
              <a:t>Data sourcing and data integration are hard too!</a:t>
            </a:r>
          </a:p>
          <a:p>
            <a:pPr lvl="1" algn="just"/>
            <a:endParaRPr lang="en-US" dirty="0"/>
          </a:p>
          <a:p>
            <a:pPr lvl="2"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24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/>
              <a:t>Two main types of opinions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Regular opinions</a:t>
            </a:r>
            <a:r>
              <a:rPr lang="en-GB" dirty="0"/>
              <a:t>: </a:t>
            </a:r>
            <a:r>
              <a:rPr lang="en-GB" dirty="0">
                <a:solidFill>
                  <a:srgbClr val="00B050"/>
                </a:solidFill>
              </a:rPr>
              <a:t>Sentiment/opinion</a:t>
            </a:r>
            <a:r>
              <a:rPr lang="en-GB" dirty="0"/>
              <a:t> expressions </a:t>
            </a:r>
            <a:r>
              <a:rPr lang="en-GB" i="1" dirty="0">
                <a:solidFill>
                  <a:srgbClr val="00B050"/>
                </a:solidFill>
              </a:rPr>
              <a:t>on some target entities</a:t>
            </a:r>
            <a:r>
              <a:rPr lang="en-GB" dirty="0"/>
              <a:t>.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Direct opinions: “The touch screen is really cool”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Indirect opinions: “After taking the drug, my pain has gone”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Comparative opinions</a:t>
            </a:r>
            <a:r>
              <a:rPr lang="en-GB" dirty="0"/>
              <a:t>: </a:t>
            </a:r>
            <a:r>
              <a:rPr lang="en-GB" dirty="0">
                <a:solidFill>
                  <a:srgbClr val="00B050"/>
                </a:solidFill>
              </a:rPr>
              <a:t>Comparisons</a:t>
            </a:r>
            <a:r>
              <a:rPr lang="en-GB" dirty="0"/>
              <a:t> of </a:t>
            </a:r>
            <a:r>
              <a:rPr lang="en-GB" i="1" dirty="0">
                <a:solidFill>
                  <a:srgbClr val="00B050"/>
                </a:solidFill>
              </a:rPr>
              <a:t>more than one entity</a:t>
            </a:r>
            <a:r>
              <a:rPr lang="en-GB" dirty="0"/>
              <a:t>.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E.g., “iPhone is better than Blackberry”</a:t>
            </a:r>
          </a:p>
          <a:p>
            <a:pPr lvl="1"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We focus on regular opinions first</a:t>
            </a:r>
            <a:r>
              <a:rPr lang="en-GB" dirty="0"/>
              <a:t>, and just call them opinions.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/>
          </a:p>
          <a:p>
            <a:pPr lvl="2" algn="just">
              <a:spcBef>
                <a:spcPts val="600"/>
              </a:spcBef>
            </a:pPr>
            <a:endParaRPr lang="en-US" dirty="0"/>
          </a:p>
          <a:p>
            <a:pPr algn="just">
              <a:spcBef>
                <a:spcPts val="600"/>
              </a:spcBef>
            </a:pPr>
            <a:endParaRPr lang="en-US" dirty="0"/>
          </a:p>
          <a:p>
            <a:pPr algn="just"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75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Model of opinion mining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 fontScale="92500" lnSpcReduction="10000"/>
          </a:bodyPr>
          <a:lstStyle/>
          <a:p>
            <a:pPr algn="just">
              <a:spcBef>
                <a:spcPts val="600"/>
              </a:spcBef>
            </a:pPr>
            <a:r>
              <a:rPr lang="en-GB" dirty="0"/>
              <a:t>An </a:t>
            </a:r>
            <a:r>
              <a:rPr lang="en-GB" dirty="0">
                <a:solidFill>
                  <a:srgbClr val="FF0000"/>
                </a:solidFill>
              </a:rPr>
              <a:t>opinion</a:t>
            </a:r>
            <a:r>
              <a:rPr lang="en-GB" dirty="0"/>
              <a:t> is a </a:t>
            </a:r>
            <a:r>
              <a:rPr lang="en-GB" dirty="0">
                <a:solidFill>
                  <a:srgbClr val="FF0000"/>
                </a:solidFill>
              </a:rPr>
              <a:t>quadruple</a:t>
            </a:r>
            <a:r>
              <a:rPr lang="en-GB" dirty="0"/>
              <a:t> (Liu, 2012)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(</a:t>
            </a:r>
            <a:r>
              <a:rPr lang="en-GB" i="1" dirty="0">
                <a:solidFill>
                  <a:srgbClr val="FF0000"/>
                </a:solidFill>
              </a:rPr>
              <a:t>target</a:t>
            </a:r>
            <a:r>
              <a:rPr lang="en-GB" dirty="0"/>
              <a:t>, </a:t>
            </a:r>
            <a:r>
              <a:rPr lang="en-GB" i="1" dirty="0">
                <a:solidFill>
                  <a:srgbClr val="0070C0"/>
                </a:solidFill>
              </a:rPr>
              <a:t>sentiment</a:t>
            </a:r>
            <a:r>
              <a:rPr lang="en-GB" dirty="0"/>
              <a:t>, </a:t>
            </a:r>
            <a:r>
              <a:rPr lang="en-GB" i="1" dirty="0">
                <a:solidFill>
                  <a:srgbClr val="00B050"/>
                </a:solidFill>
              </a:rPr>
              <a:t>holder</a:t>
            </a:r>
            <a:r>
              <a:rPr lang="en-GB" dirty="0"/>
              <a:t>, 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</a:rPr>
              <a:t>time</a:t>
            </a:r>
            <a:r>
              <a:rPr lang="en-GB" dirty="0"/>
              <a:t>)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Concise but not easy to use!!!</a:t>
            </a:r>
          </a:p>
          <a:p>
            <a:pPr lvl="2" algn="just">
              <a:spcBef>
                <a:spcPts val="600"/>
              </a:spcBef>
            </a:pPr>
            <a:r>
              <a:rPr lang="en-GB" dirty="0"/>
              <a:t>E.g. “The </a:t>
            </a:r>
            <a:r>
              <a:rPr lang="en-GB" dirty="0">
                <a:solidFill>
                  <a:srgbClr val="FF0000"/>
                </a:solidFill>
              </a:rPr>
              <a:t>voice quality</a:t>
            </a:r>
            <a:r>
              <a:rPr lang="en-GB" dirty="0"/>
              <a:t> of iPhone is amazing.” (target = voice quality??? Not quite.)</a:t>
            </a:r>
          </a:p>
          <a:p>
            <a:pPr algn="just">
              <a:spcBef>
                <a:spcPts val="600"/>
              </a:spcBef>
            </a:pPr>
            <a:r>
              <a:rPr lang="en-GB" dirty="0"/>
              <a:t>An </a:t>
            </a:r>
            <a:r>
              <a:rPr lang="en-GB" dirty="0">
                <a:solidFill>
                  <a:srgbClr val="FF0000"/>
                </a:solidFill>
              </a:rPr>
              <a:t>opinion</a:t>
            </a:r>
            <a:r>
              <a:rPr lang="en-GB" dirty="0"/>
              <a:t> is a </a:t>
            </a:r>
            <a:r>
              <a:rPr lang="en-GB" dirty="0">
                <a:solidFill>
                  <a:srgbClr val="FF0000"/>
                </a:solidFill>
              </a:rPr>
              <a:t>quintuple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(</a:t>
            </a:r>
            <a:r>
              <a:rPr lang="en-GB" i="1" dirty="0">
                <a:solidFill>
                  <a:srgbClr val="FF0000"/>
                </a:solidFill>
              </a:rPr>
              <a:t>entity</a:t>
            </a:r>
            <a:r>
              <a:rPr lang="en-GB" dirty="0"/>
              <a:t>, </a:t>
            </a:r>
            <a:r>
              <a:rPr lang="en-GB" i="1" dirty="0">
                <a:solidFill>
                  <a:schemeClr val="accent4">
                    <a:lumMod val="75000"/>
                  </a:schemeClr>
                </a:solidFill>
              </a:rPr>
              <a:t>aspect</a:t>
            </a:r>
            <a:r>
              <a:rPr lang="en-GB" dirty="0"/>
              <a:t>, </a:t>
            </a:r>
            <a:r>
              <a:rPr lang="en-GB" i="1" dirty="0">
                <a:solidFill>
                  <a:srgbClr val="0070C0"/>
                </a:solidFill>
              </a:rPr>
              <a:t>sentiment</a:t>
            </a:r>
            <a:r>
              <a:rPr lang="en-GB" dirty="0"/>
              <a:t>, </a:t>
            </a:r>
            <a:r>
              <a:rPr lang="en-GB" i="1" dirty="0">
                <a:solidFill>
                  <a:srgbClr val="00B050"/>
                </a:solidFill>
              </a:rPr>
              <a:t>holder</a:t>
            </a:r>
            <a:r>
              <a:rPr lang="en-GB" dirty="0"/>
              <a:t>, 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</a:rPr>
              <a:t>time</a:t>
            </a:r>
            <a:r>
              <a:rPr lang="en-GB" dirty="0"/>
              <a:t>)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Entity</a:t>
            </a:r>
            <a:r>
              <a:rPr lang="en-GB" dirty="0"/>
              <a:t>: target entity (or object).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Aspect</a:t>
            </a:r>
            <a:r>
              <a:rPr lang="en-GB" dirty="0"/>
              <a:t>: feature of the entity.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0070C0"/>
                </a:solidFill>
              </a:rPr>
              <a:t>Sentiment</a:t>
            </a:r>
            <a:r>
              <a:rPr lang="en-GB" dirty="0"/>
              <a:t>: positive, negative, neutral, a rating or an emotion,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Holder</a:t>
            </a:r>
            <a:r>
              <a:rPr lang="en-GB" dirty="0"/>
              <a:t>: opinion holder.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C00000"/>
                </a:solidFill>
              </a:rPr>
              <a:t>Time</a:t>
            </a:r>
            <a:r>
              <a:rPr lang="en-GB" dirty="0"/>
              <a:t>: time when the opinion was expressed.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/>
          </a:p>
          <a:p>
            <a:pPr lvl="2" algn="just">
              <a:spcBef>
                <a:spcPts val="600"/>
              </a:spcBef>
            </a:pPr>
            <a:endParaRPr lang="en-US" dirty="0"/>
          </a:p>
          <a:p>
            <a:pPr algn="just">
              <a:spcBef>
                <a:spcPts val="600"/>
              </a:spcBef>
            </a:pPr>
            <a:endParaRPr lang="en-US" dirty="0"/>
          </a:p>
          <a:p>
            <a:pPr algn="just"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281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Model of opinion mining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/>
              <a:t>An example blog in quintuples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Id: </a:t>
            </a:r>
            <a:r>
              <a:rPr lang="en-GB" dirty="0">
                <a:solidFill>
                  <a:srgbClr val="7030A0"/>
                </a:solidFill>
              </a:rPr>
              <a:t>XYZ567</a:t>
            </a:r>
            <a:r>
              <a:rPr lang="en-GB" dirty="0"/>
              <a:t> on </a:t>
            </a:r>
            <a:r>
              <a:rPr lang="en-GB" dirty="0">
                <a:solidFill>
                  <a:srgbClr val="7030A0"/>
                </a:solidFill>
              </a:rPr>
              <a:t>08/10/2023</a:t>
            </a:r>
            <a:r>
              <a:rPr lang="en-GB" dirty="0"/>
              <a:t> – “I bought </a:t>
            </a:r>
            <a:r>
              <a:rPr lang="en-GB" dirty="0">
                <a:solidFill>
                  <a:srgbClr val="FF0000"/>
                </a:solidFill>
              </a:rPr>
              <a:t>iPhone13</a:t>
            </a:r>
            <a:r>
              <a:rPr lang="en-GB" dirty="0"/>
              <a:t> yesterday. It is such a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nice</a:t>
            </a:r>
            <a:r>
              <a:rPr lang="en-GB" dirty="0"/>
              <a:t> </a:t>
            </a:r>
            <a:r>
              <a:rPr lang="en-GB" dirty="0">
                <a:solidFill>
                  <a:srgbClr val="00B050"/>
                </a:solidFill>
              </a:rPr>
              <a:t>phone</a:t>
            </a:r>
            <a:r>
              <a:rPr lang="en-GB" dirty="0"/>
              <a:t>. The </a:t>
            </a:r>
            <a:r>
              <a:rPr lang="en-GB" dirty="0">
                <a:solidFill>
                  <a:srgbClr val="00B050"/>
                </a:solidFill>
              </a:rPr>
              <a:t>touch screen</a:t>
            </a:r>
            <a:r>
              <a:rPr lang="en-GB" dirty="0"/>
              <a:t> is really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cool</a:t>
            </a:r>
            <a:r>
              <a:rPr lang="en-GB" dirty="0"/>
              <a:t>. The </a:t>
            </a:r>
            <a:r>
              <a:rPr lang="en-GB" dirty="0">
                <a:solidFill>
                  <a:srgbClr val="00B050"/>
                </a:solidFill>
              </a:rPr>
              <a:t>voice quality</a:t>
            </a:r>
            <a:r>
              <a:rPr lang="en-GB" dirty="0"/>
              <a:t> is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great</a:t>
            </a:r>
            <a:r>
              <a:rPr lang="en-GB" dirty="0"/>
              <a:t> too. However, </a:t>
            </a:r>
            <a:r>
              <a:rPr lang="en-GB" dirty="0">
                <a:solidFill>
                  <a:srgbClr val="7030A0"/>
                </a:solidFill>
              </a:rPr>
              <a:t>my mother</a:t>
            </a:r>
            <a:r>
              <a:rPr lang="en-GB" dirty="0"/>
              <a:t> was mad with me as I did not tell her before I bought the phone. </a:t>
            </a:r>
            <a:r>
              <a:rPr lang="en-GB" dirty="0">
                <a:solidFill>
                  <a:srgbClr val="7030A0"/>
                </a:solidFill>
              </a:rPr>
              <a:t>She</a:t>
            </a:r>
            <a:r>
              <a:rPr lang="en-GB" dirty="0"/>
              <a:t> also thought the </a:t>
            </a:r>
            <a:r>
              <a:rPr lang="en-GB" dirty="0">
                <a:solidFill>
                  <a:srgbClr val="00B050"/>
                </a:solidFill>
              </a:rPr>
              <a:t>phone</a:t>
            </a:r>
            <a:r>
              <a:rPr lang="en-GB" dirty="0"/>
              <a:t> was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too expensive</a:t>
            </a:r>
            <a:r>
              <a:rPr lang="en-GB" dirty="0"/>
              <a:t>.”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What do we see?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Opinion targets</a:t>
            </a:r>
            <a:r>
              <a:rPr lang="en-GB" dirty="0"/>
              <a:t>: entities and their features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C00000"/>
                </a:solidFill>
              </a:rPr>
              <a:t>Sentiments</a:t>
            </a:r>
            <a:r>
              <a:rPr lang="en-GB" dirty="0"/>
              <a:t>: positive and negative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7030A0"/>
                </a:solidFill>
              </a:rPr>
              <a:t>Opinion holders</a:t>
            </a:r>
            <a:r>
              <a:rPr lang="en-GB" dirty="0"/>
              <a:t>: persons who hold the opinions</a:t>
            </a:r>
          </a:p>
          <a:p>
            <a:pPr lvl="2" algn="just">
              <a:spcBef>
                <a:spcPts val="600"/>
              </a:spcBef>
            </a:pPr>
            <a:r>
              <a:rPr lang="en-GB" dirty="0">
                <a:solidFill>
                  <a:srgbClr val="7030A0"/>
                </a:solidFill>
              </a:rPr>
              <a:t>Time</a:t>
            </a:r>
            <a:r>
              <a:rPr lang="en-GB" dirty="0"/>
              <a:t>: when opinions were expressed</a:t>
            </a:r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/>
          </a:p>
          <a:p>
            <a:pPr lvl="2" algn="just">
              <a:spcBef>
                <a:spcPts val="600"/>
              </a:spcBef>
            </a:pPr>
            <a:endParaRPr lang="en-US" dirty="0"/>
          </a:p>
          <a:p>
            <a:pPr algn="just">
              <a:spcBef>
                <a:spcPts val="600"/>
              </a:spcBef>
            </a:pPr>
            <a:endParaRPr lang="en-US" dirty="0"/>
          </a:p>
          <a:p>
            <a:pPr algn="just"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304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Model of opinion mining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spcBef>
                <a:spcPts val="600"/>
              </a:spcBef>
            </a:pPr>
            <a:r>
              <a:rPr lang="en-GB" dirty="0"/>
              <a:t>An example blog in quintuples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(</a:t>
            </a:r>
            <a:r>
              <a:rPr lang="en-GB" dirty="0">
                <a:solidFill>
                  <a:srgbClr val="FF0000"/>
                </a:solidFill>
              </a:rPr>
              <a:t>iPhone13</a:t>
            </a:r>
            <a:r>
              <a:rPr lang="en-GB" dirty="0"/>
              <a:t>, </a:t>
            </a:r>
            <a:r>
              <a:rPr lang="en-GB" dirty="0">
                <a:solidFill>
                  <a:srgbClr val="FFC000"/>
                </a:solidFill>
              </a:rPr>
              <a:t>GENERAL</a:t>
            </a:r>
            <a:r>
              <a:rPr lang="en-GB" dirty="0"/>
              <a:t>, </a:t>
            </a:r>
            <a:r>
              <a:rPr lang="en-GB" dirty="0">
                <a:solidFill>
                  <a:srgbClr val="0070C0"/>
                </a:solidFill>
              </a:rPr>
              <a:t>+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XYZ567</a:t>
            </a:r>
            <a:r>
              <a:rPr lang="en-GB" dirty="0"/>
              <a:t>, </a:t>
            </a:r>
            <a:r>
              <a:rPr lang="en-GB" dirty="0">
                <a:solidFill>
                  <a:srgbClr val="C00000"/>
                </a:solidFill>
              </a:rPr>
              <a:t>08/10/2023</a:t>
            </a:r>
            <a:r>
              <a:rPr lang="en-GB" dirty="0"/>
              <a:t>)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(</a:t>
            </a:r>
            <a:r>
              <a:rPr lang="en-GB" dirty="0">
                <a:solidFill>
                  <a:srgbClr val="FF0000"/>
                </a:solidFill>
              </a:rPr>
              <a:t>iPhone13</a:t>
            </a:r>
            <a:r>
              <a:rPr lang="en-GB" dirty="0"/>
              <a:t>, </a:t>
            </a:r>
            <a:r>
              <a:rPr lang="en-GB" dirty="0" err="1">
                <a:solidFill>
                  <a:srgbClr val="FFC000"/>
                </a:solidFill>
              </a:rPr>
              <a:t>touch_screen</a:t>
            </a:r>
            <a:r>
              <a:rPr lang="en-GB" dirty="0"/>
              <a:t>, </a:t>
            </a:r>
            <a:r>
              <a:rPr lang="en-GB" dirty="0">
                <a:solidFill>
                  <a:srgbClr val="0070C0"/>
                </a:solidFill>
              </a:rPr>
              <a:t>+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XYZ567</a:t>
            </a:r>
            <a:r>
              <a:rPr lang="en-GB" dirty="0"/>
              <a:t>, </a:t>
            </a:r>
            <a:r>
              <a:rPr lang="en-GB" dirty="0">
                <a:solidFill>
                  <a:srgbClr val="C00000"/>
                </a:solidFill>
              </a:rPr>
              <a:t>08/10/2023</a:t>
            </a:r>
            <a:r>
              <a:rPr lang="en-GB" dirty="0"/>
              <a:t>)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(</a:t>
            </a:r>
            <a:r>
              <a:rPr lang="en-GB" dirty="0">
                <a:solidFill>
                  <a:srgbClr val="FF0000"/>
                </a:solidFill>
              </a:rPr>
              <a:t>iPhone13</a:t>
            </a:r>
            <a:r>
              <a:rPr lang="en-GB" dirty="0"/>
              <a:t>, </a:t>
            </a:r>
            <a:r>
              <a:rPr lang="en-GB" dirty="0">
                <a:solidFill>
                  <a:srgbClr val="FFC000"/>
                </a:solidFill>
              </a:rPr>
              <a:t>prix</a:t>
            </a:r>
            <a:r>
              <a:rPr lang="en-GB" dirty="0"/>
              <a:t>, </a:t>
            </a:r>
            <a:r>
              <a:rPr lang="en-GB" dirty="0">
                <a:solidFill>
                  <a:srgbClr val="0070C0"/>
                </a:solidFill>
              </a:rPr>
              <a:t>-</a:t>
            </a:r>
            <a:r>
              <a:rPr lang="en-GB" dirty="0"/>
              <a:t>, </a:t>
            </a:r>
            <a:r>
              <a:rPr lang="en-GB" dirty="0" err="1">
                <a:solidFill>
                  <a:srgbClr val="00B050"/>
                </a:solidFill>
              </a:rPr>
              <a:t>his_mother</a:t>
            </a:r>
            <a:r>
              <a:rPr lang="en-GB" dirty="0"/>
              <a:t>, </a:t>
            </a:r>
            <a:r>
              <a:rPr lang="en-GB" dirty="0">
                <a:solidFill>
                  <a:srgbClr val="C00000"/>
                </a:solidFill>
              </a:rPr>
              <a:t>08/10/2023</a:t>
            </a:r>
            <a:r>
              <a:rPr lang="en-GB" dirty="0"/>
              <a:t>)</a:t>
            </a:r>
          </a:p>
          <a:p>
            <a:pPr lvl="1" algn="just">
              <a:spcBef>
                <a:spcPts val="600"/>
              </a:spcBef>
            </a:pPr>
            <a:r>
              <a:rPr lang="en-GB" dirty="0"/>
              <a:t>…</a:t>
            </a:r>
          </a:p>
          <a:p>
            <a:pPr lvl="2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GB" dirty="0"/>
          </a:p>
          <a:p>
            <a:pPr algn="just">
              <a:spcBef>
                <a:spcPts val="600"/>
              </a:spcBef>
            </a:pPr>
            <a:endParaRPr lang="en-GB" dirty="0"/>
          </a:p>
          <a:p>
            <a:pPr lvl="1" algn="just">
              <a:spcBef>
                <a:spcPts val="600"/>
              </a:spcBef>
            </a:pPr>
            <a:endParaRPr lang="en-US" dirty="0"/>
          </a:p>
          <a:p>
            <a:pPr lvl="2" algn="just">
              <a:spcBef>
                <a:spcPts val="600"/>
              </a:spcBef>
            </a:pPr>
            <a:endParaRPr lang="en-US" dirty="0"/>
          </a:p>
          <a:p>
            <a:pPr algn="just">
              <a:spcBef>
                <a:spcPts val="600"/>
              </a:spcBef>
            </a:pPr>
            <a:endParaRPr lang="en-US" dirty="0"/>
          </a:p>
          <a:p>
            <a:pPr algn="just"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26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Opinion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With a </a:t>
            </a:r>
            <a:r>
              <a:rPr lang="en-GB" dirty="0">
                <a:solidFill>
                  <a:srgbClr val="FF0000"/>
                </a:solidFill>
              </a:rPr>
              <a:t>lot of opinions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a summary is necessary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multi-document summarization task.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For </a:t>
            </a:r>
            <a:r>
              <a:rPr lang="en-GB" dirty="0">
                <a:solidFill>
                  <a:srgbClr val="FF0000"/>
                </a:solidFill>
              </a:rPr>
              <a:t>factual texts</a:t>
            </a:r>
            <a:r>
              <a:rPr lang="en-GB" dirty="0"/>
              <a:t>, summarization is to </a:t>
            </a:r>
            <a:r>
              <a:rPr lang="en-GB" i="1" dirty="0">
                <a:solidFill>
                  <a:srgbClr val="FF0000"/>
                </a:solidFill>
              </a:rPr>
              <a:t>select the most important facts</a:t>
            </a:r>
            <a:r>
              <a:rPr lang="en-GB" dirty="0"/>
              <a:t> and present them in a </a:t>
            </a:r>
            <a:r>
              <a:rPr lang="en-GB" i="1" dirty="0">
                <a:solidFill>
                  <a:srgbClr val="FF0000"/>
                </a:solidFill>
              </a:rPr>
              <a:t>sensible order </a:t>
            </a:r>
            <a:r>
              <a:rPr lang="en-GB" dirty="0"/>
              <a:t>while </a:t>
            </a:r>
            <a:r>
              <a:rPr lang="en-GB" i="1" dirty="0">
                <a:solidFill>
                  <a:srgbClr val="FF0000"/>
                </a:solidFill>
              </a:rPr>
              <a:t>avoiding repetition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1 fact = any number of the same fact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But for opinion documents, it is different because opinions have a quantitative side &amp; have targets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1 opinion ≠ a number of opinions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Aspect-based</a:t>
            </a:r>
            <a:r>
              <a:rPr lang="en-GB" dirty="0"/>
              <a:t> summary is more suitable.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605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Opinion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5383306" cy="4818025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Aspect-based</a:t>
            </a:r>
            <a:r>
              <a:rPr lang="en-GB" dirty="0"/>
              <a:t> summary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US" altLang="en-US" i="1" dirty="0"/>
              <a:t>I bought an </a:t>
            </a:r>
            <a:r>
              <a:rPr lang="en-US" altLang="en-US" i="1" dirty="0">
                <a:solidFill>
                  <a:srgbClr val="0070C0"/>
                </a:solidFill>
              </a:rPr>
              <a:t>iPhone</a:t>
            </a:r>
            <a:r>
              <a:rPr lang="en-US" altLang="en-US" i="1" dirty="0"/>
              <a:t> a few days ago. It was such a nice </a:t>
            </a:r>
            <a:r>
              <a:rPr lang="en-US" altLang="en-US" i="1" dirty="0">
                <a:solidFill>
                  <a:srgbClr val="FF0000"/>
                </a:solidFill>
              </a:rPr>
              <a:t>phone</a:t>
            </a:r>
            <a:r>
              <a:rPr lang="en-US" altLang="en-US" i="1" dirty="0"/>
              <a:t>. The </a:t>
            </a:r>
            <a:r>
              <a:rPr lang="en-US" altLang="en-US" i="1" dirty="0">
                <a:solidFill>
                  <a:srgbClr val="FF0000"/>
                </a:solidFill>
              </a:rPr>
              <a:t>touch screen </a:t>
            </a:r>
            <a:r>
              <a:rPr lang="en-US" altLang="en-US" i="1" dirty="0"/>
              <a:t>was really cool. The </a:t>
            </a:r>
            <a:r>
              <a:rPr lang="en-US" altLang="en-US" i="1" dirty="0">
                <a:solidFill>
                  <a:srgbClr val="FF0000"/>
                </a:solidFill>
              </a:rPr>
              <a:t>voice quality </a:t>
            </a:r>
            <a:r>
              <a:rPr lang="en-US" altLang="en-US" i="1" dirty="0"/>
              <a:t>was clear too. Although the </a:t>
            </a:r>
            <a:r>
              <a:rPr lang="en-US" altLang="en-US" i="1" dirty="0">
                <a:solidFill>
                  <a:srgbClr val="FF0000"/>
                </a:solidFill>
              </a:rPr>
              <a:t>battery life </a:t>
            </a:r>
            <a:r>
              <a:rPr lang="en-US" altLang="en-US" i="1" dirty="0"/>
              <a:t>was not long, that is ok for me. However, my mother was mad with me as I did not tell her before I bought the phone. She also thought the phone was too </a:t>
            </a:r>
            <a:r>
              <a:rPr lang="en-US" altLang="en-US" i="1" dirty="0">
                <a:solidFill>
                  <a:srgbClr val="FF0000"/>
                </a:solidFill>
              </a:rPr>
              <a:t>expensive</a:t>
            </a:r>
            <a:r>
              <a:rPr lang="en-US" altLang="en-US" i="1" dirty="0"/>
              <a:t>, and wanted me to return it to the shop. …</a:t>
            </a: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06F55-E363-6BFA-A3AD-FE9F28A954A2}"/>
              </a:ext>
            </a:extLst>
          </p:cNvPr>
          <p:cNvSpPr txBox="1"/>
          <p:nvPr/>
        </p:nvSpPr>
        <p:spPr>
          <a:xfrm>
            <a:off x="6901166" y="1093176"/>
            <a:ext cx="5217458" cy="5674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2400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Based Summary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Feature1: 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Touch screen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212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touch screen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really cool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touch screen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so easy to use and can do amazing things. 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6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easily scratched.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a lot of difficulty in removing finger marks from the 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touch screen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Feature2: </a:t>
            </a:r>
            <a:r>
              <a:rPr lang="en-US" alt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life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2051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Opinion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334A750-A97F-F5A3-9BC0-ADB419E59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936" y="1456797"/>
            <a:ext cx="7603758" cy="266049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1CA80B8-B19F-AF39-2416-1D6A33BE2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119" y="4162537"/>
            <a:ext cx="7656083" cy="255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14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Aspect-based Opinion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50C201-6001-3C80-E042-65734CBA7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47" y="1806106"/>
            <a:ext cx="9117106" cy="484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85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Reason for Opinion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 reason</a:t>
            </a:r>
            <a:r>
              <a:rPr lang="en-GB" dirty="0"/>
              <a:t> is the </a:t>
            </a:r>
            <a:r>
              <a:rPr lang="en-GB" i="1" dirty="0">
                <a:solidFill>
                  <a:srgbClr val="FF0000"/>
                </a:solidFill>
              </a:rPr>
              <a:t>justification or explanation</a:t>
            </a:r>
            <a:r>
              <a:rPr lang="en-GB" dirty="0"/>
              <a:t> of the opinion.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There are two main cases: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Negative about an entity due to a bad aspect.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 hate this car </a:t>
            </a:r>
            <a:r>
              <a:rPr lang="en-GB" dirty="0">
                <a:solidFill>
                  <a:srgbClr val="FF0000"/>
                </a:solidFill>
              </a:rPr>
              <a:t>as it eats to much gas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Negative about an aspect because of a reason.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This car is </a:t>
            </a:r>
            <a:r>
              <a:rPr lang="en-GB" dirty="0">
                <a:solidFill>
                  <a:srgbClr val="FF0000"/>
                </a:solidFill>
              </a:rPr>
              <a:t>too small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962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Qualifier of Opinion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 qualifier</a:t>
            </a:r>
            <a:r>
              <a:rPr lang="en-GB" dirty="0"/>
              <a:t> of an opinion </a:t>
            </a:r>
            <a:r>
              <a:rPr lang="en-GB" dirty="0">
                <a:solidFill>
                  <a:srgbClr val="00B050"/>
                </a:solidFill>
              </a:rPr>
              <a:t>limits or modifies</a:t>
            </a:r>
            <a:r>
              <a:rPr lang="en-GB" dirty="0"/>
              <a:t> the </a:t>
            </a:r>
            <a:r>
              <a:rPr lang="en-GB" i="1" dirty="0">
                <a:solidFill>
                  <a:srgbClr val="00B050"/>
                </a:solidFill>
              </a:rPr>
              <a:t>meaning of the opinion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It tells what an </a:t>
            </a:r>
            <a:r>
              <a:rPr lang="en-GB" dirty="0">
                <a:solidFill>
                  <a:srgbClr val="FF0000"/>
                </a:solidFill>
              </a:rPr>
              <a:t>opinion is useful for</a:t>
            </a:r>
            <a:r>
              <a:rPr lang="en-GB" dirty="0"/>
              <a:t>, e.g.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i="1" dirty="0"/>
              <a:t>This car is </a:t>
            </a:r>
            <a:r>
              <a:rPr lang="en-GB" i="1" dirty="0">
                <a:solidFill>
                  <a:srgbClr val="00B050"/>
                </a:solidFill>
              </a:rPr>
              <a:t>too small</a:t>
            </a:r>
            <a:r>
              <a:rPr lang="en-GB" i="1" dirty="0"/>
              <a:t> for a </a:t>
            </a:r>
            <a:r>
              <a:rPr lang="en-GB" i="1" dirty="0">
                <a:solidFill>
                  <a:srgbClr val="00B050"/>
                </a:solidFill>
              </a:rPr>
              <a:t>tall person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i="1" dirty="0"/>
              <a:t>The picture </a:t>
            </a:r>
            <a:r>
              <a:rPr lang="en-GB" i="1" dirty="0">
                <a:solidFill>
                  <a:srgbClr val="00B050"/>
                </a:solidFill>
              </a:rPr>
              <a:t>quality of night shots</a:t>
            </a:r>
            <a:r>
              <a:rPr lang="en-GB" i="1" dirty="0"/>
              <a:t> is </a:t>
            </a:r>
            <a:r>
              <a:rPr lang="en-GB" i="1" dirty="0">
                <a:solidFill>
                  <a:srgbClr val="00B050"/>
                </a:solidFill>
              </a:rPr>
              <a:t>bad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Not every opinion comes with an explicit reason and/or qualifier.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This car is bad.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520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Sentiment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Classify</a:t>
            </a:r>
            <a:r>
              <a:rPr lang="en-GB" dirty="0"/>
              <a:t> a whole </a:t>
            </a:r>
            <a:r>
              <a:rPr lang="en-GB" dirty="0">
                <a:solidFill>
                  <a:srgbClr val="00B050"/>
                </a:solidFill>
              </a:rPr>
              <a:t>opinion document (review)</a:t>
            </a:r>
            <a:r>
              <a:rPr lang="en-GB" dirty="0"/>
              <a:t> based on the overall sentiment of the opinion holder.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Classes:</a:t>
            </a:r>
            <a:r>
              <a:rPr lang="en-GB" dirty="0"/>
              <a:t> Positive, Negative, Neutral.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It is basically a </a:t>
            </a:r>
            <a:r>
              <a:rPr lang="en-GB" dirty="0">
                <a:solidFill>
                  <a:srgbClr val="FF0000"/>
                </a:solidFill>
              </a:rPr>
              <a:t>text classification problem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48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Sentiment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Assumption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doc is </a:t>
            </a:r>
            <a:r>
              <a:rPr lang="en-GB" dirty="0">
                <a:solidFill>
                  <a:srgbClr val="00B050"/>
                </a:solidFill>
              </a:rPr>
              <a:t>written by a single person</a:t>
            </a:r>
            <a:r>
              <a:rPr lang="en-GB" dirty="0"/>
              <a:t> and </a:t>
            </a:r>
            <a:r>
              <a:rPr lang="en-GB" dirty="0">
                <a:solidFill>
                  <a:srgbClr val="00B050"/>
                </a:solidFill>
              </a:rPr>
              <a:t>express opinion on a single entity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Reviews</a:t>
            </a:r>
            <a:r>
              <a:rPr lang="en-GB" dirty="0"/>
              <a:t> usually </a:t>
            </a:r>
            <a:r>
              <a:rPr lang="en-GB" i="1" dirty="0">
                <a:solidFill>
                  <a:srgbClr val="FF0000"/>
                </a:solidFill>
              </a:rPr>
              <a:t>satisfy the assumption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Forum postings and blogs do not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They may mention and compare multiple entities.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Many postings express no sentiments.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29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Sentiment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Supervised learning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Directly apply supervised learning techniques</a:t>
            </a:r>
            <a:r>
              <a:rPr lang="en-GB" dirty="0"/>
              <a:t> to classify reviews in to appropriate class.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Best features</a:t>
            </a:r>
            <a:r>
              <a:rPr lang="en-GB" dirty="0"/>
              <a:t> has been studied by numerous researchers.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Terms weighting schemes.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POS tags.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Opinion words.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Negation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Syntactic dependency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855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Sentiment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Lexicon - based approach </a:t>
            </a:r>
            <a:r>
              <a:rPr lang="en-GB" dirty="0"/>
              <a:t>(Taboada et al., 2011 )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Using a set of sentiment terms, called the </a:t>
            </a:r>
            <a:r>
              <a:rPr lang="en-GB" dirty="0">
                <a:solidFill>
                  <a:srgbClr val="00B050"/>
                </a:solidFill>
              </a:rPr>
              <a:t>sentiment lexicon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Positive words</a:t>
            </a:r>
            <a:r>
              <a:rPr lang="en-GB" dirty="0"/>
              <a:t>: great, beautiful, amazing, …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Negative words</a:t>
            </a:r>
            <a:r>
              <a:rPr lang="en-GB" dirty="0"/>
              <a:t>: bad, unreliable, terrible awful, …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</a:t>
            </a:r>
            <a:r>
              <a:rPr lang="en-GB" dirty="0">
                <a:solidFill>
                  <a:srgbClr val="00B050"/>
                </a:solidFill>
              </a:rPr>
              <a:t>score opinion value</a:t>
            </a:r>
            <a:r>
              <a:rPr lang="en-GB" dirty="0"/>
              <a:t> for each sentiment term is </a:t>
            </a:r>
            <a:r>
              <a:rPr lang="en-GB" dirty="0">
                <a:solidFill>
                  <a:srgbClr val="00B050"/>
                </a:solidFill>
              </a:rPr>
              <a:t>assigned a value from [-5, +5]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Decide the sentiment of a review by </a:t>
            </a:r>
            <a:r>
              <a:rPr lang="en-GB" dirty="0">
                <a:solidFill>
                  <a:srgbClr val="00B050"/>
                </a:solidFill>
              </a:rPr>
              <a:t>aggregating scores from all sentiment terms</a:t>
            </a:r>
            <a:r>
              <a:rPr lang="en-GB" dirty="0"/>
              <a:t>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52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Sentiment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Review rating prediction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Predict the rating scores of reviews (e.g. 1 to 5 stars).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Training and testing are reviews with star ratings.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problem is </a:t>
            </a:r>
            <a:r>
              <a:rPr lang="en-GB" dirty="0">
                <a:solidFill>
                  <a:srgbClr val="00B050"/>
                </a:solidFill>
              </a:rPr>
              <a:t>formulated as regression</a:t>
            </a:r>
            <a:r>
              <a:rPr lang="en-GB" dirty="0"/>
              <a:t> since the rating scores are ordinal.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445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Sentence sentiment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Usually consist of two steps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Subjective classification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To identify subjective sentence.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Sentiment classification of subjective sentence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But bear in mind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Many objective sentences can imply sentiment.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Many subjective sentences do not express positive/negative opinions.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E.g. I believe he went home yesterday.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74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Sentence sentiment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Assumption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Each sentence</a:t>
            </a:r>
            <a:r>
              <a:rPr lang="en-GB" dirty="0"/>
              <a:t> is written by a </a:t>
            </a:r>
            <a:r>
              <a:rPr lang="en-GB" i="1" dirty="0">
                <a:solidFill>
                  <a:srgbClr val="FF0000"/>
                </a:solidFill>
              </a:rPr>
              <a:t>single person </a:t>
            </a:r>
            <a:r>
              <a:rPr lang="en-GB" dirty="0"/>
              <a:t>and express a </a:t>
            </a:r>
            <a:r>
              <a:rPr lang="en-GB" i="1" dirty="0">
                <a:solidFill>
                  <a:srgbClr val="FF0000"/>
                </a:solidFill>
              </a:rPr>
              <a:t>single opinion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True for simple sentence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E.g. I like this car.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But </a:t>
            </a:r>
            <a:r>
              <a:rPr lang="en-GB" dirty="0">
                <a:solidFill>
                  <a:srgbClr val="00B050"/>
                </a:solidFill>
              </a:rPr>
              <a:t>not true</a:t>
            </a:r>
            <a:r>
              <a:rPr lang="en-GB" dirty="0"/>
              <a:t> for many </a:t>
            </a:r>
            <a:r>
              <a:rPr lang="en-GB" dirty="0">
                <a:solidFill>
                  <a:srgbClr val="00B050"/>
                </a:solidFill>
              </a:rPr>
              <a:t>compound or complex sentences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E.g. I like the picture quality but battery life sucks.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654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Segmentation and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single sentence</a:t>
            </a:r>
            <a:r>
              <a:rPr lang="en-GB" dirty="0"/>
              <a:t> may contain </a:t>
            </a:r>
            <a:r>
              <a:rPr lang="en-GB" i="1" dirty="0">
                <a:solidFill>
                  <a:srgbClr val="FF0000"/>
                </a:solidFill>
              </a:rPr>
              <a:t>multiple opinions</a:t>
            </a:r>
            <a:r>
              <a:rPr lang="en-GB" dirty="0"/>
              <a:t> and </a:t>
            </a:r>
            <a:r>
              <a:rPr lang="en-GB" i="1" dirty="0">
                <a:solidFill>
                  <a:srgbClr val="FF0000"/>
                </a:solidFill>
              </a:rPr>
              <a:t>subjective and factual clauses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study of </a:t>
            </a:r>
            <a:r>
              <a:rPr lang="en-GB" dirty="0">
                <a:solidFill>
                  <a:srgbClr val="00B050"/>
                </a:solidFill>
              </a:rPr>
              <a:t>automatic clause opinion classification</a:t>
            </a:r>
            <a:r>
              <a:rPr lang="en-GB" dirty="0"/>
              <a:t> is needed.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193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Given an </a:t>
            </a:r>
            <a:r>
              <a:rPr lang="en-GB" dirty="0">
                <a:solidFill>
                  <a:srgbClr val="00B050"/>
                </a:solidFill>
              </a:rPr>
              <a:t>opinion corpus</a:t>
            </a:r>
            <a:r>
              <a:rPr lang="en-GB" dirty="0"/>
              <a:t>, </a:t>
            </a:r>
            <a:r>
              <a:rPr lang="en-GB" i="1" dirty="0">
                <a:solidFill>
                  <a:srgbClr val="00B050"/>
                </a:solidFill>
              </a:rPr>
              <a:t>extract all aspects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Four main approaches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Finding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frequent nouns and noun phrases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Exploiting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opinion and target relations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Supervised learning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Topic modelling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279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Frequent nouns and noun phrases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Nouns</a:t>
            </a:r>
            <a:r>
              <a:rPr lang="en-GB" dirty="0"/>
              <a:t> (NN) that are </a:t>
            </a:r>
            <a:r>
              <a:rPr lang="en-GB" i="1" dirty="0">
                <a:solidFill>
                  <a:srgbClr val="FF0000"/>
                </a:solidFill>
              </a:rPr>
              <a:t>frequently mentioned</a:t>
            </a:r>
            <a:r>
              <a:rPr lang="en-GB" dirty="0"/>
              <a:t> are likely to </a:t>
            </a:r>
            <a:r>
              <a:rPr lang="en-GB" i="1" dirty="0">
                <a:solidFill>
                  <a:srgbClr val="FF0000"/>
                </a:solidFill>
              </a:rPr>
              <a:t>be true aspects</a:t>
            </a:r>
            <a:r>
              <a:rPr lang="en-GB" dirty="0"/>
              <a:t>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Why?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Most aspects</a:t>
            </a:r>
            <a:r>
              <a:rPr lang="en-GB" dirty="0"/>
              <a:t> are </a:t>
            </a:r>
            <a:r>
              <a:rPr lang="en-GB" i="1" dirty="0">
                <a:solidFill>
                  <a:srgbClr val="00B050"/>
                </a:solidFill>
              </a:rPr>
              <a:t>nouns or noun phrases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When </a:t>
            </a:r>
            <a:r>
              <a:rPr lang="en-GB" dirty="0">
                <a:solidFill>
                  <a:srgbClr val="00B050"/>
                </a:solidFill>
              </a:rPr>
              <a:t>product aspects/features</a:t>
            </a:r>
            <a:r>
              <a:rPr lang="en-GB" dirty="0"/>
              <a:t> are discussed, the words we used </a:t>
            </a:r>
            <a:r>
              <a:rPr lang="en-GB" i="1" dirty="0">
                <a:solidFill>
                  <a:srgbClr val="00B050"/>
                </a:solidFill>
              </a:rPr>
              <a:t>often converge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Those frequent</a:t>
            </a:r>
            <a:r>
              <a:rPr lang="en-GB" dirty="0"/>
              <a:t> ones are usually the main </a:t>
            </a:r>
            <a:r>
              <a:rPr lang="en-GB" i="1" dirty="0">
                <a:solidFill>
                  <a:srgbClr val="00B050"/>
                </a:solidFill>
              </a:rPr>
              <a:t>aspects</a:t>
            </a:r>
            <a:r>
              <a:rPr lang="en-GB" dirty="0"/>
              <a:t> that people are </a:t>
            </a:r>
            <a:r>
              <a:rPr lang="en-GB" i="1" dirty="0">
                <a:solidFill>
                  <a:srgbClr val="00B050"/>
                </a:solidFill>
              </a:rPr>
              <a:t>interested in</a:t>
            </a:r>
            <a:r>
              <a:rPr lang="en-GB" dirty="0"/>
              <a:t>.  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9273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8280"/>
                <a:ext cx="10515600" cy="4818025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>
                    <a:solidFill>
                      <a:srgbClr val="00B050"/>
                    </a:solidFill>
                  </a:rPr>
                  <a:t>Frequent nouns and noun phrases</a:t>
                </a: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>
                    <a:solidFill>
                      <a:srgbClr val="FF0000"/>
                    </a:solidFill>
                  </a:rPr>
                  <a:t>Using part-of relationship</a:t>
                </a:r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>
                    <a:solidFill>
                      <a:srgbClr val="0070C0"/>
                    </a:solidFill>
                  </a:rPr>
                  <a:t>Improved by removing some frequent noun phrases that may not be aspect</a:t>
                </a:r>
                <a:r>
                  <a:rPr lang="en-GB" dirty="0"/>
                  <a:t>.</a:t>
                </a:r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It identifies </a:t>
                </a:r>
                <a:r>
                  <a:rPr lang="en-GB" dirty="0">
                    <a:solidFill>
                      <a:srgbClr val="FF0000"/>
                    </a:solidFill>
                  </a:rPr>
                  <a:t>part-of relationship</a:t>
                </a:r>
              </a:p>
              <a:p>
                <a:pPr lvl="3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>
                    <a:solidFill>
                      <a:srgbClr val="FF0000"/>
                    </a:solidFill>
                  </a:rPr>
                  <a:t>Each noun phrases</a:t>
                </a:r>
                <a:r>
                  <a:rPr lang="en-GB" dirty="0"/>
                  <a:t> is given a </a:t>
                </a:r>
                <a:r>
                  <a:rPr lang="en-GB" i="1" dirty="0">
                    <a:solidFill>
                      <a:srgbClr val="FF0000"/>
                    </a:solidFill>
                  </a:rPr>
                  <a:t>pointwise mutual information score</a:t>
                </a:r>
                <a:r>
                  <a:rPr lang="en-GB" dirty="0"/>
                  <a:t> between the phrase and part discriminators associated with the product class.</a:t>
                </a:r>
              </a:p>
              <a:p>
                <a:pPr lvl="3" algn="just">
                  <a:lnSpc>
                    <a:spcPct val="140000"/>
                  </a:lnSpc>
                  <a:spcBef>
                    <a:spcPts val="600"/>
                  </a:spcBef>
                </a:pPr>
                <a:r>
                  <a:rPr lang="en-GB" dirty="0"/>
                  <a:t>E.g. scanner class, “of scanner”, “scanner has”  which are use to find parts of scanner by searching on the Web.</a:t>
                </a:r>
              </a:p>
              <a:p>
                <a:pPr lvl="3" algn="just">
                  <a:lnSpc>
                    <a:spcPct val="14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𝑃𝑀𝐼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h𝑖𝑡𝑠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>
                  <a:solidFill>
                    <a:srgbClr val="FF0000"/>
                  </a:solidFill>
                </a:endParaRPr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GB" dirty="0"/>
              </a:p>
              <a:p>
                <a:pPr lvl="1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US" dirty="0"/>
              </a:p>
              <a:p>
                <a:pPr lvl="2"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US" dirty="0"/>
              </a:p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US" dirty="0"/>
              </a:p>
              <a:p>
                <a:pPr algn="just">
                  <a:lnSpc>
                    <a:spcPct val="140000"/>
                  </a:lnSpc>
                  <a:spcBef>
                    <a:spcPts val="600"/>
                  </a:spcBef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3A898-C002-F10F-034F-7E4BE7D72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8280"/>
                <a:ext cx="10515600" cy="4818025"/>
              </a:xfrm>
              <a:blipFill>
                <a:blip r:embed="rId2"/>
                <a:stretch>
                  <a:fillRect l="-1043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5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Exploiting opinion and target relations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u="sng" dirty="0">
                <a:solidFill>
                  <a:srgbClr val="FF0000"/>
                </a:solidFill>
              </a:rPr>
              <a:t>Key idea</a:t>
            </a:r>
            <a:r>
              <a:rPr lang="en-GB" dirty="0"/>
              <a:t>: opinions have targets; opinion terms are used to modify aspects and entities.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pictures are absolutely </a:t>
            </a:r>
            <a:r>
              <a:rPr lang="en-GB" dirty="0">
                <a:solidFill>
                  <a:srgbClr val="0070C0"/>
                </a:solidFill>
              </a:rPr>
              <a:t>amazing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This is an </a:t>
            </a:r>
            <a:r>
              <a:rPr lang="en-GB" dirty="0">
                <a:solidFill>
                  <a:srgbClr val="0070C0"/>
                </a:solidFill>
              </a:rPr>
              <a:t>amazing</a:t>
            </a:r>
            <a:r>
              <a:rPr lang="en-GB" dirty="0"/>
              <a:t> software.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syntactic relation is approximated with the </a:t>
            </a:r>
            <a:r>
              <a:rPr lang="en-GB" dirty="0">
                <a:solidFill>
                  <a:srgbClr val="FF0000"/>
                </a:solidFill>
              </a:rPr>
              <a:t>nearest noun phrases</a:t>
            </a:r>
            <a:r>
              <a:rPr lang="en-GB" dirty="0"/>
              <a:t> to the </a:t>
            </a:r>
            <a:r>
              <a:rPr lang="en-GB" dirty="0">
                <a:solidFill>
                  <a:srgbClr val="00B050"/>
                </a:solidFill>
              </a:rPr>
              <a:t>opinion word</a:t>
            </a:r>
            <a:r>
              <a:rPr lang="en-GB" dirty="0"/>
              <a:t> in.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846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Exploiting opinion and target relations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Explicit aspects</a:t>
            </a:r>
            <a:r>
              <a:rPr lang="en-GB" dirty="0"/>
              <a:t>: Aspect explicitly mentioned as noun or noun phrase in a sentence.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 </a:t>
            </a:r>
            <a:r>
              <a:rPr lang="en-GB" i="1" dirty="0">
                <a:solidFill>
                  <a:srgbClr val="FF0000"/>
                </a:solidFill>
              </a:rPr>
              <a:t>picture quality</a:t>
            </a:r>
            <a:r>
              <a:rPr lang="en-GB" dirty="0"/>
              <a:t> of this phone is great.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Implicit aspects</a:t>
            </a:r>
            <a:r>
              <a:rPr lang="en-GB" dirty="0"/>
              <a:t>: Aspect not explicitly mentioned in a sentence but are implied.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This car is so </a:t>
            </a:r>
            <a:r>
              <a:rPr lang="en-GB" i="1" dirty="0">
                <a:solidFill>
                  <a:srgbClr val="00B050"/>
                </a:solidFill>
              </a:rPr>
              <a:t>expensive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This phone will nots easily </a:t>
            </a:r>
            <a:r>
              <a:rPr lang="en-GB" i="1" dirty="0">
                <a:solidFill>
                  <a:srgbClr val="00B050"/>
                </a:solidFill>
              </a:rPr>
              <a:t>fit in a pocket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Include </a:t>
            </a:r>
            <a:r>
              <a:rPr lang="en-GB" i="1" dirty="0">
                <a:solidFill>
                  <a:srgbClr val="00B050"/>
                </a:solidFill>
              </a:rPr>
              <a:t>16GB</a:t>
            </a:r>
            <a:r>
              <a:rPr lang="en-GB" dirty="0"/>
              <a:t> is stingy.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297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Using supervised learning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Using </a:t>
            </a:r>
            <a:r>
              <a:rPr lang="en-GB" dirty="0">
                <a:solidFill>
                  <a:srgbClr val="FF0000"/>
                </a:solidFill>
              </a:rPr>
              <a:t>sequence labelling methods</a:t>
            </a:r>
            <a:r>
              <a:rPr lang="en-GB" dirty="0"/>
              <a:t> such as Hidden Markov Models, Conditional Random Fields …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Once </a:t>
            </a:r>
            <a:r>
              <a:rPr lang="en-GB" dirty="0">
                <a:solidFill>
                  <a:srgbClr val="FF0000"/>
                </a:solidFill>
              </a:rPr>
              <a:t>aspect</a:t>
            </a:r>
            <a:r>
              <a:rPr lang="en-GB" dirty="0"/>
              <a:t> expressions are </a:t>
            </a:r>
            <a:r>
              <a:rPr lang="en-GB" dirty="0">
                <a:solidFill>
                  <a:srgbClr val="FF0000"/>
                </a:solidFill>
              </a:rPr>
              <a:t>discovered</a:t>
            </a:r>
            <a:r>
              <a:rPr lang="en-GB" dirty="0"/>
              <a:t>, </a:t>
            </a:r>
            <a:r>
              <a:rPr lang="en-GB" dirty="0">
                <a:solidFill>
                  <a:srgbClr val="00B050"/>
                </a:solidFill>
              </a:rPr>
              <a:t>group</a:t>
            </a:r>
            <a:r>
              <a:rPr lang="en-GB" dirty="0"/>
              <a:t> them into </a:t>
            </a:r>
            <a:r>
              <a:rPr lang="en-GB" dirty="0">
                <a:solidFill>
                  <a:srgbClr val="00B050"/>
                </a:solidFill>
              </a:rPr>
              <a:t>aspect categories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E.g. power usage, battery life.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Based</a:t>
            </a:r>
            <a:r>
              <a:rPr lang="en-GB" dirty="0"/>
              <a:t> on some </a:t>
            </a:r>
            <a:r>
              <a:rPr lang="en-GB" i="1" dirty="0">
                <a:solidFill>
                  <a:srgbClr val="FF0000"/>
                </a:solidFill>
              </a:rPr>
              <a:t>similarity methods</a:t>
            </a:r>
            <a:r>
              <a:rPr lang="en-GB" dirty="0"/>
              <a:t> but it needs a </a:t>
            </a:r>
            <a:r>
              <a:rPr lang="en-GB" i="1" dirty="0">
                <a:solidFill>
                  <a:srgbClr val="FF0000"/>
                </a:solidFill>
              </a:rPr>
              <a:t>taxonomy of aspects</a:t>
            </a:r>
            <a:r>
              <a:rPr lang="en-GB" dirty="0"/>
              <a:t>.</a:t>
            </a:r>
          </a:p>
          <a:p>
            <a:pPr lvl="3" algn="just">
              <a:lnSpc>
                <a:spcPct val="140000"/>
              </a:lnSpc>
              <a:spcBef>
                <a:spcPts val="600"/>
              </a:spcBef>
            </a:pPr>
            <a:r>
              <a:rPr lang="en-GB" u="sng" dirty="0"/>
              <a:t>Mapping</a:t>
            </a:r>
            <a:r>
              <a:rPr lang="en-GB" dirty="0"/>
              <a:t>: the system maps each discovered aspect to an aspect node in the taxonomy.</a:t>
            </a:r>
          </a:p>
          <a:p>
            <a:pPr lvl="3" algn="just">
              <a:lnSpc>
                <a:spcPct val="140000"/>
              </a:lnSpc>
              <a:spcBef>
                <a:spcPts val="600"/>
              </a:spcBef>
            </a:pPr>
            <a:r>
              <a:rPr lang="en-GB" u="sng" dirty="0"/>
              <a:t>Similarity metrics</a:t>
            </a:r>
            <a:r>
              <a:rPr lang="en-GB" dirty="0"/>
              <a:t>: string similarity, synonym and other distance measures using WordNet. 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270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Using unsupervised learning for grouping aspect synonyms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 Clustering, Constrained topic modelling …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variety of information/similarities are used</a:t>
            </a:r>
            <a:r>
              <a:rPr lang="en-GB" dirty="0"/>
              <a:t> to cluster aspect expressions into aspect categories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Lexical similarity based on WordNet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Distribution information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Syntactical constraints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…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830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Topic modelling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Probabilistic Topic Modeling — Pyro Tutorials 1.8.6 documentation">
            <a:extLst>
              <a:ext uri="{FF2B5EF4-FFF2-40B4-BE49-F238E27FC236}">
                <a16:creationId xmlns:a16="http://schemas.microsoft.com/office/drawing/2014/main" id="{7753A4EC-B587-20FA-031B-FE77417A3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59" y="2517263"/>
            <a:ext cx="7548282" cy="400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133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Topic modelling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topic</a:t>
            </a:r>
            <a:r>
              <a:rPr lang="en-GB" dirty="0"/>
              <a:t> is basically </a:t>
            </a:r>
            <a:r>
              <a:rPr lang="en-GB" i="1" dirty="0">
                <a:solidFill>
                  <a:srgbClr val="FF0000"/>
                </a:solidFill>
              </a:rPr>
              <a:t>an aspect</a:t>
            </a:r>
            <a:r>
              <a:rPr lang="en-GB" dirty="0"/>
              <a:t>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document is a distribution over topics.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 topic is a distribution over words (</a:t>
            </a:r>
            <a:r>
              <a:rPr lang="en-GB" dirty="0">
                <a:solidFill>
                  <a:srgbClr val="0070C0"/>
                </a:solidFill>
              </a:rPr>
              <a:t>price, cost, cheap, expensive …</a:t>
            </a:r>
            <a:r>
              <a:rPr lang="en-GB" dirty="0"/>
              <a:t>).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Aspect extraction has two tasks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Extract aspect expressions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Cluster them (same: </a:t>
            </a:r>
            <a:r>
              <a:rPr lang="en-GB" dirty="0">
                <a:solidFill>
                  <a:srgbClr val="0070C0"/>
                </a:solidFill>
              </a:rPr>
              <a:t>picture, photo, image</a:t>
            </a:r>
            <a:r>
              <a:rPr lang="en-GB" dirty="0"/>
              <a:t>)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Top models such as: </a:t>
            </a:r>
            <a:r>
              <a:rPr lang="en-GB" dirty="0" err="1">
                <a:solidFill>
                  <a:srgbClr val="FF0000"/>
                </a:solidFill>
              </a:rPr>
              <a:t>pLSA</a:t>
            </a:r>
            <a:r>
              <a:rPr lang="en-GB" dirty="0"/>
              <a:t> (Hofmann, 1999 ) and </a:t>
            </a:r>
            <a:r>
              <a:rPr lang="en-GB" dirty="0">
                <a:solidFill>
                  <a:srgbClr val="FF0000"/>
                </a:solidFill>
              </a:rPr>
              <a:t>LDA</a:t>
            </a:r>
            <a:r>
              <a:rPr lang="en-GB" dirty="0"/>
              <a:t> (</a:t>
            </a:r>
            <a:r>
              <a:rPr lang="en-GB" dirty="0" err="1"/>
              <a:t>Blei</a:t>
            </a:r>
            <a:r>
              <a:rPr lang="en-GB" dirty="0"/>
              <a:t> et al, 2003).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164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Aspect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00B050"/>
                </a:solidFill>
              </a:rPr>
              <a:t>Topic modelling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Use topic models to model aspects.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Jointly model both aspects and sentiments.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Knowledge-based modelling</a:t>
            </a:r>
            <a:r>
              <a:rPr lang="en-GB" dirty="0"/>
              <a:t>: unsupervised models are often insufficient.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Not producing coherent topics/aspects.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Knowledge-based topic models have been proposed</a:t>
            </a:r>
          </a:p>
          <a:p>
            <a:pPr lvl="3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Guided by user-specified prior domain knowledge.</a:t>
            </a:r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90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D3EF-2970-A4A3-3887-537116A3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Sentiment (opinion) lexicon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3A898-C002-F10F-034F-7E4BE7D7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280"/>
            <a:ext cx="10515600" cy="4818025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>
                <a:solidFill>
                  <a:srgbClr val="FF0000"/>
                </a:solidFill>
              </a:rPr>
              <a:t>List of words or expressions</a:t>
            </a:r>
            <a:r>
              <a:rPr lang="en-GB" dirty="0"/>
              <a:t> used to express people’s subjective feeling and sentiments/opinions.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They are instrumental for sentiment analysis.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There seem to be endless variety of sentiment bearing expression.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Many of them are context dependent, not just application domain dependent.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Three main ways to compile such list: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Manual approach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Corpus-based approach</a:t>
            </a: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r>
              <a:rPr lang="en-GB" dirty="0"/>
              <a:t>Dictionary-based approach.</a:t>
            </a:r>
          </a:p>
          <a:p>
            <a:pPr marL="457200" lvl="1" indent="0" algn="just">
              <a:lnSpc>
                <a:spcPct val="140000"/>
              </a:lnSpc>
              <a:spcBef>
                <a:spcPts val="600"/>
              </a:spcBef>
              <a:buNone/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>
              <a:solidFill>
                <a:srgbClr val="FF0000"/>
              </a:solidFill>
            </a:endParaRPr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GB" dirty="0"/>
          </a:p>
          <a:p>
            <a:pPr lvl="1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lvl="2"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  <a:p>
            <a:pPr algn="just">
              <a:lnSpc>
                <a:spcPct val="14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28EAD-BC17-5138-A04D-D89BFFFFA3C7}"/>
              </a:ext>
            </a:extLst>
          </p:cNvPr>
          <p:cNvSpPr txBox="1"/>
          <p:nvPr/>
        </p:nvSpPr>
        <p:spPr>
          <a:xfrm>
            <a:off x="10068063" y="90707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OPINION MINING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324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2960</TotalTime>
  <Words>1937</Words>
  <Application>Microsoft Office PowerPoint</Application>
  <PresentationFormat>Widescreen</PresentationFormat>
  <Paragraphs>617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NATURAL LANGUAGE PROCESSING (NLP)</vt:lpstr>
      <vt:lpstr>Introduction</vt:lpstr>
      <vt:lpstr>Introduction</vt:lpstr>
      <vt:lpstr>Introduction</vt:lpstr>
      <vt:lpstr>A Model of opinion mining</vt:lpstr>
      <vt:lpstr>A Model of opinion mining</vt:lpstr>
      <vt:lpstr>A Model of opinion mining</vt:lpstr>
      <vt:lpstr>Opinion Summary</vt:lpstr>
      <vt:lpstr>Opinion Summary</vt:lpstr>
      <vt:lpstr>Opinion Summary</vt:lpstr>
      <vt:lpstr>Aspect-based Opinion Summary</vt:lpstr>
      <vt:lpstr>Reason for Opinion</vt:lpstr>
      <vt:lpstr>Qualifier of Opinion</vt:lpstr>
      <vt:lpstr>Sentiment classification</vt:lpstr>
      <vt:lpstr>Sentiment classification</vt:lpstr>
      <vt:lpstr>Sentiment classification</vt:lpstr>
      <vt:lpstr>Sentiment classification</vt:lpstr>
      <vt:lpstr>Sentiment classification</vt:lpstr>
      <vt:lpstr>Sentence sentiment analysis</vt:lpstr>
      <vt:lpstr>Sentence sentiment analysis</vt:lpstr>
      <vt:lpstr>Segmentation and classification</vt:lpstr>
      <vt:lpstr>Aspect extraction</vt:lpstr>
      <vt:lpstr>Aspect extraction</vt:lpstr>
      <vt:lpstr>Aspect extraction</vt:lpstr>
      <vt:lpstr>Aspect extraction</vt:lpstr>
      <vt:lpstr>Aspect extraction</vt:lpstr>
      <vt:lpstr>Aspect extraction</vt:lpstr>
      <vt:lpstr>Aspect extraction</vt:lpstr>
      <vt:lpstr>Aspect extraction</vt:lpstr>
      <vt:lpstr>Aspect extraction</vt:lpstr>
      <vt:lpstr>Aspect extraction</vt:lpstr>
      <vt:lpstr>Sentiment (opinion) lexicon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  TECHNOLOGY AND MANAGEMENT</dc:title>
  <dc:creator>Quoc Dinh</dc:creator>
  <cp:lastModifiedBy>Quoc Dinh Truong</cp:lastModifiedBy>
  <cp:revision>359</cp:revision>
  <dcterms:created xsi:type="dcterms:W3CDTF">2023-02-12T07:59:05Z</dcterms:created>
  <dcterms:modified xsi:type="dcterms:W3CDTF">2023-10-15T02:48:24Z</dcterms:modified>
</cp:coreProperties>
</file>