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313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14" r:id="rId25"/>
    <p:sldId id="315" r:id="rId26"/>
    <p:sldId id="316" r:id="rId27"/>
    <p:sldId id="317" r:id="rId28"/>
    <p:sldId id="318" r:id="rId29"/>
    <p:sldId id="319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312" r:id="rId46"/>
    <p:sldId id="294" r:id="rId47"/>
    <p:sldId id="295" r:id="rId48"/>
    <p:sldId id="296" r:id="rId49"/>
    <p:sldId id="297" r:id="rId50"/>
    <p:sldId id="298" r:id="rId51"/>
    <p:sldId id="299" r:id="rId52"/>
    <p:sldId id="301" r:id="rId53"/>
    <p:sldId id="300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E99A-335F-ED7F-86D0-0B7CF2470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F235E-5D24-0BE9-BF11-46BFC2709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0A96E-2860-BCD7-F55B-182014DA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773D-AE93-A02A-6965-7C74FB6B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E86D-A9FC-290D-6781-4C389E1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6FF6-DEE9-493C-E46D-63782C4D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515600" cy="83944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DE08-2A33-6A3B-E103-AC51002E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1"/>
            <a:ext cx="10515600" cy="435133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F7C3-2FAB-C484-6315-F827735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7E93-8C4D-FD47-B07A-22F7D009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216EA-0442-6D89-117E-5485D9FC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AAF8C-4CA0-2153-4719-8AF166288AFE}"/>
              </a:ext>
            </a:extLst>
          </p:cNvPr>
          <p:cNvSpPr/>
          <p:nvPr userDrawn="1"/>
        </p:nvSpPr>
        <p:spPr>
          <a:xfrm>
            <a:off x="0" y="0"/>
            <a:ext cx="12192000" cy="523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9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8A4C-8204-6892-A09E-93E12171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46984-56F7-FA99-F48E-9FFF651E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DBE8-1C5B-5755-6697-4F6DE5C6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4E5E-8A2C-A43B-539B-287BA13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9404-F36E-F7DF-BEA1-AA9319B8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94AD-360A-D577-B7C0-AB00A171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1603-89C1-FC93-C87D-DD9F0D6A6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0A722-2683-C5C6-9D61-A6F686EAF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A4CA-41F0-60AE-1281-2E910DD1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C1F4D-154D-575F-8F99-9FABDADA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2F91-3C80-21AE-32FD-C0349F95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BBF8-5359-6895-E013-43D0C721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E158-3737-B86B-240F-B8B6D498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6613-850C-5C90-AB92-370A1F59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1CBEE-EA50-17F4-B300-978008091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7B828-9D0D-FC4E-21DE-7001E2443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38E6C-D003-7D42-7A48-1DA927B6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A02F-4800-8F6A-4D1C-50504BF0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5F13F-2A3C-9EE2-DA73-1FA914FC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7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BA8C-9F64-2902-6899-1DCCA67D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32632-7821-FEA0-46B4-428643F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61020-63D4-EA2B-3CE2-C4EA6490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CD84-094F-B6C6-317E-5397DFC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C4B82-FAAF-A638-CC82-C5CF85E6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E16BB-B1CE-47C0-4CA3-98A8429C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CB38-CA25-25F3-A28C-96974122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7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9FC1-F1B4-935D-223B-FF9026DE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0D69-EDE1-5722-D309-DB74E5D2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7919C-0284-8FC2-8AF8-E25D25F80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10F71-DD33-A945-40E5-157809B8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940B1-4E0A-86FD-DB63-FA2EDE62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E100-F3B2-E810-C9C7-B346E02C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DE2E-D7A6-EB4A-7B77-F1EE606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0C683-9447-7295-1D95-CA429675F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55656-3260-BA45-D5C5-A4A906CA3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30B4-C7E4-49A2-E68D-EBC17442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7556-ED10-0DAB-114D-AE364E1E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30525-5767-96D8-DA6E-C5791240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7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308-92A2-CD96-E4A7-5ACC420F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02245-9478-3604-C050-B4F9826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ADED-100D-52F8-4EE0-793837A6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5FC5C-2137-AE4A-4950-01E70865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C086-2164-BAE9-81EE-35F0E9B9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3CDAD-A588-4656-1B11-CBEBBDB72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442F-AFBA-259D-DAE7-29B627B16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B83D2-2AD9-3F78-ED0E-E4444D2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4F7E-85E4-FC71-7083-0D75E158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1AD8-951D-1067-551D-B82ED41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23170-379D-8CDF-FE8D-D3AE2C26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EF52-E98F-D16B-0738-A8D2E7E5D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30B8-00DE-D6C8-0398-7AAA7AFE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B2EA0-E1B1-43E6-876E-C527C1A5BF5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018A-AECB-D062-3BFC-E27F832CD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597D-92D6-84ED-B67D-23F22CD10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685F-167A-9803-8F39-BA4F09949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64" y="884049"/>
            <a:ext cx="11397007" cy="14323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B5F2-AD2D-4D4A-9903-17DF5CFC1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795" y="2819614"/>
            <a:ext cx="10202944" cy="1655762"/>
          </a:xfrm>
        </p:spPr>
        <p:txBody>
          <a:bodyPr/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Chapter 1: INTRODUCTION TO NLP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BB6B7B-B524-7EBB-585A-DB0BAABB3569}"/>
              </a:ext>
            </a:extLst>
          </p:cNvPr>
          <p:cNvSpPr txBox="1">
            <a:spLocks/>
          </p:cNvSpPr>
          <p:nvPr/>
        </p:nvSpPr>
        <p:spPr>
          <a:xfrm>
            <a:off x="304800" y="5009496"/>
            <a:ext cx="1170790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Trương Quốc Định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Systems – College of Information &amp; Communication Technology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2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Thank to an increased interest in </a:t>
            </a:r>
            <a:r>
              <a:rPr lang="en-GB" dirty="0">
                <a:solidFill>
                  <a:srgbClr val="FF0000"/>
                </a:solidFill>
              </a:rPr>
              <a:t>human-to-machine communications</a:t>
            </a:r>
            <a:r>
              <a:rPr lang="en-GB" dirty="0"/>
              <a:t>, plus an availability of </a:t>
            </a:r>
            <a:r>
              <a:rPr lang="en-GB" dirty="0">
                <a:solidFill>
                  <a:srgbClr val="FF0000"/>
                </a:solidFill>
              </a:rPr>
              <a:t>big data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It is possible for computers to </a:t>
            </a:r>
            <a:r>
              <a:rPr lang="en-GB" dirty="0">
                <a:solidFill>
                  <a:srgbClr val="00B050"/>
                </a:solidFill>
              </a:rPr>
              <a:t>read text, hear speech, interpret it, measure sentiment and determine which parts are important</a:t>
            </a:r>
            <a:r>
              <a:rPr lang="en-GB" dirty="0"/>
              <a:t>?</a:t>
            </a:r>
            <a:endParaRPr lang="en-US" dirty="0"/>
          </a:p>
          <a:p>
            <a:pPr algn="just"/>
            <a:r>
              <a:rPr lang="en-GB" dirty="0"/>
              <a:t>Considering the staggering </a:t>
            </a:r>
            <a:r>
              <a:rPr lang="en-GB" dirty="0">
                <a:solidFill>
                  <a:srgbClr val="FF0000"/>
                </a:solidFill>
              </a:rPr>
              <a:t>amount of unstructured data that’s generated every day</a:t>
            </a:r>
            <a:r>
              <a:rPr lang="en-GB" dirty="0"/>
              <a:t>, from medical records to social media.</a:t>
            </a:r>
          </a:p>
          <a:p>
            <a:pPr lvl="1" algn="just"/>
            <a:r>
              <a:rPr lang="en-GB" dirty="0">
                <a:solidFill>
                  <a:srgbClr val="00B050"/>
                </a:solidFill>
              </a:rPr>
              <a:t>Machines</a:t>
            </a:r>
            <a:r>
              <a:rPr lang="en-GB" dirty="0"/>
              <a:t> must </a:t>
            </a:r>
            <a:r>
              <a:rPr lang="en-GB" dirty="0">
                <a:solidFill>
                  <a:srgbClr val="00B050"/>
                </a:solidFill>
              </a:rPr>
              <a:t>analyse</a:t>
            </a:r>
            <a:r>
              <a:rPr lang="en-GB" dirty="0"/>
              <a:t> more </a:t>
            </a:r>
            <a:r>
              <a:rPr lang="en-GB" dirty="0">
                <a:solidFill>
                  <a:srgbClr val="00B050"/>
                </a:solidFill>
              </a:rPr>
              <a:t>language-based data</a:t>
            </a:r>
            <a:r>
              <a:rPr lang="en-GB" dirty="0"/>
              <a:t> than humans.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9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Go beyond the keyword matching</a:t>
            </a:r>
          </a:p>
          <a:p>
            <a:pPr lvl="1" algn="just"/>
            <a:r>
              <a:rPr lang="en-GB" dirty="0"/>
              <a:t>Identify the </a:t>
            </a:r>
            <a:r>
              <a:rPr lang="en-GB" dirty="0">
                <a:solidFill>
                  <a:srgbClr val="FF0000"/>
                </a:solidFill>
              </a:rPr>
              <a:t>structure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meaning of words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sentences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texts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conversations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45717D-0F93-24B4-A320-6DA2F855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37" y="3426175"/>
            <a:ext cx="4127553" cy="2633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14D2F4-A303-BEEE-4294-E7E5E91E1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711" y="3426175"/>
            <a:ext cx="3951478" cy="255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9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Wiki: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NLP</a:t>
            </a:r>
            <a:r>
              <a:rPr lang="en-GB" dirty="0"/>
              <a:t> is a field of </a:t>
            </a:r>
            <a:r>
              <a:rPr lang="en-GB" i="1" dirty="0">
                <a:solidFill>
                  <a:srgbClr val="FF0000"/>
                </a:solidFill>
              </a:rPr>
              <a:t>computer science, artificial intelligence, and computational linguistics</a:t>
            </a:r>
            <a:r>
              <a:rPr lang="en-GB" dirty="0"/>
              <a:t> concerned with the </a:t>
            </a:r>
            <a:r>
              <a:rPr lang="en-GB" dirty="0">
                <a:solidFill>
                  <a:srgbClr val="00B050"/>
                </a:solidFill>
              </a:rPr>
              <a:t>interactions between computers and human (natural) languages</a:t>
            </a:r>
            <a:r>
              <a:rPr lang="en-GB" dirty="0"/>
              <a:t>.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Computational methods</a:t>
            </a:r>
            <a:r>
              <a:rPr lang="en-GB" dirty="0"/>
              <a:t> for </a:t>
            </a:r>
            <a:r>
              <a:rPr lang="en-GB" dirty="0">
                <a:solidFill>
                  <a:srgbClr val="00B050"/>
                </a:solidFill>
              </a:rPr>
              <a:t>understanding</a:t>
            </a:r>
            <a:r>
              <a:rPr lang="en-GB" dirty="0"/>
              <a:t> or </a:t>
            </a:r>
            <a:r>
              <a:rPr lang="en-GB" dirty="0">
                <a:solidFill>
                  <a:srgbClr val="00B050"/>
                </a:solidFill>
              </a:rPr>
              <a:t>generating</a:t>
            </a:r>
            <a:r>
              <a:rPr lang="en-GB" dirty="0"/>
              <a:t> natural language.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10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Classical </a:t>
            </a:r>
            <a:r>
              <a:rPr lang="en-US" dirty="0">
                <a:solidFill>
                  <a:srgbClr val="FF0000"/>
                </a:solidFill>
              </a:rPr>
              <a:t>divide and conquer</a:t>
            </a:r>
          </a:p>
          <a:p>
            <a:pPr lvl="1" algn="just"/>
            <a:r>
              <a:rPr lang="en-GB" dirty="0">
                <a:solidFill>
                  <a:srgbClr val="00B050"/>
                </a:solidFill>
              </a:rPr>
              <a:t>break up into smaller tasks</a:t>
            </a:r>
            <a:r>
              <a:rPr lang="en-GB" dirty="0"/>
              <a:t>,</a:t>
            </a:r>
          </a:p>
          <a:p>
            <a:pPr lvl="1" algn="just"/>
            <a:r>
              <a:rPr lang="en-GB" dirty="0"/>
              <a:t>develop methods to solve those tasks,</a:t>
            </a:r>
          </a:p>
          <a:p>
            <a:pPr lvl="1" algn="just"/>
            <a:r>
              <a:rPr lang="en-GB" dirty="0"/>
              <a:t>combine tasks into a “pipeline” to solve overall task,</a:t>
            </a:r>
          </a:p>
          <a:p>
            <a:pPr lvl="1" algn="just"/>
            <a:r>
              <a:rPr lang="en-GB" dirty="0"/>
              <a:t>for </a:t>
            </a:r>
            <a:r>
              <a:rPr lang="en-GB" dirty="0">
                <a:solidFill>
                  <a:srgbClr val="FF0000"/>
                </a:solidFill>
              </a:rPr>
              <a:t>each task</a:t>
            </a:r>
            <a:r>
              <a:rPr lang="en-GB" dirty="0"/>
              <a:t>, there can be many </a:t>
            </a:r>
            <a:r>
              <a:rPr lang="en-GB" i="1" dirty="0">
                <a:solidFill>
                  <a:srgbClr val="FF0000"/>
                </a:solidFill>
              </a:rPr>
              <a:t>different possible approaches,</a:t>
            </a:r>
          </a:p>
          <a:p>
            <a:pPr lvl="1" algn="just"/>
            <a:r>
              <a:rPr lang="en-GB" dirty="0"/>
              <a:t>some or all of the sub-tasks may be based on some form of machine learning.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C4278-4D3B-B45F-0880-F391EA280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16" y="4993201"/>
            <a:ext cx="9155568" cy="15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57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End-to-end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Single (Deep-Learning) model</a:t>
            </a:r>
            <a:r>
              <a:rPr lang="en-GB" dirty="0"/>
              <a:t> that does it all in one go</a:t>
            </a:r>
          </a:p>
          <a:p>
            <a:pPr lvl="1" algn="just"/>
            <a:r>
              <a:rPr lang="en-GB" dirty="0"/>
              <a:t>But, some NLP tasks (Tokenization) and ML tasks (data-loaders, batching..) are still needed.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52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Deep Learning for Natural Language Processing - YouTube">
            <a:extLst>
              <a:ext uri="{FF2B5EF4-FFF2-40B4-BE49-F238E27FC236}">
                <a16:creationId xmlns:a16="http://schemas.microsoft.com/office/drawing/2014/main" id="{656917A5-E9D7-92A1-566F-5FE9468A5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100" y="1708281"/>
            <a:ext cx="8993799" cy="50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22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Sentence splitting, Tokenization</a:t>
            </a:r>
          </a:p>
          <a:p>
            <a:pPr algn="just"/>
            <a:r>
              <a:rPr lang="en-US" dirty="0"/>
              <a:t>Stemming, Lemmatization, POS tagging</a:t>
            </a:r>
          </a:p>
          <a:p>
            <a:pPr algn="just"/>
            <a:r>
              <a:rPr lang="en-US" dirty="0"/>
              <a:t>Parsing</a:t>
            </a:r>
          </a:p>
          <a:p>
            <a:pPr algn="just"/>
            <a:r>
              <a:rPr lang="en-US" dirty="0"/>
              <a:t>Named Entity Recognition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467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B050"/>
                </a:solidFill>
              </a:rPr>
              <a:t>Sentence splitting</a:t>
            </a:r>
          </a:p>
          <a:p>
            <a:pPr lvl="1" algn="just"/>
            <a:r>
              <a:rPr lang="en-GB" dirty="0"/>
              <a:t>The process of </a:t>
            </a:r>
            <a:r>
              <a:rPr lang="en-GB" dirty="0">
                <a:solidFill>
                  <a:srgbClr val="FF0000"/>
                </a:solidFill>
              </a:rPr>
              <a:t>separating free-flowing text into sentences</a:t>
            </a:r>
            <a:r>
              <a:rPr lang="en-GB" dirty="0"/>
              <a:t>. </a:t>
            </a:r>
          </a:p>
          <a:p>
            <a:pPr lvl="1" algn="just"/>
            <a:r>
              <a:rPr lang="en-GB" dirty="0"/>
              <a:t>It is one of the first steps in any natural language processing (NLP) application.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A period (.)</a:t>
            </a:r>
            <a:r>
              <a:rPr lang="en-GB" dirty="0"/>
              <a:t> may indicate </a:t>
            </a:r>
            <a:r>
              <a:rPr lang="en-GB" dirty="0">
                <a:solidFill>
                  <a:srgbClr val="FF0000"/>
                </a:solidFill>
              </a:rPr>
              <a:t>the end of a sentence</a:t>
            </a:r>
          </a:p>
          <a:p>
            <a:pPr lvl="2" algn="just"/>
            <a:r>
              <a:rPr lang="en-GB" dirty="0"/>
              <a:t>or may denote an abbreviation, a decimal point, an ellipsis, or an email address, among other possibilities. 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Question marks and exclamation marks</a:t>
            </a:r>
            <a:r>
              <a:rPr lang="en-GB" dirty="0"/>
              <a:t> can be similarly ambiguous due to use in emoticons, computer code, and slang.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0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B050"/>
                </a:solidFill>
              </a:rPr>
              <a:t>Tokenization</a:t>
            </a:r>
          </a:p>
          <a:p>
            <a:pPr lvl="1" algn="just"/>
            <a:r>
              <a:rPr lang="en-GB" dirty="0"/>
              <a:t>What is a word? </a:t>
            </a:r>
          </a:p>
          <a:p>
            <a:pPr lvl="2" algn="just"/>
            <a:r>
              <a:rPr lang="en-GB" dirty="0"/>
              <a:t>“It’s”, “don’t”, “data-mining”, “</a:t>
            </a:r>
            <a:r>
              <a:rPr lang="en-GB" dirty="0" err="1"/>
              <a:t>trường</a:t>
            </a:r>
            <a:r>
              <a:rPr lang="en-GB" dirty="0"/>
              <a:t>”, “</a:t>
            </a:r>
            <a:r>
              <a:rPr lang="en-GB" dirty="0" err="1"/>
              <a:t>trường</a:t>
            </a:r>
            <a:r>
              <a:rPr lang="en-GB" dirty="0"/>
              <a:t> </a:t>
            </a:r>
            <a:r>
              <a:rPr lang="en-GB" dirty="0" err="1"/>
              <a:t>học</a:t>
            </a:r>
            <a:r>
              <a:rPr lang="en-GB" dirty="0"/>
              <a:t>”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Divide into units</a:t>
            </a:r>
            <a:r>
              <a:rPr lang="en-GB" dirty="0"/>
              <a:t> to process and call it a “</a:t>
            </a:r>
            <a:r>
              <a:rPr lang="en-GB" dirty="0">
                <a:solidFill>
                  <a:srgbClr val="FF0000"/>
                </a:solidFill>
              </a:rPr>
              <a:t>Token</a:t>
            </a:r>
            <a:r>
              <a:rPr lang="en-GB" dirty="0"/>
              <a:t>”.</a:t>
            </a:r>
          </a:p>
          <a:p>
            <a:pPr lvl="2" algn="just"/>
            <a:r>
              <a:rPr lang="en-GB" dirty="0"/>
              <a:t>White space does not work for each language (e.g. Chinese, Turkish, Vietnamese) → sub-word units</a:t>
            </a:r>
          </a:p>
          <a:p>
            <a:pPr lvl="2" algn="just"/>
            <a:r>
              <a:rPr lang="en-GB" dirty="0"/>
              <a:t>Can have multi-word tokens, e.g. “New York Times”, “kick the bucket”, “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nghệ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tin”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Result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text</a:t>
            </a:r>
            <a:r>
              <a:rPr lang="en-GB" dirty="0"/>
              <a:t> is represented as a </a:t>
            </a:r>
            <a:r>
              <a:rPr lang="en-GB" i="1" dirty="0">
                <a:solidFill>
                  <a:srgbClr val="FF0000"/>
                </a:solidFill>
              </a:rPr>
              <a:t>sequence of Tokens.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54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B824-C815-E474-6900-638D3BFD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C54E-E7BE-FD4B-2AFF-E21E8545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05C04-BDA6-08AE-4E77-2FF5933B8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B050"/>
                </a:solidFill>
              </a:rPr>
              <a:t>Vietnamese word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C7FEA-E45A-A1A4-9BB2-47E4ACAB603F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7481B3-4790-7DE2-57A0-DC046541C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19237"/>
              </p:ext>
            </p:extLst>
          </p:nvPr>
        </p:nvGraphicFramePr>
        <p:xfrm>
          <a:off x="587828" y="2586010"/>
          <a:ext cx="6501362" cy="2595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67151">
                  <a:extLst>
                    <a:ext uri="{9D8B030D-6E8A-4147-A177-3AD203B41FA5}">
                      <a16:colId xmlns:a16="http://schemas.microsoft.com/office/drawing/2014/main" val="794737247"/>
                    </a:ext>
                  </a:extLst>
                </a:gridCol>
                <a:gridCol w="1418026">
                  <a:extLst>
                    <a:ext uri="{9D8B030D-6E8A-4147-A177-3AD203B41FA5}">
                      <a16:colId xmlns:a16="http://schemas.microsoft.com/office/drawing/2014/main" val="951803533"/>
                    </a:ext>
                  </a:extLst>
                </a:gridCol>
                <a:gridCol w="1149348">
                  <a:extLst>
                    <a:ext uri="{9D8B030D-6E8A-4147-A177-3AD203B41FA5}">
                      <a16:colId xmlns:a16="http://schemas.microsoft.com/office/drawing/2014/main" val="2168238308"/>
                    </a:ext>
                  </a:extLst>
                </a:gridCol>
                <a:gridCol w="1066837">
                  <a:extLst>
                    <a:ext uri="{9D8B030D-6E8A-4147-A177-3AD203B41FA5}">
                      <a16:colId xmlns:a16="http://schemas.microsoft.com/office/drawing/2014/main" val="1220419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57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vnTokenizer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99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JVnSegmenter-Maxent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1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JVnSegmenter-CRFs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46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DongDu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417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UETsegmenter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97.51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18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VnCoreNLP (</a:t>
                      </a:r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RDRSegmenter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98.35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97.90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2665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1F9049E-F60F-7C56-5B95-79F5021C2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150" y="1839407"/>
            <a:ext cx="4082144" cy="408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2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CF5B9-5249-53C6-E449-66F67F79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50" y="2486727"/>
            <a:ext cx="4446304" cy="386962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047AB6-05EB-6BA7-3E3B-C0B7FB738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VnCoreNLP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3119E-E608-DD98-AEAD-A5A1DF66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973" y="1185441"/>
            <a:ext cx="4567252" cy="16660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0F0B90-C53A-6AA7-27F2-8947EB696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973" y="4409905"/>
            <a:ext cx="4056701" cy="22710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E396AE-693E-7599-46F1-3300C389D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973" y="2969974"/>
            <a:ext cx="5744377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5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89024" cy="477320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sz="2600" dirty="0">
                <a:solidFill>
                  <a:srgbClr val="FF0000"/>
                </a:solidFill>
              </a:rPr>
              <a:t>VnCoreNLP: </a:t>
            </a:r>
            <a:r>
              <a:rPr lang="en-GB" sz="2600" dirty="0">
                <a:solidFill>
                  <a:srgbClr val="FF0000"/>
                </a:solidFill>
              </a:rPr>
              <a:t>A Fast and Accurate Vietnamese Word Segmenter.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method starts with a </a:t>
            </a:r>
            <a:r>
              <a:rPr lang="en-GB" dirty="0">
                <a:solidFill>
                  <a:srgbClr val="00B050"/>
                </a:solidFill>
              </a:rPr>
              <a:t>manually word segmented sentences</a:t>
            </a:r>
            <a:r>
              <a:rPr lang="en-GB" dirty="0"/>
              <a:t> (e.g. “</a:t>
            </a:r>
            <a:r>
              <a:rPr lang="en-GB" dirty="0" err="1"/>
              <a:t>thuế_thu_nhập</a:t>
            </a:r>
            <a:r>
              <a:rPr lang="en-GB" dirty="0"/>
              <a:t> </a:t>
            </a:r>
            <a:r>
              <a:rPr lang="en-GB" dirty="0" err="1"/>
              <a:t>cá_nhân</a:t>
            </a:r>
            <a:r>
              <a:rPr lang="en-GB" dirty="0"/>
              <a:t>”) and </a:t>
            </a:r>
            <a:r>
              <a:rPr lang="en-GB" dirty="0">
                <a:solidFill>
                  <a:srgbClr val="00B050"/>
                </a:solidFill>
              </a:rPr>
              <a:t>its BI-formed representation</a:t>
            </a:r>
            <a:r>
              <a:rPr lang="en-GB" dirty="0"/>
              <a:t> (e.g. “</a:t>
            </a:r>
            <a:r>
              <a:rPr lang="en-GB" dirty="0" err="1"/>
              <a:t>thuế</a:t>
            </a:r>
            <a:r>
              <a:rPr lang="en-GB" dirty="0"/>
              <a:t>/B </a:t>
            </a:r>
            <a:r>
              <a:rPr lang="en-GB" dirty="0" err="1"/>
              <a:t>thu</a:t>
            </a:r>
            <a:r>
              <a:rPr lang="en-GB" dirty="0"/>
              <a:t>/I </a:t>
            </a:r>
            <a:r>
              <a:rPr lang="en-GB" dirty="0" err="1"/>
              <a:t>nhập</a:t>
            </a:r>
            <a:r>
              <a:rPr lang="en-GB" dirty="0"/>
              <a:t>/I </a:t>
            </a:r>
            <a:r>
              <a:rPr lang="en-GB" dirty="0" err="1"/>
              <a:t>cá</a:t>
            </a:r>
            <a:r>
              <a:rPr lang="en-GB" dirty="0"/>
              <a:t>/B </a:t>
            </a:r>
            <a:r>
              <a:rPr lang="en-GB" dirty="0" err="1"/>
              <a:t>nhân</a:t>
            </a:r>
            <a:r>
              <a:rPr lang="en-GB" dirty="0"/>
              <a:t>/I”).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Then the </a:t>
            </a:r>
            <a:r>
              <a:rPr lang="en-GB" dirty="0">
                <a:solidFill>
                  <a:srgbClr val="00B050"/>
                </a:solidFill>
              </a:rPr>
              <a:t>syllables are extracted</a:t>
            </a:r>
            <a:r>
              <a:rPr lang="en-GB" dirty="0"/>
              <a:t> to </a:t>
            </a:r>
            <a:r>
              <a:rPr lang="en-GB" dirty="0">
                <a:solidFill>
                  <a:srgbClr val="00B050"/>
                </a:solidFill>
              </a:rPr>
              <a:t>construct the raw corpus</a:t>
            </a:r>
            <a:r>
              <a:rPr lang="en-GB" dirty="0"/>
              <a:t> (“</a:t>
            </a:r>
            <a:r>
              <a:rPr lang="en-GB" dirty="0" err="1"/>
              <a:t>thuế</a:t>
            </a:r>
            <a:r>
              <a:rPr lang="en-GB" dirty="0"/>
              <a:t> </a:t>
            </a:r>
            <a:r>
              <a:rPr lang="en-GB" dirty="0" err="1"/>
              <a:t>thu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cá</a:t>
            </a:r>
            <a:r>
              <a:rPr lang="en-GB" dirty="0"/>
              <a:t> </a:t>
            </a:r>
            <a:r>
              <a:rPr lang="en-GB" dirty="0" err="1"/>
              <a:t>nhân</a:t>
            </a:r>
            <a:r>
              <a:rPr lang="en-GB" dirty="0"/>
              <a:t>”).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initial segmenter (the longest matching strategy) is applied on the input raw corpus.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“</a:t>
            </a:r>
            <a:r>
              <a:rPr lang="en-GB" dirty="0" err="1"/>
              <a:t>thuế</a:t>
            </a:r>
            <a:r>
              <a:rPr lang="en-GB" dirty="0"/>
              <a:t> </a:t>
            </a:r>
            <a:r>
              <a:rPr lang="en-GB" dirty="0" err="1"/>
              <a:t>thu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cá</a:t>
            </a:r>
            <a:r>
              <a:rPr lang="en-GB" dirty="0"/>
              <a:t> </a:t>
            </a:r>
            <a:r>
              <a:rPr lang="en-GB" dirty="0" err="1"/>
              <a:t>nhân</a:t>
            </a:r>
            <a:r>
              <a:rPr lang="en-GB" dirty="0"/>
              <a:t>” </a:t>
            </a:r>
            <a:r>
              <a:rPr lang="en-GB" dirty="0">
                <a:sym typeface="Symbol" panose="05050102010706020507" pitchFamily="18" charset="2"/>
              </a:rPr>
              <a:t> </a:t>
            </a:r>
            <a:r>
              <a:rPr lang="en-GB" dirty="0"/>
              <a:t>“</a:t>
            </a:r>
            <a:r>
              <a:rPr lang="en-GB" dirty="0" err="1"/>
              <a:t>thuế</a:t>
            </a:r>
            <a:r>
              <a:rPr lang="en-GB" dirty="0"/>
              <a:t>/B </a:t>
            </a:r>
            <a:r>
              <a:rPr lang="en-GB" dirty="0" err="1"/>
              <a:t>thu</a:t>
            </a:r>
            <a:r>
              <a:rPr lang="en-GB" dirty="0"/>
              <a:t>/B </a:t>
            </a:r>
            <a:r>
              <a:rPr lang="en-GB" dirty="0" err="1"/>
              <a:t>nhập</a:t>
            </a:r>
            <a:r>
              <a:rPr lang="en-GB" dirty="0"/>
              <a:t>/I </a:t>
            </a:r>
            <a:r>
              <a:rPr lang="en-GB" dirty="0" err="1"/>
              <a:t>cá</a:t>
            </a:r>
            <a:r>
              <a:rPr lang="en-GB" dirty="0"/>
              <a:t>/B </a:t>
            </a:r>
            <a:r>
              <a:rPr lang="en-GB" dirty="0" err="1"/>
              <a:t>nhân</a:t>
            </a:r>
            <a:r>
              <a:rPr lang="en-GB" dirty="0"/>
              <a:t>/I.”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BI-formed gold standard corpus and the BI-formed initialized corpus are compared to generate a </a:t>
            </a:r>
            <a:r>
              <a:rPr lang="en-GB" dirty="0">
                <a:solidFill>
                  <a:srgbClr val="FF0000"/>
                </a:solidFill>
              </a:rPr>
              <a:t>5-syllable context dictionary D</a:t>
            </a:r>
            <a:r>
              <a:rPr lang="en-GB" dirty="0"/>
              <a:t> where each key-value pair consists of a 5-syllable window tuple as key and a gold standard tag as value.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Based on the 5-syllable context dictionary D, the rule selector selects the most suitable rules to construct the SCRDR (Single Classification Ripple Down Rules) tree.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27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Stemming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The process of producing morphological variants of a root/base word. 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“retrieval”, “retrieved”, “retrieves” </a:t>
            </a:r>
            <a:r>
              <a:rPr lang="en-GB" dirty="0">
                <a:sym typeface="Symbol" panose="05050102010706020507" pitchFamily="18" charset="2"/>
              </a:rPr>
              <a:t></a:t>
            </a:r>
            <a:r>
              <a:rPr lang="en-GB" dirty="0"/>
              <a:t> “retrieve”.  </a:t>
            </a:r>
            <a:endParaRPr lang="en-US" dirty="0"/>
          </a:p>
          <a:p>
            <a:pPr algn="just"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Lemmatization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The process of grouping together different inflected forms of the same word.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Lemmatization </a:t>
            </a:r>
            <a:r>
              <a:rPr lang="en-GB" dirty="0">
                <a:solidFill>
                  <a:srgbClr val="FF0000"/>
                </a:solidFill>
              </a:rPr>
              <a:t>links similar meaning words as one word</a:t>
            </a:r>
            <a:r>
              <a:rPr lang="en-GB" dirty="0"/>
              <a:t>, making tools such as </a:t>
            </a:r>
            <a:r>
              <a:rPr lang="en-GB" dirty="0">
                <a:solidFill>
                  <a:srgbClr val="00B050"/>
                </a:solidFill>
              </a:rPr>
              <a:t>chatbots and search engine queries more effective and accurate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8" name="Picture 4" descr="Differentiate between stemming and lemmatization. Explain with the help of  an example. | Aiforkids">
            <a:extLst>
              <a:ext uri="{FF2B5EF4-FFF2-40B4-BE49-F238E27FC236}">
                <a16:creationId xmlns:a16="http://schemas.microsoft.com/office/drawing/2014/main" id="{E1D22691-C1E7-B172-ADB8-CC80E6DDE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791" y="5340092"/>
            <a:ext cx="4148417" cy="143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378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POS tagging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The process of </a:t>
            </a:r>
            <a:r>
              <a:rPr lang="en-GB" dirty="0">
                <a:solidFill>
                  <a:srgbClr val="00B050"/>
                </a:solidFill>
              </a:rPr>
              <a:t>assigning one of the parts of speech to the given word</a:t>
            </a:r>
            <a:r>
              <a:rPr lang="en-GB" dirty="0"/>
              <a:t>. 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In simple words, we can say that POS tagging is a task of labelling </a:t>
            </a:r>
            <a:r>
              <a:rPr lang="en-GB" i="1" dirty="0">
                <a:solidFill>
                  <a:srgbClr val="FF0000"/>
                </a:solidFill>
              </a:rPr>
              <a:t>each word in a sentence</a:t>
            </a:r>
            <a:r>
              <a:rPr lang="en-GB" dirty="0"/>
              <a:t> with </a:t>
            </a:r>
            <a:r>
              <a:rPr lang="en-GB" i="1" dirty="0">
                <a:solidFill>
                  <a:srgbClr val="FF0000"/>
                </a:solidFill>
              </a:rPr>
              <a:t>its appropriate part of speech</a:t>
            </a:r>
            <a:r>
              <a:rPr lang="en-GB" dirty="0"/>
              <a:t>. 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Parts of speech include nouns, verb, adverbs, adjectives, pronouns, conjunction and their sub-categories.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Most of the POS tagging falls under </a:t>
            </a:r>
            <a:r>
              <a:rPr lang="en-GB" dirty="0">
                <a:solidFill>
                  <a:srgbClr val="00B050"/>
                </a:solidFill>
              </a:rPr>
              <a:t>Rule Base POS tagging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Stochastic POS tagging, </a:t>
            </a:r>
            <a:r>
              <a:rPr lang="da-DK" dirty="0">
                <a:solidFill>
                  <a:srgbClr val="00B050"/>
                </a:solidFill>
              </a:rPr>
              <a:t>Hidden Markov Model (HMM) POS Tagging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462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POS tagging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Rule-based POS Tagging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Words are assigned POS tags based on their characteristics and the context in which they appear.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Rule-based POS taggers can be relatively simple to implement and </a:t>
            </a:r>
            <a:r>
              <a:rPr lang="en-GB" i="1" dirty="0">
                <a:solidFill>
                  <a:srgbClr val="00B050"/>
                </a:solidFill>
              </a:rPr>
              <a:t>are often used as a starting point for more complex machine learning-based taggers</a:t>
            </a:r>
            <a:r>
              <a:rPr lang="en-GB" dirty="0"/>
              <a:t>.</a:t>
            </a:r>
          </a:p>
          <a:p>
            <a:pPr lvl="2" algn="just">
              <a:spcBef>
                <a:spcPts val="600"/>
              </a:spcBef>
            </a:pPr>
            <a:r>
              <a:rPr lang="en-GB" u="sng" dirty="0"/>
              <a:t>For example</a:t>
            </a:r>
            <a:r>
              <a:rPr lang="en-GB" dirty="0"/>
              <a:t>: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If the word ends in “-</a:t>
            </a:r>
            <a:r>
              <a:rPr lang="en-GB" dirty="0" err="1"/>
              <a:t>tion</a:t>
            </a:r>
            <a:r>
              <a:rPr lang="en-GB" dirty="0"/>
              <a:t>,” assign the tag “noun.”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If the word ends in “-</a:t>
            </a:r>
            <a:r>
              <a:rPr lang="en-GB" dirty="0" err="1"/>
              <a:t>ment</a:t>
            </a:r>
            <a:r>
              <a:rPr lang="en-GB" dirty="0"/>
              <a:t>,” assign the tag “noun.”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If the word is all uppercase, assign the tag “proper noun.” 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…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829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POS tagging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Stochastic POS Tagging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Word Frequency Approach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based on the </a:t>
            </a:r>
            <a:r>
              <a:rPr lang="en-GB" dirty="0">
                <a:solidFill>
                  <a:srgbClr val="FF0000"/>
                </a:solidFill>
              </a:rPr>
              <a:t>probability</a:t>
            </a:r>
            <a:r>
              <a:rPr lang="en-GB" dirty="0"/>
              <a:t> that a </a:t>
            </a:r>
            <a:r>
              <a:rPr lang="en-GB" dirty="0">
                <a:solidFill>
                  <a:srgbClr val="FF0000"/>
                </a:solidFill>
              </a:rPr>
              <a:t>word occurs with a particular tag</a:t>
            </a:r>
            <a:r>
              <a:rPr lang="en-GB" dirty="0"/>
              <a:t>.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it may yield inadmissible sequence of tags.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Tag Sequence Probabilities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It is also called </a:t>
            </a:r>
            <a:r>
              <a:rPr lang="en-GB" dirty="0">
                <a:solidFill>
                  <a:srgbClr val="FF0000"/>
                </a:solidFill>
              </a:rPr>
              <a:t>n-gram approach</a:t>
            </a:r>
            <a:r>
              <a:rPr lang="en-GB" dirty="0"/>
              <a:t>. 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best tag for a given word</a:t>
            </a:r>
            <a:r>
              <a:rPr lang="en-GB" dirty="0"/>
              <a:t> is determined by </a:t>
            </a:r>
            <a:r>
              <a:rPr lang="en-GB" dirty="0">
                <a:solidFill>
                  <a:srgbClr val="FF0000"/>
                </a:solidFill>
              </a:rPr>
              <a:t>the probability at which it occurs with the n previous tags</a:t>
            </a:r>
            <a:r>
              <a:rPr lang="en-GB" dirty="0"/>
              <a:t>.</a:t>
            </a:r>
            <a:endParaRPr lang="en-US" dirty="0"/>
          </a:p>
          <a:p>
            <a:pPr lvl="3" algn="just">
              <a:spcBef>
                <a:spcPts val="600"/>
              </a:spcBef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13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79"/>
            <a:ext cx="10771094" cy="4728379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POS tagging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Hidden Markov Model</a:t>
            </a:r>
          </a:p>
          <a:p>
            <a:pPr lvl="2" algn="just">
              <a:spcBef>
                <a:spcPts val="600"/>
              </a:spcBef>
            </a:pPr>
            <a:r>
              <a:rPr lang="en-GB" sz="2400" dirty="0"/>
              <a:t>Consists of </a:t>
            </a:r>
            <a:r>
              <a:rPr lang="en-GB" sz="2400" dirty="0">
                <a:solidFill>
                  <a:srgbClr val="FF0000"/>
                </a:solidFill>
              </a:rPr>
              <a:t>a set of states</a:t>
            </a:r>
            <a:r>
              <a:rPr lang="en-GB" sz="2400" dirty="0"/>
              <a:t>, each corresponding to a possible POS tag, and a </a:t>
            </a:r>
            <a:r>
              <a:rPr lang="en-GB" sz="2400" dirty="0">
                <a:solidFill>
                  <a:srgbClr val="FF0000"/>
                </a:solidFill>
              </a:rPr>
              <a:t>set of transitions between the states</a:t>
            </a:r>
            <a:r>
              <a:rPr lang="en-GB" sz="2400" dirty="0"/>
              <a:t>. </a:t>
            </a:r>
          </a:p>
          <a:p>
            <a:pPr lvl="2" algn="just">
              <a:spcBef>
                <a:spcPts val="600"/>
              </a:spcBef>
            </a:pPr>
            <a:r>
              <a:rPr lang="en-GB" sz="2400" dirty="0"/>
              <a:t>The model is trained on the </a:t>
            </a:r>
            <a:r>
              <a:rPr lang="en-GB" sz="2400" dirty="0">
                <a:solidFill>
                  <a:srgbClr val="FF0000"/>
                </a:solidFill>
              </a:rPr>
              <a:t>training data</a:t>
            </a:r>
            <a:r>
              <a:rPr lang="en-GB" sz="2400" dirty="0"/>
              <a:t> to learn the </a:t>
            </a:r>
            <a:r>
              <a:rPr lang="en-GB" sz="2400" dirty="0">
                <a:solidFill>
                  <a:srgbClr val="FF0000"/>
                </a:solidFill>
              </a:rPr>
              <a:t>probabilities of transitioning from one state to another</a:t>
            </a:r>
            <a:r>
              <a:rPr lang="en-GB" sz="2400" dirty="0"/>
              <a:t> and the </a:t>
            </a:r>
            <a:r>
              <a:rPr lang="en-GB" sz="2400" dirty="0">
                <a:solidFill>
                  <a:srgbClr val="FF0000"/>
                </a:solidFill>
              </a:rPr>
              <a:t>probabilities of observing different words given a particular state</a:t>
            </a:r>
            <a:r>
              <a:rPr lang="en-GB" sz="2400" dirty="0"/>
              <a:t>.</a:t>
            </a:r>
            <a:endParaRPr lang="en-US" sz="2400" dirty="0"/>
          </a:p>
          <a:p>
            <a:pPr lvl="3" algn="just">
              <a:spcBef>
                <a:spcPts val="600"/>
              </a:spcBef>
            </a:pPr>
            <a:r>
              <a:rPr lang="en-US" sz="2000" dirty="0"/>
              <a:t>tag transition probabilities:</a:t>
            </a:r>
            <a:r>
              <a:rPr lang="en-US" sz="2000" dirty="0">
                <a:solidFill>
                  <a:srgbClr val="00B050"/>
                </a:solidFill>
              </a:rPr>
              <a:t> P(t</a:t>
            </a:r>
            <a:r>
              <a:rPr lang="en-US" sz="2000" baseline="-25000" dirty="0">
                <a:solidFill>
                  <a:srgbClr val="00B050"/>
                </a:solidFill>
              </a:rPr>
              <a:t>i</a:t>
            </a:r>
            <a:r>
              <a:rPr lang="en-US" sz="2000" dirty="0">
                <a:solidFill>
                  <a:srgbClr val="00B050"/>
                </a:solidFill>
              </a:rPr>
              <a:t>|t</a:t>
            </a:r>
            <a:r>
              <a:rPr lang="en-US" sz="2000" baseline="-25000" dirty="0">
                <a:solidFill>
                  <a:srgbClr val="00B050"/>
                </a:solidFill>
              </a:rPr>
              <a:t>i−1</a:t>
            </a:r>
            <a:r>
              <a:rPr lang="en-US" sz="2000" dirty="0">
                <a:solidFill>
                  <a:srgbClr val="00B050"/>
                </a:solidFill>
              </a:rPr>
              <a:t>)</a:t>
            </a:r>
          </a:p>
          <a:p>
            <a:pPr lvl="3" algn="just">
              <a:spcBef>
                <a:spcPts val="600"/>
              </a:spcBef>
            </a:pPr>
            <a:r>
              <a:rPr lang="en-US" sz="2000" dirty="0"/>
              <a:t>word likelihood probabilities: </a:t>
            </a:r>
            <a:r>
              <a:rPr lang="en-US" sz="2000" dirty="0">
                <a:solidFill>
                  <a:srgbClr val="00B050"/>
                </a:solidFill>
              </a:rPr>
              <a:t>P(</a:t>
            </a:r>
            <a:r>
              <a:rPr lang="en-US" sz="2000" dirty="0" err="1">
                <a:solidFill>
                  <a:srgbClr val="00B050"/>
                </a:solidFill>
              </a:rPr>
              <a:t>w</a:t>
            </a:r>
            <a:r>
              <a:rPr lang="en-US" sz="2000" baseline="-25000" dirty="0" err="1">
                <a:solidFill>
                  <a:srgbClr val="00B050"/>
                </a:solidFill>
              </a:rPr>
              <a:t>i</a:t>
            </a:r>
            <a:r>
              <a:rPr lang="en-US" sz="2000" dirty="0" err="1">
                <a:solidFill>
                  <a:srgbClr val="00B050"/>
                </a:solidFill>
              </a:rPr>
              <a:t>|t</a:t>
            </a:r>
            <a:r>
              <a:rPr lang="en-US" sz="2000" baseline="-25000" dirty="0" err="1">
                <a:solidFill>
                  <a:srgbClr val="00B050"/>
                </a:solidFill>
              </a:rPr>
              <a:t>i</a:t>
            </a:r>
            <a:r>
              <a:rPr lang="en-US" sz="20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573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POS tagging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Hidden Markov Model</a:t>
            </a:r>
          </a:p>
          <a:p>
            <a:pPr lvl="2" algn="just">
              <a:spcBef>
                <a:spcPts val="600"/>
              </a:spcBef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57FAB-6A15-9E30-85BC-849E053F1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486" y="2841939"/>
            <a:ext cx="6267027" cy="38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80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POS tagging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Hidden Markov Model</a:t>
            </a:r>
          </a:p>
          <a:p>
            <a:pPr lvl="2" algn="just">
              <a:spcBef>
                <a:spcPts val="600"/>
              </a:spcBef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EC6274-A99D-8731-5AF2-6328867E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56965"/>
            <a:ext cx="5969847" cy="2683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8C582C-D0D3-7378-F239-7BAAAFE00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729" y="876295"/>
            <a:ext cx="4854480" cy="2736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9D5EF-2B41-02D0-A1EF-BA037C65A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729" y="4028805"/>
            <a:ext cx="4831984" cy="25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64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Parsing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It is also called Syntactic analysis or syntax analysis.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Comparing the rules of formal grammar, syntax analysis checks the text for meaningfulness.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Relevance">
            <a:extLst>
              <a:ext uri="{FF2B5EF4-FFF2-40B4-BE49-F238E27FC236}">
                <a16:creationId xmlns:a16="http://schemas.microsoft.com/office/drawing/2014/main" id="{429707FF-DB3B-DC1B-6725-77C549E0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3772982"/>
            <a:ext cx="5524500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06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Named Entity Recognition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Focuses on </a:t>
            </a:r>
            <a:r>
              <a:rPr lang="en-GB" dirty="0">
                <a:solidFill>
                  <a:srgbClr val="00B050"/>
                </a:solidFill>
              </a:rPr>
              <a:t>identifying and classifying entities</a:t>
            </a:r>
            <a:r>
              <a:rPr lang="en-GB" dirty="0"/>
              <a:t> within textual data.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These </a:t>
            </a:r>
            <a:r>
              <a:rPr lang="en-GB" dirty="0">
                <a:solidFill>
                  <a:srgbClr val="00B050"/>
                </a:solidFill>
              </a:rPr>
              <a:t>entities</a:t>
            </a:r>
            <a:r>
              <a:rPr lang="en-GB" dirty="0"/>
              <a:t> encompass a diverse range of information, including </a:t>
            </a:r>
            <a:r>
              <a:rPr lang="en-GB" i="1" dirty="0">
                <a:solidFill>
                  <a:srgbClr val="00B050"/>
                </a:solidFill>
              </a:rPr>
              <a:t>names of individuals, organizations, locations, dates, numerical values, and more</a:t>
            </a:r>
            <a:r>
              <a:rPr lang="en-GB" dirty="0"/>
              <a:t>.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NER">
            <a:extLst>
              <a:ext uri="{FF2B5EF4-FFF2-40B4-BE49-F238E27FC236}">
                <a16:creationId xmlns:a16="http://schemas.microsoft.com/office/drawing/2014/main" id="{7F7AF0DB-6E99-4775-32BB-0573D00AD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767" y="4020060"/>
            <a:ext cx="6169959" cy="283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481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Named Entity Recognition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Its functioning can be distilled into several key steps: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Text Preprocessing</a:t>
            </a:r>
            <a:r>
              <a:rPr lang="en-GB" dirty="0"/>
              <a:t>: This typically includes tasks like tokenization (breaking the text into words or phrases) and part-of-speech tagging.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Entity Identification</a:t>
            </a:r>
            <a:r>
              <a:rPr lang="en-GB" dirty="0"/>
              <a:t>: NER algorithms scan it to identify sequences of words that correspond to entities. 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Entity Classification</a:t>
            </a:r>
            <a:r>
              <a:rPr lang="en-GB" dirty="0"/>
              <a:t>: NER categorizes the recognized entities into predefined classes or types. Common categories include Person, Organization, Location, Date, and more.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Contextual Analysis</a:t>
            </a:r>
            <a:r>
              <a:rPr lang="en-GB" dirty="0"/>
              <a:t>: NER considers the context in which these entities appear, ensuring accurate classification.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49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0FEC-9569-857E-1490-AFE03268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446E-92CF-E14E-125F-FFC926EC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D87E3-C6B7-B6E6-B311-49567D26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NER use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DB94F-F539-18FA-0DDD-2010A01393B9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NER use cases">
            <a:extLst>
              <a:ext uri="{FF2B5EF4-FFF2-40B4-BE49-F238E27FC236}">
                <a16:creationId xmlns:a16="http://schemas.microsoft.com/office/drawing/2014/main" id="{4F39F70B-CDA2-DD4D-1929-7C63E437D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55" y="2659792"/>
            <a:ext cx="7181489" cy="349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474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434F-349F-D966-99E1-C56B6CBD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D95D-3A8D-D1A5-2E21-48A6B09A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25F7-6FD7-AAD6-8177-40B0248B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NER use case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Recruitment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NER can help we scan many CVs and identify relevant candidates.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C4E29-FA19-4784-76AA-53E25FC5CBEA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Không có mô tả văn bản thay thế cho ảnh này">
            <a:extLst>
              <a:ext uri="{FF2B5EF4-FFF2-40B4-BE49-F238E27FC236}">
                <a16:creationId xmlns:a16="http://schemas.microsoft.com/office/drawing/2014/main" id="{46EE9D30-257B-5A43-B609-973B17B66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583" y="3706404"/>
            <a:ext cx="5461713" cy="257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D9128E6-7261-546B-A3D3-38F9913A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835" y="3429000"/>
            <a:ext cx="3663820" cy="276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654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FD40-9B2B-E6CD-69D9-4850940F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BABC-CD67-7217-9152-7C0A814D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33B15-5DD0-6645-74AC-2CAFE9BA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NER use case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New updates</a:t>
            </a:r>
          </a:p>
          <a:p>
            <a:pPr lvl="2" algn="just">
              <a:spcBef>
                <a:spcPts val="600"/>
              </a:spcBef>
            </a:pPr>
            <a:r>
              <a:rPr lang="en-US" dirty="0"/>
              <a:t>NER can help quickly </a:t>
            </a:r>
            <a:r>
              <a:rPr lang="en-US" dirty="0">
                <a:solidFill>
                  <a:srgbClr val="FF0000"/>
                </a:solidFill>
              </a:rPr>
              <a:t>identify key information</a:t>
            </a:r>
            <a:r>
              <a:rPr lang="en-US" dirty="0"/>
              <a:t> from different channels. </a:t>
            </a:r>
          </a:p>
          <a:p>
            <a:pPr lvl="2" algn="just">
              <a:spcBef>
                <a:spcPts val="600"/>
              </a:spcBef>
            </a:pPr>
            <a:r>
              <a:rPr lang="en-US" dirty="0"/>
              <a:t>This can be highly helpful for businesses monitoring stock markets, technological updates, compliance changes, and much more. 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D5D79-D9D9-E01A-A7C1-554B1DD14613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AF5149-CB18-5660-9123-215AE81EC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00306"/>
            <a:ext cx="10970029" cy="21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19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668C-A6C1-4C09-F4AF-7BB11AFD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E423-4E37-F432-9ACF-BF79F87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7C401-DDCB-F8C1-043B-8A2AB3585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NER use case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Insurance claims</a:t>
            </a:r>
          </a:p>
          <a:p>
            <a:pPr lvl="2" algn="just">
              <a:spcBef>
                <a:spcPts val="600"/>
              </a:spcBef>
            </a:pPr>
            <a:r>
              <a:rPr lang="en-US" dirty="0"/>
              <a:t>NER can help review insurance claims and identify key information instantaneously.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979BE-095B-D13C-F97A-D7A9D97E08C6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CB4612-5FA6-438F-0CE0-F172927D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180" y="3316476"/>
            <a:ext cx="5020022" cy="316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E168D1B-8126-3B13-37F1-F1AAB4341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783690"/>
            <a:ext cx="5825814" cy="223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790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52D5-E9E9-2B9B-141F-43DEEDDB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757A-5118-4B84-EB1F-B19D82A7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42D9-0CEF-C690-55EC-978CFAC8F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4382193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NER use case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Customer analysis</a:t>
            </a:r>
          </a:p>
          <a:p>
            <a:pPr lvl="2" algn="just">
              <a:spcBef>
                <a:spcPts val="600"/>
              </a:spcBef>
            </a:pPr>
            <a:r>
              <a:rPr lang="en-US" dirty="0"/>
              <a:t>NER can be used to analyze reviews, support tickets, survey results, and feedback.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ACE46-AF1F-2D35-9386-60021834D00F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4327472-7306-0097-7D07-839E7CBFC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087" y="2099981"/>
            <a:ext cx="652462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694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98A3-C175-C167-5766-7B3F4CEE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4936-CD8B-B286-8249-67D5D4B7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9B3B-FAE0-B417-A322-E93CE487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4382193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NER use case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Medical</a:t>
            </a:r>
          </a:p>
          <a:p>
            <a:pPr lvl="2" algn="just">
              <a:spcBef>
                <a:spcPts val="600"/>
              </a:spcBef>
            </a:pPr>
            <a:r>
              <a:rPr lang="en-US" dirty="0"/>
              <a:t>NER can help review patient information, test results, family history, statistics, and other data to identify important patterns.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F1E25-BA3F-BB21-5D54-0960824B353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 descr="Clinical Entity Recognition">
            <a:extLst>
              <a:ext uri="{FF2B5EF4-FFF2-40B4-BE49-F238E27FC236}">
                <a16:creationId xmlns:a16="http://schemas.microsoft.com/office/drawing/2014/main" id="{F91F2D3F-5887-3319-8607-2FD345646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519" y="539031"/>
            <a:ext cx="5226452" cy="310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lation Extraction">
            <a:extLst>
              <a:ext uri="{FF2B5EF4-FFF2-40B4-BE49-F238E27FC236}">
                <a16:creationId xmlns:a16="http://schemas.microsoft.com/office/drawing/2014/main" id="{FF480EC5-503A-61BC-21B2-1EE87E856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519" y="3721732"/>
            <a:ext cx="5226452" cy="310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072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/>
              <a:t>Two main areas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Massive management of textual information sources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For human use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For automatic collection of linguistic resources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Person/Machine interaction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77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Machine translation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Process of </a:t>
            </a:r>
            <a:r>
              <a:rPr lang="en-GB" dirty="0">
                <a:solidFill>
                  <a:srgbClr val="FF0000"/>
                </a:solidFill>
              </a:rPr>
              <a:t>translating a text</a:t>
            </a:r>
            <a:r>
              <a:rPr lang="en-GB" dirty="0"/>
              <a:t> from a </a:t>
            </a:r>
            <a:r>
              <a:rPr lang="en-GB" i="1" dirty="0">
                <a:solidFill>
                  <a:srgbClr val="FF0000"/>
                </a:solidFill>
              </a:rPr>
              <a:t>source language to a target language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preserving some properties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00B050"/>
                </a:solidFill>
              </a:rPr>
              <a:t>main property </a:t>
            </a:r>
            <a:r>
              <a:rPr lang="en-GB" dirty="0"/>
              <a:t>to preserve (but not the only one) is </a:t>
            </a:r>
            <a:r>
              <a:rPr lang="en-GB" i="1" dirty="0">
                <a:solidFill>
                  <a:srgbClr val="00B050"/>
                </a:solidFill>
              </a:rPr>
              <a:t>the meaning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116C7-4745-B268-A2B8-1792FD455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77" y="3705729"/>
            <a:ext cx="5504255" cy="3072481"/>
          </a:xfrm>
          <a:prstGeom prst="rect">
            <a:avLst/>
          </a:prstGeom>
        </p:spPr>
      </p:pic>
      <p:pic>
        <p:nvPicPr>
          <p:cNvPr id="5122" name="Picture 2" descr="Components of a SMT [5] | Download Scientific Diagram">
            <a:extLst>
              <a:ext uri="{FF2B5EF4-FFF2-40B4-BE49-F238E27FC236}">
                <a16:creationId xmlns:a16="http://schemas.microsoft.com/office/drawing/2014/main" id="{D00B8A00-78AA-714E-A92F-F036A761B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079" y="3804524"/>
            <a:ext cx="3399732" cy="287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288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Machine translation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Model for each word in the source language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Its translation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number of necessary words in the target language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position of the translation in the sentence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number of words that need to be generated from scratch.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marL="457200" lvl="1" indent="0" algn="just"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652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Retrieval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Input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A collection of documents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The Web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A corporate document collection</a:t>
            </a:r>
          </a:p>
          <a:p>
            <a:pPr lvl="3" algn="just">
              <a:spcBef>
                <a:spcPts val="600"/>
              </a:spcBef>
            </a:pPr>
            <a:r>
              <a:rPr lang="en-GB" dirty="0"/>
              <a:t>...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A user information need represented as a query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Output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documents that satisfy the user needs.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655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Retrieval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system.gif">
            <a:extLst>
              <a:ext uri="{FF2B5EF4-FFF2-40B4-BE49-F238E27FC236}">
                <a16:creationId xmlns:a16="http://schemas.microsoft.com/office/drawing/2014/main" id="{2CF380B6-D1BD-22C4-441F-D7F821293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2310467"/>
            <a:ext cx="9144000" cy="437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29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Question Answering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Natural extension of IR, QA systems </a:t>
            </a:r>
            <a:r>
              <a:rPr lang="en-GB" dirty="0">
                <a:solidFill>
                  <a:srgbClr val="00B050"/>
                </a:solidFill>
              </a:rPr>
              <a:t>provide not a document containing the answer but the proper answer (usually a fact)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08087B-C0A6-AA99-02EF-005B2C2A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864" y="3273074"/>
            <a:ext cx="6409765" cy="336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63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Question Answering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F28390-7972-246E-C202-E0BF887E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071" y="2509176"/>
            <a:ext cx="6999352" cy="405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42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771094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Extraction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Information extraction (IE) tools make it possible to </a:t>
            </a:r>
            <a:r>
              <a:rPr lang="en-GB" dirty="0">
                <a:solidFill>
                  <a:srgbClr val="00B050"/>
                </a:solidFill>
              </a:rPr>
              <a:t>pull information from</a:t>
            </a:r>
            <a:r>
              <a:rPr lang="en-GB" dirty="0"/>
              <a:t> text documents, databases, websites or multiple sources. 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IE may extract info from unstructured, semi-structured or structured, machine-readable text</a:t>
            </a:r>
            <a:r>
              <a:rPr lang="en-GB" dirty="0"/>
              <a:t>.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Usually, IE is used in natural language processing (NLP) to </a:t>
            </a:r>
            <a:r>
              <a:rPr lang="en-GB" i="1" dirty="0">
                <a:solidFill>
                  <a:srgbClr val="FF0000"/>
                </a:solidFill>
              </a:rPr>
              <a:t>extract structured from unstructured text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2289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59749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Extraction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Initial processing.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Proper names identification.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Parsing.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Extraction of events and relations.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Anaphora resolution.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Output result generation.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 descr="No alt text provided for this image">
            <a:extLst>
              <a:ext uri="{FF2B5EF4-FFF2-40B4-BE49-F238E27FC236}">
                <a16:creationId xmlns:a16="http://schemas.microsoft.com/office/drawing/2014/main" id="{8DD9EB3A-B5C0-A8CB-8D7F-8F57C65AB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074" y="2449697"/>
            <a:ext cx="5627034" cy="354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149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Extraction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Initial processing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first step is to </a:t>
            </a:r>
            <a:r>
              <a:rPr lang="en-GB" dirty="0">
                <a:solidFill>
                  <a:srgbClr val="00B050"/>
                </a:solidFill>
              </a:rPr>
              <a:t>break down a text into fragments</a:t>
            </a:r>
            <a:r>
              <a:rPr lang="en-GB" dirty="0"/>
              <a:t> such as zones, phrases, segments, and tokens. 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In the initial processing stage, </a:t>
            </a:r>
            <a:r>
              <a:rPr lang="en-GB" dirty="0">
                <a:solidFill>
                  <a:srgbClr val="00B050"/>
                </a:solidFill>
              </a:rPr>
              <a:t>part-of-speech tagging, and phrasal unit identification</a:t>
            </a:r>
            <a:r>
              <a:rPr lang="en-GB" dirty="0"/>
              <a:t> (noun or verb phrases) are usually the next tasks.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Proper names identification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One of the most important stages is the </a:t>
            </a:r>
            <a:r>
              <a:rPr lang="en-GB" dirty="0">
                <a:solidFill>
                  <a:srgbClr val="00B050"/>
                </a:solidFill>
              </a:rPr>
              <a:t>identification of various classes of proper names</a:t>
            </a:r>
            <a:r>
              <a:rPr lang="en-GB" dirty="0"/>
              <a:t>, such as </a:t>
            </a:r>
            <a:r>
              <a:rPr lang="en-GB" i="1" dirty="0">
                <a:solidFill>
                  <a:srgbClr val="00B050"/>
                </a:solidFill>
              </a:rPr>
              <a:t>names of people or organizations, dates, monetary amounts, places, addresses</a:t>
            </a:r>
            <a:r>
              <a:rPr lang="en-GB" dirty="0"/>
              <a:t>, and so on. 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Regular expressions, which are a collection of patterns, are used to recognize these names.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298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Extraction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Parsing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sentences are processed to </a:t>
            </a:r>
            <a:r>
              <a:rPr lang="en-GB" dirty="0">
                <a:solidFill>
                  <a:srgbClr val="00B050"/>
                </a:solidFill>
              </a:rPr>
              <a:t>find the noun groups</a:t>
            </a:r>
            <a:r>
              <a:rPr lang="en-GB" dirty="0"/>
              <a:t> that surround some of those entities and </a:t>
            </a:r>
            <a:r>
              <a:rPr lang="en-GB" dirty="0">
                <a:solidFill>
                  <a:srgbClr val="00B050"/>
                </a:solidFill>
              </a:rPr>
              <a:t>verb groups</a:t>
            </a:r>
            <a:r>
              <a:rPr lang="en-GB" dirty="0"/>
              <a:t>. 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Extraction of events and relations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This stage establishes </a:t>
            </a:r>
            <a:r>
              <a:rPr lang="en-GB" dirty="0">
                <a:solidFill>
                  <a:srgbClr val="00B050"/>
                </a:solidFill>
              </a:rPr>
              <a:t>relations between the extracted ideas</a:t>
            </a:r>
            <a:r>
              <a:rPr lang="en-GB" dirty="0"/>
              <a:t>. 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This is accomplished by developing and implementing </a:t>
            </a:r>
            <a:r>
              <a:rPr lang="en-GB" dirty="0">
                <a:solidFill>
                  <a:srgbClr val="00B050"/>
                </a:solidFill>
              </a:rPr>
              <a:t>extraction rules that describe various patterns</a:t>
            </a:r>
            <a:r>
              <a:rPr lang="en-GB" dirty="0"/>
              <a:t>. 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The text is compared to certain patterns</a:t>
            </a:r>
            <a:r>
              <a:rPr lang="en-GB" dirty="0"/>
              <a:t>, and if a match is discovered, the text element is labelled and retrieved later.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333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Extraction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Coreference or Anaphora resolution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The step where </a:t>
            </a:r>
            <a:r>
              <a:rPr lang="en-GB" dirty="0">
                <a:solidFill>
                  <a:srgbClr val="00B050"/>
                </a:solidFill>
              </a:rPr>
              <a:t>noun phrases are decided if they relate to the same entity or not</a:t>
            </a:r>
            <a:r>
              <a:rPr lang="en-GB" dirty="0"/>
              <a:t> is called coreference or anaphora resolution.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Output results generation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This stage entails converting the structures collected during the preceding </a:t>
            </a:r>
            <a:r>
              <a:rPr lang="en-GB" dirty="0">
                <a:solidFill>
                  <a:srgbClr val="00B050"/>
                </a:solidFill>
              </a:rPr>
              <a:t>processes into output templates that follow the format defined by the user</a:t>
            </a:r>
            <a:r>
              <a:rPr lang="en-GB" dirty="0"/>
              <a:t>. 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146" name="Picture 2" descr="Information extraction for highly specialized and critical domains :  Research &amp; Development : Hitachi">
            <a:extLst>
              <a:ext uri="{FF2B5EF4-FFF2-40B4-BE49-F238E27FC236}">
                <a16:creationId xmlns:a16="http://schemas.microsoft.com/office/drawing/2014/main" id="{CDF15E0E-36C4-5258-58B4-9841232B5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847" y="5043035"/>
            <a:ext cx="5002306" cy="173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692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Text Classification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Text classification is a machine learning technique that </a:t>
            </a:r>
            <a:r>
              <a:rPr lang="en-GB" dirty="0">
                <a:solidFill>
                  <a:srgbClr val="00B050"/>
                </a:solidFill>
              </a:rPr>
              <a:t>assigns a set of predefined categories to open-ended text</a:t>
            </a:r>
            <a:r>
              <a:rPr lang="en-GB" dirty="0"/>
              <a:t>.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Text classifiers can be used to organize, structure, and categorize pretty much any kind of text – from documents, medical studies and files, and all over the web.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170" name="Picture 2" descr="Example of general approaches of a Flat Classification and b... | Download  Scientific Diagram">
            <a:extLst>
              <a:ext uri="{FF2B5EF4-FFF2-40B4-BE49-F238E27FC236}">
                <a16:creationId xmlns:a16="http://schemas.microsoft.com/office/drawing/2014/main" id="{9588409D-7386-813E-1C7C-B0D4BAE50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035" y="4487974"/>
            <a:ext cx="3931584" cy="215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omparison of single-label classification and multi-label... | Download  Scientific Diagram">
            <a:extLst>
              <a:ext uri="{FF2B5EF4-FFF2-40B4-BE49-F238E27FC236}">
                <a16:creationId xmlns:a16="http://schemas.microsoft.com/office/drawing/2014/main" id="{2F527525-5117-68E6-9CAB-A496F822E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992" y="4476974"/>
            <a:ext cx="4697506" cy="217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567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Text Classification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194" name="Picture 2" descr="Text Classification using Machine Learning - Turbolab Technologies">
            <a:extLst>
              <a:ext uri="{FF2B5EF4-FFF2-40B4-BE49-F238E27FC236}">
                <a16:creationId xmlns:a16="http://schemas.microsoft.com/office/drawing/2014/main" id="{FAAE58A6-DEA6-2A24-B189-53783CFC3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862" y="2846575"/>
            <a:ext cx="6772275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6676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Text Clustering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The task of </a:t>
            </a:r>
            <a:r>
              <a:rPr lang="en-GB" dirty="0">
                <a:solidFill>
                  <a:srgbClr val="00B050"/>
                </a:solidFill>
              </a:rPr>
              <a:t>grouping a set of unlabelled texts</a:t>
            </a:r>
            <a:r>
              <a:rPr lang="en-GB" dirty="0"/>
              <a:t> in such a way that </a:t>
            </a:r>
            <a:r>
              <a:rPr lang="en-GB" i="1" dirty="0">
                <a:solidFill>
                  <a:srgbClr val="00B050"/>
                </a:solidFill>
              </a:rPr>
              <a:t>texts in the same cluster are more similar to each other than to those in other clusters</a:t>
            </a:r>
            <a:r>
              <a:rPr lang="en-GB" dirty="0"/>
              <a:t>. 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Text clustering algorithms process text and determine </a:t>
            </a:r>
            <a:r>
              <a:rPr lang="en-GB" dirty="0">
                <a:solidFill>
                  <a:srgbClr val="FF0000"/>
                </a:solidFill>
              </a:rPr>
              <a:t>if natural clusters (groups) exist in the data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218" name="Picture 2" descr="Text Clustering">
            <a:extLst>
              <a:ext uri="{FF2B5EF4-FFF2-40B4-BE49-F238E27FC236}">
                <a16:creationId xmlns:a16="http://schemas.microsoft.com/office/drawing/2014/main" id="{04D335CD-66FD-2A85-2C83-104BD035D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4278108"/>
            <a:ext cx="6203575" cy="248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070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22296"/>
            <a:ext cx="10835853" cy="54134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4FA01-985D-B47C-F41F-C1992255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45</a:t>
            </a:fld>
            <a:endParaRPr lang="vi-V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Text Clustering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94D981-B37A-5B7C-58EA-704E355C6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0" y="2993004"/>
            <a:ext cx="10835040" cy="238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65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Automatic Summarization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A </a:t>
            </a:r>
            <a:r>
              <a:rPr lang="en-GB" dirty="0">
                <a:solidFill>
                  <a:srgbClr val="00B050"/>
                </a:solidFill>
              </a:rPr>
              <a:t>summary</a:t>
            </a:r>
            <a:r>
              <a:rPr lang="en-GB" dirty="0"/>
              <a:t> is a reductive transformation of a </a:t>
            </a:r>
            <a:r>
              <a:rPr lang="en-GB" i="1" dirty="0">
                <a:solidFill>
                  <a:srgbClr val="00B050"/>
                </a:solidFill>
              </a:rPr>
              <a:t>source text into a summary text by extraction or generation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266" name="Picture 2" descr="Text Summarization">
            <a:extLst>
              <a:ext uri="{FF2B5EF4-FFF2-40B4-BE49-F238E27FC236}">
                <a16:creationId xmlns:a16="http://schemas.microsoft.com/office/drawing/2014/main" id="{6FE416A7-B2AD-6834-E656-86FFD2AFF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271" y="3269664"/>
            <a:ext cx="4987457" cy="350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011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Automatic Summarization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Extractive summarization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290" name="Picture 2" descr="Text Summarization In NLP">
            <a:extLst>
              <a:ext uri="{FF2B5EF4-FFF2-40B4-BE49-F238E27FC236}">
                <a16:creationId xmlns:a16="http://schemas.microsoft.com/office/drawing/2014/main" id="{CF82D948-8A9D-ED3D-0234-391E73B3A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728" y="3110860"/>
            <a:ext cx="7923119" cy="354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970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Automatic Summarization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Abstractive summarization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D65ED-4A38-93D8-8F98-E8E7D0C4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47" y="3025058"/>
            <a:ext cx="8234706" cy="367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432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Sentiment analysis (Opinion mining)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An approach to natural language processing that </a:t>
            </a:r>
            <a:r>
              <a:rPr lang="en-GB" dirty="0">
                <a:solidFill>
                  <a:srgbClr val="00B050"/>
                </a:solidFill>
              </a:rPr>
              <a:t>identifies the emotional tone</a:t>
            </a:r>
            <a:r>
              <a:rPr lang="en-GB" dirty="0"/>
              <a:t> behind a body of text.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A popular way for organizations to </a:t>
            </a:r>
            <a:r>
              <a:rPr lang="en-GB" dirty="0">
                <a:solidFill>
                  <a:srgbClr val="00B050"/>
                </a:solidFill>
              </a:rPr>
              <a:t>determine and categorize opinions</a:t>
            </a:r>
            <a:r>
              <a:rPr lang="en-GB" dirty="0"/>
              <a:t> about a </a:t>
            </a:r>
            <a:r>
              <a:rPr lang="en-GB" i="1" dirty="0">
                <a:solidFill>
                  <a:srgbClr val="00B050"/>
                </a:solidFill>
              </a:rPr>
              <a:t>product, service or idea</a:t>
            </a:r>
            <a:r>
              <a:rPr lang="en-GB" dirty="0"/>
              <a:t>.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Sentiment analysis can </a:t>
            </a:r>
            <a:r>
              <a:rPr lang="en-GB" dirty="0">
                <a:solidFill>
                  <a:srgbClr val="FF0000"/>
                </a:solidFill>
              </a:rPr>
              <a:t>extract</a:t>
            </a:r>
            <a:r>
              <a:rPr lang="en-GB" dirty="0"/>
              <a:t> the </a:t>
            </a:r>
            <a:r>
              <a:rPr lang="en-GB" i="1" dirty="0">
                <a:solidFill>
                  <a:srgbClr val="FF0000"/>
                </a:solidFill>
              </a:rPr>
              <a:t>polarity</a:t>
            </a:r>
            <a:r>
              <a:rPr lang="en-GB" dirty="0"/>
              <a:t> or the </a:t>
            </a:r>
            <a:r>
              <a:rPr lang="en-GB" i="1" dirty="0">
                <a:solidFill>
                  <a:srgbClr val="FF0000"/>
                </a:solidFill>
              </a:rPr>
              <a:t>amount of positivity</a:t>
            </a:r>
            <a:r>
              <a:rPr lang="en-GB" dirty="0"/>
              <a:t> and </a:t>
            </a:r>
            <a:r>
              <a:rPr lang="en-GB" i="1" dirty="0">
                <a:solidFill>
                  <a:srgbClr val="FF0000"/>
                </a:solidFill>
              </a:rPr>
              <a:t>negativity</a:t>
            </a:r>
            <a:r>
              <a:rPr lang="en-GB" dirty="0"/>
              <a:t>, </a:t>
            </a:r>
            <a:r>
              <a:rPr lang="en-GB" i="1" dirty="0">
                <a:solidFill>
                  <a:srgbClr val="FF0000"/>
                </a:solidFill>
              </a:rPr>
              <a:t>subject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opinion holder</a:t>
            </a:r>
            <a:r>
              <a:rPr lang="en-GB" dirty="0"/>
              <a:t> within the text.</a:t>
            </a:r>
          </a:p>
          <a:p>
            <a:pPr marL="457200" lvl="1" indent="0" algn="just"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7317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Sentiment analysis (Opinion mining)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General steps</a:t>
            </a:r>
          </a:p>
          <a:p>
            <a:pPr lvl="2" algn="just"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Collect data.</a:t>
            </a:r>
            <a:endParaRPr lang="en-GB" dirty="0"/>
          </a:p>
          <a:p>
            <a:pPr lvl="2" algn="just"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Clean the data.</a:t>
            </a:r>
            <a:r>
              <a:rPr lang="en-GB" dirty="0"/>
              <a:t> The data is processed and cleaned to remove noise and parts of speech that don't have meaning relevant to the sentiment of the text. </a:t>
            </a:r>
          </a:p>
          <a:p>
            <a:pPr lvl="2" algn="just"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Extract features.</a:t>
            </a:r>
            <a:r>
              <a:rPr lang="en-GB" dirty="0"/>
              <a:t> A machine learning algorithm automatically extracts text features to identify negative or positive sentiment.</a:t>
            </a:r>
          </a:p>
          <a:p>
            <a:pPr lvl="2" algn="just"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Pick an ML model.</a:t>
            </a:r>
            <a:r>
              <a:rPr lang="en-GB" dirty="0"/>
              <a:t> A sentiment analysis tool scores the text using a rule-based, automatic or hybrid ML model.</a:t>
            </a:r>
          </a:p>
          <a:p>
            <a:pPr lvl="2" algn="just"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Sentiment classification.</a:t>
            </a:r>
            <a:r>
              <a:rPr lang="en-GB" dirty="0"/>
              <a:t> Once a model is picked and used to analyse a piece of text, it assigns a sentiment score to the text including positive, negative or neutral.</a:t>
            </a:r>
          </a:p>
          <a:p>
            <a:pPr lvl="2" algn="just">
              <a:spcBef>
                <a:spcPts val="600"/>
              </a:spcBef>
            </a:pPr>
            <a:endParaRPr lang="en-GB" dirty="0"/>
          </a:p>
          <a:p>
            <a:pPr marL="457200" lvl="1" indent="0" algn="just"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1189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Sentiment analysis (Opinion mining)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2" algn="just">
              <a:spcBef>
                <a:spcPts val="600"/>
              </a:spcBef>
            </a:pPr>
            <a:endParaRPr lang="en-GB" dirty="0"/>
          </a:p>
          <a:p>
            <a:pPr marL="457200" lvl="1" indent="0" algn="just"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C86D7E-C6C1-BA22-6A04-6DDDA1452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132" y="2328940"/>
            <a:ext cx="6861735" cy="452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8436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Sentiment analysis (Opinion mining)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Fine-grained sentiment</a:t>
            </a:r>
            <a:r>
              <a:rPr lang="en-GB" dirty="0"/>
              <a:t> analysis breaks down sentiment indicators into more precise categories, such as very positive and very negative.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Emotion detection</a:t>
            </a:r>
            <a:r>
              <a:rPr lang="en-GB" dirty="0"/>
              <a:t> analysis </a:t>
            </a:r>
            <a:r>
              <a:rPr lang="en-GB" i="1" dirty="0">
                <a:solidFill>
                  <a:srgbClr val="00B050"/>
                </a:solidFill>
              </a:rPr>
              <a:t>identifies emotions</a:t>
            </a:r>
            <a:r>
              <a:rPr lang="en-GB" dirty="0"/>
              <a:t> rather than positivity and negativity. Examples include </a:t>
            </a:r>
            <a:r>
              <a:rPr lang="en-GB" i="1" dirty="0">
                <a:solidFill>
                  <a:srgbClr val="00B050"/>
                </a:solidFill>
              </a:rPr>
              <a:t>happiness, frustration, shock, anger and sadness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Intent-based</a:t>
            </a:r>
            <a:r>
              <a:rPr lang="en-GB" dirty="0"/>
              <a:t> analysis </a:t>
            </a:r>
            <a:r>
              <a:rPr lang="en-GB" i="1" dirty="0">
                <a:solidFill>
                  <a:srgbClr val="00B050"/>
                </a:solidFill>
              </a:rPr>
              <a:t>recognizes motivations behind a text</a:t>
            </a:r>
            <a:r>
              <a:rPr lang="en-GB" dirty="0"/>
              <a:t> in addition to opinion. For example, an online comment expressing frustration about changing a battery may carry the intent of getting customer service to reach out to resolve the issue.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Aspect-based</a:t>
            </a:r>
            <a:r>
              <a:rPr lang="en-GB" dirty="0"/>
              <a:t> analysis </a:t>
            </a:r>
            <a:r>
              <a:rPr lang="en-GB" i="1" dirty="0">
                <a:solidFill>
                  <a:srgbClr val="00B050"/>
                </a:solidFill>
              </a:rPr>
              <a:t>examines the specific component</a:t>
            </a:r>
            <a:r>
              <a:rPr lang="en-GB" dirty="0"/>
              <a:t> being positively or negatively mentioned. For example, a customer might review a product saying the battery life was too short.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4357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Chatbot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They are simulations that can </a:t>
            </a:r>
            <a:r>
              <a:rPr lang="en-GB" dirty="0">
                <a:solidFill>
                  <a:srgbClr val="00B050"/>
                </a:solidFill>
              </a:rPr>
              <a:t>understand human language</a:t>
            </a:r>
            <a:r>
              <a:rPr lang="en-GB" dirty="0"/>
              <a:t>, process it, and </a:t>
            </a:r>
            <a:r>
              <a:rPr lang="en-GB" dirty="0">
                <a:solidFill>
                  <a:srgbClr val="00B050"/>
                </a:solidFill>
              </a:rPr>
              <a:t>interact back with humans</a:t>
            </a:r>
            <a:r>
              <a:rPr lang="en-GB" dirty="0"/>
              <a:t> while performing specific tasks.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chatbot is a </a:t>
            </a:r>
            <a:r>
              <a:rPr lang="en-GB" dirty="0">
                <a:solidFill>
                  <a:srgbClr val="00B050"/>
                </a:solidFill>
              </a:rPr>
              <a:t>conversational agent</a:t>
            </a:r>
            <a:r>
              <a:rPr lang="en-GB" dirty="0"/>
              <a:t> that interacts with users </a:t>
            </a:r>
            <a:r>
              <a:rPr lang="en-GB" i="1" dirty="0">
                <a:solidFill>
                  <a:srgbClr val="00B050"/>
                </a:solidFill>
              </a:rPr>
              <a:t>using natural language</a:t>
            </a:r>
            <a:r>
              <a:rPr lang="en-GB" dirty="0"/>
              <a:t>. 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419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Chatbot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Types of Chatbots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Text-based chatbot</a:t>
            </a:r>
            <a:r>
              <a:rPr lang="en-GB" dirty="0"/>
              <a:t>: In a text-based chatbot, a bot answers the user’s questions via a text interface.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Voice-based chatbot</a:t>
            </a:r>
            <a:r>
              <a:rPr lang="en-GB" dirty="0"/>
              <a:t>: In a voice or speech-based chatbot, a bot answers the user’s questions via a human voice interface.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There are mainly </a:t>
            </a:r>
            <a:r>
              <a:rPr lang="en-GB" dirty="0">
                <a:solidFill>
                  <a:srgbClr val="00B050"/>
                </a:solidFill>
              </a:rPr>
              <a:t>two approaches used to design the chatbots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In a Rule-based approach</a:t>
            </a:r>
            <a:r>
              <a:rPr lang="en-GB" dirty="0"/>
              <a:t>, a bot answers questions based on some rules on which it is trained on. The rules defined can be very simple to very complex.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Self-learning bots</a:t>
            </a:r>
            <a:r>
              <a:rPr lang="en-GB" dirty="0"/>
              <a:t> are the ones that use some Machine Learning-based approaches and are definitely more efficient than rule-based bots.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5102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Chatbot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Understanding The Conversational Chatbot Architecture">
            <a:extLst>
              <a:ext uri="{FF2B5EF4-FFF2-40B4-BE49-F238E27FC236}">
                <a16:creationId xmlns:a16="http://schemas.microsoft.com/office/drawing/2014/main" id="{C73D74AB-3E01-7480-D7E7-47C729F43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612" y="1511412"/>
            <a:ext cx="7329394" cy="516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7297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Synonyms </a:t>
            </a:r>
            <a:r>
              <a:rPr lang="en-GB" dirty="0"/>
              <a:t>(words, sentences with the same meaning)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Season of the year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Fall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Autumn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Book delivery time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When will my book arrive?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When will I receive my book?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1315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Polysemy </a:t>
            </a:r>
            <a:r>
              <a:rPr lang="en-GB" dirty="0"/>
              <a:t>(a single word or phrase has multiple related meanings)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Fall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third season of the year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Moving down towards the ground or towards a lower position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door is open.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Expressing a fact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request to close the door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1597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Homonymy </a:t>
            </a:r>
            <a:r>
              <a:rPr lang="en-GB" dirty="0"/>
              <a:t>(words with different meanings but with the same pronunciation and/or spelling)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vi-VN" dirty="0"/>
              <a:t>Con </a:t>
            </a:r>
            <a:r>
              <a:rPr lang="vi-VN" dirty="0">
                <a:solidFill>
                  <a:srgbClr val="00B050"/>
                </a:solidFill>
              </a:rPr>
              <a:t>đường</a:t>
            </a:r>
            <a:r>
              <a:rPr lang="vi-VN" dirty="0"/>
              <a:t> này thật rộng!</a:t>
            </a:r>
            <a:r>
              <a:rPr lang="en-US" dirty="0"/>
              <a:t> </a:t>
            </a:r>
            <a:r>
              <a:rPr lang="vi-VN" dirty="0"/>
              <a:t>Chúng ta nên pha thêm </a:t>
            </a:r>
            <a:r>
              <a:rPr lang="vi-VN" dirty="0">
                <a:solidFill>
                  <a:srgbClr val="00B050"/>
                </a:solidFill>
              </a:rPr>
              <a:t>đường</a:t>
            </a:r>
            <a:r>
              <a:rPr lang="vi-VN" dirty="0"/>
              <a:t>.</a:t>
            </a: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vi-VN" dirty="0"/>
              <a:t>Chú ấy </a:t>
            </a:r>
            <a:r>
              <a:rPr lang="vi-VN" dirty="0">
                <a:solidFill>
                  <a:srgbClr val="00B050"/>
                </a:solidFill>
              </a:rPr>
              <a:t>câu</a:t>
            </a:r>
            <a:r>
              <a:rPr lang="vi-VN" dirty="0"/>
              <a:t> được nhiều cá quá!</a:t>
            </a:r>
            <a:r>
              <a:rPr lang="en-US" dirty="0"/>
              <a:t> </a:t>
            </a:r>
            <a:r>
              <a:rPr lang="vi-VN" dirty="0"/>
              <a:t>Vài </a:t>
            </a:r>
            <a:r>
              <a:rPr lang="vi-VN" dirty="0">
                <a:solidFill>
                  <a:srgbClr val="00B050"/>
                </a:solidFill>
              </a:rPr>
              <a:t>câu</a:t>
            </a:r>
            <a:r>
              <a:rPr lang="vi-VN" dirty="0"/>
              <a:t> nói ấy thì được cái gì!</a:t>
            </a: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vi-VN" dirty="0"/>
              <a:t>Ông ấy cười khanh </a:t>
            </a:r>
            <a:r>
              <a:rPr lang="vi-VN" dirty="0">
                <a:solidFill>
                  <a:srgbClr val="00B050"/>
                </a:solidFill>
              </a:rPr>
              <a:t>khách</a:t>
            </a:r>
            <a:r>
              <a:rPr lang="en-US" dirty="0"/>
              <a:t>! </a:t>
            </a:r>
            <a:r>
              <a:rPr lang="vi-VN" dirty="0"/>
              <a:t>Nhà ông ấy đang có </a:t>
            </a:r>
            <a:r>
              <a:rPr lang="vi-VN" dirty="0">
                <a:solidFill>
                  <a:srgbClr val="00B050"/>
                </a:solidFill>
              </a:rPr>
              <a:t>khách</a:t>
            </a:r>
            <a:r>
              <a:rPr lang="en-US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vi-VN" dirty="0"/>
              <a:t>Ông ấy đang </a:t>
            </a:r>
            <a:r>
              <a:rPr lang="vi-VN" dirty="0">
                <a:solidFill>
                  <a:srgbClr val="00B050"/>
                </a:solidFill>
              </a:rPr>
              <a:t>sút</a:t>
            </a:r>
            <a:r>
              <a:rPr lang="vi-VN" dirty="0"/>
              <a:t> giảm sức khỏe</a:t>
            </a:r>
            <a:r>
              <a:rPr lang="en-US" dirty="0"/>
              <a:t>! </a:t>
            </a:r>
            <a:r>
              <a:rPr lang="vi-VN" dirty="0"/>
              <a:t>Cầu thủ </a:t>
            </a:r>
            <a:r>
              <a:rPr lang="vi-VN" dirty="0">
                <a:solidFill>
                  <a:srgbClr val="00B050"/>
                </a:solidFill>
              </a:rPr>
              <a:t>sút</a:t>
            </a:r>
            <a:r>
              <a:rPr lang="vi-VN" dirty="0"/>
              <a:t> bóng.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7153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vi-VN" dirty="0">
                <a:solidFill>
                  <a:srgbClr val="FF0000"/>
                </a:solidFill>
              </a:rPr>
              <a:t>ttachment ambiguity</a:t>
            </a:r>
            <a:r>
              <a:rPr lang="en-US" dirty="0"/>
              <a:t> (</a:t>
            </a:r>
            <a:r>
              <a:rPr lang="en-GB" dirty="0"/>
              <a:t>the doubt is about the syntactic structure of the sentence</a:t>
            </a:r>
            <a:r>
              <a:rPr lang="en-US" dirty="0"/>
              <a:t>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98555C-CA7F-DA27-ED6E-5ABE3979D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5880056" cy="2532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BAD6A-530E-183B-B4DF-0380BAB96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00" y="2659792"/>
            <a:ext cx="2450138" cy="1553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238595-7966-42F3-C348-06C4BD41F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842" y="4555982"/>
            <a:ext cx="2356578" cy="192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865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Discourse analysis</a:t>
            </a: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Alice understands that you like your mother, but </a:t>
            </a:r>
            <a:r>
              <a:rPr lang="en-GB" dirty="0">
                <a:solidFill>
                  <a:srgbClr val="FF0000"/>
                </a:solidFill>
              </a:rPr>
              <a:t>she</a:t>
            </a:r>
            <a:r>
              <a:rPr lang="en-GB" dirty="0"/>
              <a:t> …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Does </a:t>
            </a:r>
            <a:r>
              <a:rPr lang="en-GB" dirty="0">
                <a:solidFill>
                  <a:srgbClr val="FF0000"/>
                </a:solidFill>
              </a:rPr>
              <a:t>she</a:t>
            </a:r>
            <a:r>
              <a:rPr lang="en-GB" dirty="0"/>
              <a:t> refer to </a:t>
            </a:r>
            <a:r>
              <a:rPr lang="en-GB" i="1" dirty="0">
                <a:solidFill>
                  <a:srgbClr val="FF0000"/>
                </a:solidFill>
              </a:rPr>
              <a:t>Alice</a:t>
            </a:r>
            <a:r>
              <a:rPr lang="en-GB" dirty="0"/>
              <a:t> or </a:t>
            </a:r>
            <a:r>
              <a:rPr lang="en-GB" dirty="0">
                <a:solidFill>
                  <a:srgbClr val="00B050"/>
                </a:solidFill>
              </a:rPr>
              <a:t>your mother</a:t>
            </a:r>
            <a:r>
              <a:rPr lang="en-GB" dirty="0"/>
              <a:t>?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857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260"/>
            <a:ext cx="11004176" cy="47732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Language is compositional</a:t>
            </a: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ACA79-81B8-D797-2F98-8C853AB2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5717"/>
            <a:ext cx="12192000" cy="1672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318902-3209-F754-BB8B-5AA3D7AF1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48" y="3587616"/>
            <a:ext cx="12192000" cy="1861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637144-3581-04CC-68C2-09A2074FB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648" y="5069434"/>
            <a:ext cx="12192000" cy="183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83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1004176" cy="477320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Scale</a:t>
            </a: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Oxford Dictionary</a:t>
            </a:r>
            <a:r>
              <a:rPr lang="en-GB" dirty="0"/>
              <a:t> has </a:t>
            </a:r>
            <a:r>
              <a:rPr lang="en-GB" dirty="0">
                <a:solidFill>
                  <a:srgbClr val="00B050"/>
                </a:solidFill>
              </a:rPr>
              <a:t>273,000 headwords</a:t>
            </a:r>
            <a:r>
              <a:rPr lang="en-GB" dirty="0"/>
              <a:t>; 171,476 of them being in current use, 47,156 being obsolete words and around 9,500 derivative words included as subentries.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The Penn Treebank</a:t>
            </a:r>
            <a:r>
              <a:rPr lang="en-GB" dirty="0"/>
              <a:t>, produced approximately 7 million words of part-of-speech tagged text, 3 million words of skeletally parsed text, over 2 million words of text parsed for predicate argument structure, and </a:t>
            </a:r>
            <a:r>
              <a:rPr lang="en-GB" dirty="0">
                <a:solidFill>
                  <a:srgbClr val="00B050"/>
                </a:solidFill>
              </a:rPr>
              <a:t>1.6 million words of transcribed spoken text annotated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Wikipedia</a:t>
            </a:r>
            <a:r>
              <a:rPr lang="en-GB" dirty="0"/>
              <a:t> - </a:t>
            </a:r>
            <a:r>
              <a:rPr lang="en-GB" dirty="0">
                <a:solidFill>
                  <a:srgbClr val="00B050"/>
                </a:solidFill>
              </a:rPr>
              <a:t>2.9 billion word (English)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Web</a:t>
            </a:r>
            <a:r>
              <a:rPr lang="en-GB" dirty="0"/>
              <a:t> - </a:t>
            </a:r>
            <a:r>
              <a:rPr lang="en-GB" dirty="0">
                <a:solidFill>
                  <a:srgbClr val="00B050"/>
                </a:solidFill>
              </a:rPr>
              <a:t>several billions of words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vi-VN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77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NLP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41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2968</Words>
  <Application>Microsoft Office PowerPoint</Application>
  <PresentationFormat>Widescreen</PresentationFormat>
  <Paragraphs>465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Symbol</vt:lpstr>
      <vt:lpstr>Times New Roman</vt:lpstr>
      <vt:lpstr>Office Theme</vt:lpstr>
      <vt:lpstr>NATURAL LANGUAGE PROCESSING (NLP)</vt:lpstr>
      <vt:lpstr>Motivation</vt:lpstr>
      <vt:lpstr>Motivation</vt:lpstr>
      <vt:lpstr>Definition</vt:lpstr>
      <vt:lpstr>Approaches to NLP</vt:lpstr>
      <vt:lpstr>Approaches to NLP</vt:lpstr>
      <vt:lpstr>Approaches to NLP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tasks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PowerPoint Presentation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applications</vt:lpstr>
      <vt:lpstr>NLP challenges</vt:lpstr>
      <vt:lpstr>NLP challenges</vt:lpstr>
      <vt:lpstr>NLP challenges</vt:lpstr>
      <vt:lpstr>NLP challenges</vt:lpstr>
      <vt:lpstr>NLP challenges</vt:lpstr>
      <vt:lpstr>NLP challenges</vt:lpstr>
      <vt:lpstr>NLP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  TECHNOLOGY AND MANAGEMENT</dc:title>
  <dc:creator>Quoc Dinh</dc:creator>
  <cp:lastModifiedBy>Quoc Dinh Truong</cp:lastModifiedBy>
  <cp:revision>318</cp:revision>
  <dcterms:created xsi:type="dcterms:W3CDTF">2023-02-12T07:59:05Z</dcterms:created>
  <dcterms:modified xsi:type="dcterms:W3CDTF">2025-05-06T10:13:16Z</dcterms:modified>
</cp:coreProperties>
</file>