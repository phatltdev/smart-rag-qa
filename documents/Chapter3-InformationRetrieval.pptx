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E99A-335F-ED7F-86D0-0B7CF2470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F235E-5D24-0BE9-BF11-46BFC2709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0A96E-2860-BCD7-F55B-182014DA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773D-AE93-A02A-6965-7C74FB6B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E86D-A9FC-290D-6781-4C389E13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6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6FF6-DEE9-493C-E46D-63782C4D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2103"/>
            <a:ext cx="10515600" cy="83944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DDE08-2A33-6A3B-E103-AC51002ED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1"/>
            <a:ext cx="10515600" cy="435133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9F7C3-2FAB-C484-6315-F8277358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7E93-8C4D-FD47-B07A-22F7D009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216EA-0442-6D89-117E-5485D9FC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202" y="6356350"/>
            <a:ext cx="2743200" cy="365125"/>
          </a:xfrm>
        </p:spPr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AAF8C-4CA0-2153-4719-8AF166288AFE}"/>
              </a:ext>
            </a:extLst>
          </p:cNvPr>
          <p:cNvSpPr/>
          <p:nvPr userDrawn="1"/>
        </p:nvSpPr>
        <p:spPr>
          <a:xfrm>
            <a:off x="0" y="0"/>
            <a:ext cx="12192000" cy="523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9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8A4C-8204-6892-A09E-93E12171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46984-56F7-FA99-F48E-9FFF651EE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6DBE8-1C5B-5755-6697-4F6DE5C6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24E5E-8A2C-A43B-539B-287BA13F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F9404-F36E-F7DF-BEA1-AA9319B8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94AD-360A-D577-B7C0-AB00A1711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1603-89C1-FC93-C87D-DD9F0D6A6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0A722-2683-C5C6-9D61-A6F686EAF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6A4CA-41F0-60AE-1281-2E910DD1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C1F4D-154D-575F-8F99-9FABDADA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F2F91-3C80-21AE-32FD-C0349F95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1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BBF8-5359-6895-E013-43D0C721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E158-3737-B86B-240F-B8B6D4984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56613-850C-5C90-AB92-370A1F59E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1CBEE-EA50-17F4-B300-978008091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7B828-9D0D-FC4E-21DE-7001E2443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38E6C-D003-7D42-7A48-1DA927B6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1A02F-4800-8F6A-4D1C-50504BF0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5F13F-2A3C-9EE2-DA73-1FA914FC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7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BA8C-9F64-2902-6899-1DCCA67D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32632-7821-FEA0-46B4-428643F6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61020-63D4-EA2B-3CE2-C4EA6490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3CD84-094F-B6C6-317E-5397DFC8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1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C4B82-FAAF-A638-CC82-C5CF85E6B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E16BB-B1CE-47C0-4CA3-98A8429C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2CB38-CA25-25F3-A28C-96974122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7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9FC1-F1B4-935D-223B-FF9026DE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0D69-EDE1-5722-D309-DB74E5D22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7919C-0284-8FC2-8AF8-E25D25F80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10F71-DD33-A945-40E5-157809B85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940B1-4E0A-86FD-DB63-FA2EDE62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0E100-F3B2-E810-C9C7-B346E02C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0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BDE2E-D7A6-EB4A-7B77-F1EE6063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0C683-9447-7295-1D95-CA429675F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55656-3260-BA45-D5C5-A4A906CA3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330B4-C7E4-49A2-E68D-EBC17442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D7556-ED10-0DAB-114D-AE364E1E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30525-5767-96D8-DA6E-C5791240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7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F308-92A2-CD96-E4A7-5ACC420F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02245-9478-3604-C050-B4F982616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2ADED-100D-52F8-4EE0-793837A6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5FC5C-2137-AE4A-4950-01E70865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FC086-2164-BAE9-81EE-35F0E9B9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3CDAD-A588-4656-1B11-CBEBBDB72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D442F-AFBA-259D-DAE7-29B627B16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B83D2-2AD9-3F78-ED0E-E4444D28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4F7E-85E4-FC71-7083-0D75E158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41AD8-951D-1067-551D-B82ED414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2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23170-379D-8CDF-FE8D-D3AE2C26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EF52-E98F-D16B-0738-A8D2E7E5D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230B8-00DE-D6C8-0398-7AAA7AFE1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B2EA0-E1B1-43E6-876E-C527C1A5BF5D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9018A-AECB-D062-3BFC-E27F832CD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F597D-92D6-84ED-B67D-23F22CD10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642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08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685F-167A-9803-8F39-BA4F09949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64" y="884049"/>
            <a:ext cx="11397007" cy="143230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BB5F2-AD2D-4D4A-9903-17DF5CFC1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795" y="2819614"/>
            <a:ext cx="10202944" cy="1655762"/>
          </a:xfrm>
        </p:spPr>
        <p:txBody>
          <a:bodyPr/>
          <a:lstStyle/>
          <a:p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Chapter 3: INFORMATION RETRIEVAL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CBB6B7B-B524-7EBB-585A-DB0BAABB3569}"/>
              </a:ext>
            </a:extLst>
          </p:cNvPr>
          <p:cNvSpPr txBox="1">
            <a:spLocks/>
          </p:cNvSpPr>
          <p:nvPr/>
        </p:nvSpPr>
        <p:spPr>
          <a:xfrm>
            <a:off x="304800" y="5009496"/>
            <a:ext cx="1170790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Trương Quốc Định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Faculty of Information Systems – College of Information &amp; Communication Technology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427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Information Retrieval (IR) is </a:t>
            </a:r>
            <a:r>
              <a:rPr lang="en-GB" dirty="0">
                <a:solidFill>
                  <a:srgbClr val="00B050"/>
                </a:solidFill>
              </a:rPr>
              <a:t>finding material</a:t>
            </a:r>
            <a:r>
              <a:rPr lang="en-GB" dirty="0"/>
              <a:t> (usually documents) of an </a:t>
            </a:r>
            <a:r>
              <a:rPr lang="en-GB" dirty="0">
                <a:solidFill>
                  <a:srgbClr val="00B050"/>
                </a:solidFill>
              </a:rPr>
              <a:t>unstructured nature</a:t>
            </a:r>
            <a:r>
              <a:rPr lang="en-GB" dirty="0"/>
              <a:t> (usually text) that satisfies an </a:t>
            </a:r>
            <a:r>
              <a:rPr lang="en-GB" dirty="0">
                <a:solidFill>
                  <a:srgbClr val="00B050"/>
                </a:solidFill>
              </a:rPr>
              <a:t>information need</a:t>
            </a:r>
            <a:r>
              <a:rPr lang="en-GB" dirty="0"/>
              <a:t> from within </a:t>
            </a:r>
            <a:r>
              <a:rPr lang="en-GB" dirty="0">
                <a:solidFill>
                  <a:srgbClr val="00B050"/>
                </a:solidFill>
              </a:rPr>
              <a:t>large collections</a:t>
            </a:r>
            <a:r>
              <a:rPr lang="en-GB" dirty="0"/>
              <a:t> (usually stored on computers).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29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assumptions of Information Retrieval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>
                <a:solidFill>
                  <a:srgbClr val="00B050"/>
                </a:solidFill>
              </a:rPr>
              <a:t>Collection</a:t>
            </a:r>
            <a:r>
              <a:rPr lang="en-GB" dirty="0"/>
              <a:t>: Fixed set of documents</a:t>
            </a:r>
          </a:p>
          <a:p>
            <a:pPr algn="just"/>
            <a:r>
              <a:rPr lang="en-GB" dirty="0">
                <a:solidFill>
                  <a:srgbClr val="00B050"/>
                </a:solidFill>
              </a:rPr>
              <a:t>Goal</a:t>
            </a:r>
            <a:r>
              <a:rPr lang="en-GB" dirty="0"/>
              <a:t>: Retrieve documents with information that is relevant to the user’s information need and helps the user complete a task</a:t>
            </a:r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29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classic search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GB" dirty="0"/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71F3701-EB77-32A6-87F8-BBBB611074D3}"/>
              </a:ext>
            </a:extLst>
          </p:cNvPr>
          <p:cNvGrpSpPr/>
          <p:nvPr/>
        </p:nvGrpSpPr>
        <p:grpSpPr>
          <a:xfrm>
            <a:off x="1781969" y="1478791"/>
            <a:ext cx="8628062" cy="5224462"/>
            <a:chOff x="258763" y="1557338"/>
            <a:chExt cx="8628062" cy="5224462"/>
          </a:xfrm>
        </p:grpSpPr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398D5C09-7D6B-B3BA-CCE9-EE306CDE2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8600" y="5761038"/>
              <a:ext cx="0" cy="2381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triangle" w="med" len="med"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65F86DBE-E1DD-9B78-0843-33333171A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6142038"/>
              <a:ext cx="1617663" cy="639762"/>
            </a:xfrm>
            <a:prstGeom prst="flowChartMultidocument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Corpus</a:t>
              </a:r>
              <a:b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</a:br>
              <a:endParaRPr lang="en-US" altLang="zh-TW" sz="1400" b="1"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31E4DCFC-45CA-4933-A326-E90EC691D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925" y="1587500"/>
              <a:ext cx="1617663" cy="639763"/>
            </a:xfrm>
            <a:prstGeom prst="ellipse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TASK</a:t>
              </a:r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807E48E4-6C27-79C5-1575-CA716E4FB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925" y="2478088"/>
              <a:ext cx="1617663" cy="638175"/>
            </a:xfrm>
            <a:prstGeom prst="ellipse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TW" altLang="en-US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 </a:t>
              </a: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Info Need</a:t>
              </a:r>
              <a:b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</a:br>
              <a:endParaRPr lang="en-US" altLang="zh-TW" sz="1400" b="1"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10" name="AutoShape 7">
              <a:extLst>
                <a:ext uri="{FF2B5EF4-FFF2-40B4-BE49-F238E27FC236}">
                  <a16:creationId xmlns:a16="http://schemas.microsoft.com/office/drawing/2014/main" id="{41CB70FB-B6B1-5278-8104-1D649451C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925" y="4254500"/>
              <a:ext cx="1617663" cy="641350"/>
            </a:xfrm>
            <a:prstGeom prst="flowChartManualInput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Query</a:t>
              </a:r>
              <a:b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</a:br>
              <a:endParaRPr lang="en-US" altLang="zh-TW" sz="1400" b="1"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F4436969-1114-B3AA-25FC-310B2127C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925" y="3365500"/>
              <a:ext cx="1617663" cy="639763"/>
            </a:xfrm>
            <a:prstGeom prst="ellipse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TW" altLang="en-US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 </a:t>
              </a: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Verbal form</a:t>
              </a: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37EB91B9-A7CA-F856-B499-8DF0DCB2C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7963" y="2227263"/>
              <a:ext cx="0" cy="2508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BF067A98-C097-5755-96B0-9389DFF1C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7963" y="3994150"/>
              <a:ext cx="0" cy="3190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E8D125A1-3A1D-0ED2-8CCE-3B1A8FE0F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7963" y="3116263"/>
              <a:ext cx="0" cy="260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utoShape 12">
              <a:extLst>
                <a:ext uri="{FF2B5EF4-FFF2-40B4-BE49-F238E27FC236}">
                  <a16:creationId xmlns:a16="http://schemas.microsoft.com/office/drawing/2014/main" id="{4C80636A-E0B0-E436-C6BF-5CA797DFC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5" y="6049963"/>
              <a:ext cx="1617663" cy="639762"/>
            </a:xfrm>
            <a:prstGeom prst="flowChartTerminator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Results</a:t>
              </a:r>
              <a:b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</a:br>
              <a:endParaRPr lang="en-US" altLang="zh-TW" sz="1400" b="1"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09B64AC8-5699-C1DC-32B5-D9AD3E35A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5" y="5160963"/>
              <a:ext cx="1617663" cy="639762"/>
            </a:xfrm>
            <a:prstGeom prst="flowChartProcess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SEARCH</a:t>
              </a:r>
              <a:b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</a:b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ENGINE</a:t>
              </a:r>
              <a:b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</a:br>
              <a:endParaRPr lang="en-US" altLang="zh-TW" sz="1400" b="1"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F4F22F7C-6ED2-60FF-15E8-8ADD507DD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763" y="6049963"/>
              <a:ext cx="1722437" cy="639762"/>
            </a:xfrm>
            <a:prstGeom prst="ellipse">
              <a:avLst/>
            </a:prstGeom>
            <a:solidFill>
              <a:srgbClr val="7CA8D4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Query</a:t>
              </a:r>
              <a:b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</a:br>
              <a:r>
                <a:rPr lang="en-US" altLang="zh-TW" sz="1400" b="1"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Refinement </a:t>
              </a: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0D7FD424-A6F5-6F37-EFAD-945D1EB1B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7963" y="4895850"/>
              <a:ext cx="1293812" cy="2651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13396C2F-76E8-6C10-AB07-AF861F4E18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41875" y="5535613"/>
              <a:ext cx="1482725" cy="6064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88F76397-265C-D4A8-C09C-783E3296AC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1200" y="6359525"/>
              <a:ext cx="1254125" cy="111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814D44FC-1449-D59C-B659-10CFE3C3B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6163" y="4676775"/>
              <a:ext cx="0" cy="13731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4C977C1C-2884-DB77-6494-82144F381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225" y="4675188"/>
              <a:ext cx="8604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E57DFA7D-0C82-14EA-67FE-900342644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600" y="5802313"/>
              <a:ext cx="0" cy="2381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29AFAF32-7A63-2FEE-1A37-CEDBAA489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7025" y="1557338"/>
              <a:ext cx="2951163" cy="701675"/>
            </a:xfrm>
            <a:prstGeom prst="rect">
              <a:avLst/>
            </a:prstGeom>
            <a:solidFill>
              <a:srgbClr val="FFD52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folHlink"/>
                </a:buClr>
                <a:buSzPct val="75000"/>
                <a:buFont typeface="Comic Sans MS" pitchFamily="66" charset="0"/>
                <a:buNone/>
                <a:defRPr/>
              </a:pPr>
              <a:r>
                <a:rPr kumimoji="1" lang="en-US" altLang="zh-TW" sz="2000">
                  <a:solidFill>
                    <a:schemeClr val="tx2"/>
                  </a:solidFill>
                  <a:latin typeface="Times New Roman" pitchFamily="18" charset="0"/>
                  <a:ea typeface="新細明體" pitchFamily="18" charset="-120"/>
                </a:rPr>
                <a:t>Get rid of mice in a politically correct way</a:t>
              </a:r>
              <a:endParaRPr kumimoji="1" lang="en-US" altLang="zh-TW" sz="2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新細明體" pitchFamily="18" charset="-120"/>
              </a:endParaRP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6F20B2CF-1A06-F1DE-81C7-65959728D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4488" y="2544763"/>
              <a:ext cx="2824162" cy="579437"/>
            </a:xfrm>
            <a:prstGeom prst="rect">
              <a:avLst/>
            </a:prstGeom>
            <a:solidFill>
              <a:srgbClr val="FFD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Comic Sans MS" panose="030F0702030302020204" pitchFamily="66" charset="0"/>
                <a:buNone/>
              </a:pPr>
              <a:r>
                <a:rPr kumimoji="1" lang="en-US" altLang="zh-TW" sz="2000">
                  <a:solidFill>
                    <a:schemeClr val="tx2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Info about removing mice</a:t>
              </a:r>
            </a:p>
            <a:p>
              <a:pPr>
                <a:lnSpc>
                  <a:spcPct val="4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Comic Sans MS" panose="030F0702030302020204" pitchFamily="66" charset="0"/>
                <a:buNone/>
              </a:pPr>
              <a:r>
                <a:rPr kumimoji="1" lang="en-US" altLang="zh-TW" sz="2000">
                  <a:solidFill>
                    <a:schemeClr val="tx2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without killing them </a:t>
              </a: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FEE4FC2A-03C2-13F0-A72B-99EAAB059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4488" y="3462338"/>
              <a:ext cx="2889250" cy="396875"/>
            </a:xfrm>
            <a:prstGeom prst="rect">
              <a:avLst/>
            </a:prstGeom>
            <a:solidFill>
              <a:srgbClr val="FFD52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itchFamily="34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folHlink"/>
                </a:buClr>
                <a:buSzPct val="75000"/>
                <a:buFont typeface="Comic Sans MS" pitchFamily="66" charset="0"/>
                <a:buNone/>
                <a:defRPr/>
              </a:pPr>
              <a:r>
                <a:rPr kumimoji="1" lang="zh-TW" altLang="en-US" sz="20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新細明體" pitchFamily="18" charset="-120"/>
                </a:rPr>
                <a:t> </a:t>
              </a:r>
              <a:r>
                <a:rPr kumimoji="1" lang="en-US" altLang="zh-TW" sz="2000">
                  <a:solidFill>
                    <a:schemeClr val="tx2"/>
                  </a:solidFill>
                  <a:latin typeface="Times New Roman" pitchFamily="18" charset="0"/>
                  <a:ea typeface="新細明體" pitchFamily="18" charset="-120"/>
                </a:rPr>
                <a:t>How do I trap mice alive?</a:t>
              </a:r>
              <a:endParaRPr kumimoji="1" lang="en-US" altLang="zh-TW" sz="2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新細明體" pitchFamily="18" charset="-120"/>
              </a:endParaRPr>
            </a:p>
          </p:txBody>
        </p:sp>
        <p:pic>
          <p:nvPicPr>
            <p:cNvPr id="27" name="Picture 24" descr="search_lg">
              <a:extLst>
                <a:ext uri="{FF2B5EF4-FFF2-40B4-BE49-F238E27FC236}">
                  <a16:creationId xmlns:a16="http://schemas.microsoft.com/office/drawing/2014/main" id="{96C613CC-95A8-EDF7-FF16-9349920559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524" t="-3798"/>
            <a:stretch>
              <a:fillRect/>
            </a:stretch>
          </p:blipFill>
          <p:spPr bwMode="auto">
            <a:xfrm>
              <a:off x="5332413" y="4257675"/>
              <a:ext cx="3554412" cy="958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DE18D94E-A1A4-BF2F-D9E2-59A9516EF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1863" y="4386263"/>
              <a:ext cx="14065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chemeClr val="folHlink"/>
                </a:buClr>
                <a:buSzPct val="75000"/>
                <a:buFont typeface="Comic Sans MS" panose="030F0702030302020204" pitchFamily="66" charset="0"/>
                <a:buNone/>
              </a:pPr>
              <a:r>
                <a:rPr kumimoji="1" lang="en-US" altLang="zh-TW" sz="1600" b="1">
                  <a:solidFill>
                    <a:schemeClr val="tx2"/>
                  </a:solidFill>
                  <a:latin typeface="Courier New" panose="02070309020205020404" pitchFamily="49" charset="0"/>
                  <a:ea typeface="新細明體" panose="02020500000000000000" pitchFamily="18" charset="-120"/>
                  <a:cs typeface="Arial Unicode MS" pitchFamily="34" charset="-120"/>
                </a:rPr>
                <a:t>mouse trap</a:t>
              </a:r>
              <a:endParaRPr kumimoji="1" lang="en-US" altLang="zh-TW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19EB64FC-54AA-9D3A-0BF7-0A58E8AD4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7200" y="2238375"/>
              <a:ext cx="1588" cy="3492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347A2C1F-A43E-436C-6925-B57E04E40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6088" y="3103563"/>
              <a:ext cx="1587" cy="4111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ED920770-9135-F060-F6C1-23E41BBD7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11963" y="3856038"/>
              <a:ext cx="1587" cy="4111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32" name="AutoShape 29">
              <a:extLst>
                <a:ext uri="{FF2B5EF4-FFF2-40B4-BE49-F238E27FC236}">
                  <a16:creationId xmlns:a16="http://schemas.microsoft.com/office/drawing/2014/main" id="{187BBA8D-E853-7A98-0445-4FDCF78FE8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74963" y="2357438"/>
              <a:ext cx="250825" cy="0"/>
            </a:xfrm>
            <a:prstGeom prst="straightConnector1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triangle" w="med" len="med"/>
                </a14:hiddenLine>
              </a:ext>
            </a:extLst>
          </p:spPr>
        </p:cxnSp>
        <p:grpSp>
          <p:nvGrpSpPr>
            <p:cNvPr id="33" name="Group 30">
              <a:extLst>
                <a:ext uri="{FF2B5EF4-FFF2-40B4-BE49-F238E27FC236}">
                  <a16:creationId xmlns:a16="http://schemas.microsoft.com/office/drawing/2014/main" id="{D35A1267-C677-62C0-FF94-1CB2ED3C77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09863" y="2176463"/>
              <a:ext cx="4060825" cy="369887"/>
              <a:chOff x="1707" y="1102"/>
              <a:chExt cx="2558" cy="233"/>
            </a:xfrm>
          </p:grpSpPr>
          <p:sp>
            <p:nvSpPr>
              <p:cNvPr id="42" name="Text Box 31">
                <a:extLst>
                  <a:ext uri="{FF2B5EF4-FFF2-40B4-BE49-F238E27FC236}">
                    <a16:creationId xmlns:a16="http://schemas.microsoft.com/office/drawing/2014/main" id="{E796B166-3BDB-3032-96E9-E8FE8724B0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7" y="1102"/>
                <a:ext cx="1127" cy="233"/>
              </a:xfrm>
              <a:prstGeom prst="rect">
                <a:avLst/>
              </a:prstGeom>
              <a:solidFill>
                <a:srgbClr val="88F29C"/>
              </a:solidFill>
              <a:ln w="28575">
                <a:solidFill>
                  <a:srgbClr val="980000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chemeClr val="folHlink"/>
                  </a:buClr>
                  <a:buSzPct val="75000"/>
                  <a:buFont typeface="Comic Sans MS" panose="030F0702030302020204" pitchFamily="66" charset="0"/>
                  <a:buNone/>
                </a:pPr>
                <a:r>
                  <a:rPr kumimoji="1" lang="en-US" altLang="zh-TW" sz="1800">
                    <a:solidFill>
                      <a:srgbClr val="980000"/>
                    </a:solidFill>
                    <a:latin typeface="Arial" panose="020B0604020202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Misconception?</a:t>
                </a:r>
                <a:endParaRPr kumimoji="1" lang="en-US" altLang="zh-TW">
                  <a:solidFill>
                    <a:srgbClr val="980000"/>
                  </a:solidFill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cxnSp>
            <p:nvCxnSpPr>
              <p:cNvPr id="43" name="AutoShape 32">
                <a:extLst>
                  <a:ext uri="{FF2B5EF4-FFF2-40B4-BE49-F238E27FC236}">
                    <a16:creationId xmlns:a16="http://schemas.microsoft.com/office/drawing/2014/main" id="{3F9CE43E-A194-6C74-D418-D808F0447E75}"/>
                  </a:ext>
                </a:extLst>
              </p:cNvPr>
              <p:cNvCxnSpPr>
                <a:cxnSpLocks noChangeShapeType="1"/>
                <a:stCxn id="42" idx="1"/>
              </p:cNvCxnSpPr>
              <p:nvPr/>
            </p:nvCxnSpPr>
            <p:spPr bwMode="auto">
              <a:xfrm rot="10800000">
                <a:off x="1707" y="1200"/>
                <a:ext cx="570" cy="18"/>
              </a:xfrm>
              <a:prstGeom prst="straightConnector1">
                <a:avLst/>
              </a:prstGeom>
              <a:noFill/>
              <a:ln w="28575">
                <a:solidFill>
                  <a:srgbClr val="98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AutoShape 33">
                <a:extLst>
                  <a:ext uri="{FF2B5EF4-FFF2-40B4-BE49-F238E27FC236}">
                    <a16:creationId xmlns:a16="http://schemas.microsoft.com/office/drawing/2014/main" id="{5EEE85F2-6E06-1C41-2529-61E5E53A8D7A}"/>
                  </a:ext>
                </a:extLst>
              </p:cNvPr>
              <p:cNvCxnSpPr>
                <a:cxnSpLocks noChangeShapeType="1"/>
                <a:stCxn id="42" idx="3"/>
              </p:cNvCxnSpPr>
              <p:nvPr/>
            </p:nvCxnSpPr>
            <p:spPr bwMode="auto">
              <a:xfrm>
                <a:off x="3404" y="1218"/>
                <a:ext cx="861" cy="4"/>
              </a:xfrm>
              <a:prstGeom prst="straightConnector1">
                <a:avLst/>
              </a:prstGeom>
              <a:noFill/>
              <a:ln w="28575">
                <a:solidFill>
                  <a:srgbClr val="98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5F4C9083-EF78-7798-9CF2-D3146E885D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4150" y="3125788"/>
              <a:ext cx="4060825" cy="369887"/>
              <a:chOff x="1716" y="1700"/>
              <a:chExt cx="2558" cy="233"/>
            </a:xfrm>
          </p:grpSpPr>
          <p:sp>
            <p:nvSpPr>
              <p:cNvPr id="39" name="Text Box 35">
                <a:extLst>
                  <a:ext uri="{FF2B5EF4-FFF2-40B4-BE49-F238E27FC236}">
                    <a16:creationId xmlns:a16="http://schemas.microsoft.com/office/drawing/2014/main" id="{16878F23-8627-4337-F934-A35662598F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9" y="1700"/>
                <a:ext cx="1130" cy="233"/>
              </a:xfrm>
              <a:prstGeom prst="rect">
                <a:avLst/>
              </a:prstGeom>
              <a:solidFill>
                <a:srgbClr val="88F29C"/>
              </a:solidFill>
              <a:ln w="28575">
                <a:solidFill>
                  <a:srgbClr val="98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chemeClr val="folHlink"/>
                  </a:buClr>
                  <a:buSzPct val="75000"/>
                  <a:buFont typeface="Comic Sans MS" panose="030F0702030302020204" pitchFamily="66" charset="0"/>
                  <a:buNone/>
                </a:pPr>
                <a:r>
                  <a:rPr kumimoji="1" lang="en-US" altLang="zh-TW" sz="1800">
                    <a:solidFill>
                      <a:srgbClr val="980000"/>
                    </a:solidFill>
                    <a:latin typeface="Arial" panose="020B0604020202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Mistranslation?</a:t>
                </a:r>
                <a:endParaRPr kumimoji="1" lang="en-US" altLang="zh-TW">
                  <a:solidFill>
                    <a:srgbClr val="980000"/>
                  </a:solidFill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cxnSp>
            <p:nvCxnSpPr>
              <p:cNvPr id="40" name="AutoShape 36">
                <a:extLst>
                  <a:ext uri="{FF2B5EF4-FFF2-40B4-BE49-F238E27FC236}">
                    <a16:creationId xmlns:a16="http://schemas.microsoft.com/office/drawing/2014/main" id="{99A497E0-BEF9-96CD-6890-93CF2D767138}"/>
                  </a:ext>
                </a:extLst>
              </p:cNvPr>
              <p:cNvCxnSpPr>
                <a:cxnSpLocks noChangeShapeType="1"/>
                <a:stCxn id="39" idx="1"/>
              </p:cNvCxnSpPr>
              <p:nvPr/>
            </p:nvCxnSpPr>
            <p:spPr bwMode="auto">
              <a:xfrm rot="10800000">
                <a:off x="1716" y="1765"/>
                <a:ext cx="553" cy="51"/>
              </a:xfrm>
              <a:prstGeom prst="straightConnector1">
                <a:avLst/>
              </a:prstGeom>
              <a:noFill/>
              <a:ln w="28575">
                <a:solidFill>
                  <a:srgbClr val="98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" name="AutoShape 37">
                <a:extLst>
                  <a:ext uri="{FF2B5EF4-FFF2-40B4-BE49-F238E27FC236}">
                    <a16:creationId xmlns:a16="http://schemas.microsoft.com/office/drawing/2014/main" id="{C141D3E6-C36D-89E0-4F36-4A811ABE0D7E}"/>
                  </a:ext>
                </a:extLst>
              </p:cNvPr>
              <p:cNvCxnSpPr>
                <a:cxnSpLocks noChangeShapeType="1"/>
                <a:stCxn id="39" idx="3"/>
              </p:cNvCxnSpPr>
              <p:nvPr/>
            </p:nvCxnSpPr>
            <p:spPr bwMode="auto">
              <a:xfrm flipV="1">
                <a:off x="3399" y="1809"/>
                <a:ext cx="875" cy="7"/>
              </a:xfrm>
              <a:prstGeom prst="straightConnector1">
                <a:avLst/>
              </a:prstGeom>
              <a:noFill/>
              <a:ln w="28575">
                <a:solidFill>
                  <a:srgbClr val="98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5" name="Group 38">
              <a:extLst>
                <a:ext uri="{FF2B5EF4-FFF2-40B4-BE49-F238E27FC236}">
                  <a16:creationId xmlns:a16="http://schemas.microsoft.com/office/drawing/2014/main" id="{34281414-679E-59FF-F946-B30EF506A6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4463" y="3857625"/>
              <a:ext cx="4105275" cy="369888"/>
              <a:chOff x="1691" y="2161"/>
              <a:chExt cx="2586" cy="233"/>
            </a:xfrm>
          </p:grpSpPr>
          <p:sp>
            <p:nvSpPr>
              <p:cNvPr id="36" name="Text Box 39">
                <a:extLst>
                  <a:ext uri="{FF2B5EF4-FFF2-40B4-BE49-F238E27FC236}">
                    <a16:creationId xmlns:a16="http://schemas.microsoft.com/office/drawing/2014/main" id="{82EC8025-EA3D-5C60-7C85-7DD06A25E0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8" y="2161"/>
                <a:ext cx="1143" cy="233"/>
              </a:xfrm>
              <a:prstGeom prst="rect">
                <a:avLst/>
              </a:prstGeom>
              <a:solidFill>
                <a:srgbClr val="88F29C"/>
              </a:solidFill>
              <a:ln w="28575">
                <a:solidFill>
                  <a:srgbClr val="980000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chemeClr val="folHlink"/>
                  </a:buClr>
                  <a:buSzPct val="75000"/>
                  <a:buFont typeface="Comic Sans MS" panose="030F0702030302020204" pitchFamily="66" charset="0"/>
                  <a:buNone/>
                </a:pPr>
                <a:r>
                  <a:rPr kumimoji="1" lang="en-US" altLang="zh-TW" sz="1800">
                    <a:solidFill>
                      <a:srgbClr val="980000"/>
                    </a:solidFill>
                    <a:latin typeface="Arial" panose="020B0604020202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Misformulation?</a:t>
                </a:r>
                <a:endParaRPr kumimoji="1" lang="en-US" altLang="zh-TW">
                  <a:solidFill>
                    <a:srgbClr val="980000"/>
                  </a:solidFill>
                  <a:latin typeface="Arial" panose="020B0604020202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cxnSp>
            <p:nvCxnSpPr>
              <p:cNvPr id="37" name="AutoShape 40">
                <a:extLst>
                  <a:ext uri="{FF2B5EF4-FFF2-40B4-BE49-F238E27FC236}">
                    <a16:creationId xmlns:a16="http://schemas.microsoft.com/office/drawing/2014/main" id="{A0494507-CADD-B807-608C-61AD959DDB96}"/>
                  </a:ext>
                </a:extLst>
              </p:cNvPr>
              <p:cNvCxnSpPr>
                <a:cxnSpLocks noChangeShapeType="1"/>
                <a:stCxn id="36" idx="1"/>
              </p:cNvCxnSpPr>
              <p:nvPr/>
            </p:nvCxnSpPr>
            <p:spPr bwMode="auto">
              <a:xfrm rot="10800000" flipV="1">
                <a:off x="1691" y="2277"/>
                <a:ext cx="587" cy="36"/>
              </a:xfrm>
              <a:prstGeom prst="straightConnector1">
                <a:avLst/>
              </a:prstGeom>
              <a:noFill/>
              <a:ln w="28575">
                <a:solidFill>
                  <a:srgbClr val="98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AutoShape 41">
                <a:extLst>
                  <a:ext uri="{FF2B5EF4-FFF2-40B4-BE49-F238E27FC236}">
                    <a16:creationId xmlns:a16="http://schemas.microsoft.com/office/drawing/2014/main" id="{704C802D-2376-77EB-9F31-C9D0952BA95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3400" y="2281"/>
                <a:ext cx="877" cy="5"/>
              </a:xfrm>
              <a:prstGeom prst="straightConnector1">
                <a:avLst/>
              </a:prstGeom>
              <a:noFill/>
              <a:ln w="28575">
                <a:solidFill>
                  <a:srgbClr val="98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1644074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Inverted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For </a:t>
            </a:r>
            <a:r>
              <a:rPr lang="en-GB" dirty="0">
                <a:solidFill>
                  <a:srgbClr val="00B050"/>
                </a:solidFill>
              </a:rPr>
              <a:t>each term t</a:t>
            </a:r>
            <a:r>
              <a:rPr lang="en-GB" dirty="0"/>
              <a:t>, we must store a </a:t>
            </a:r>
            <a:r>
              <a:rPr lang="en-GB" i="1" dirty="0">
                <a:solidFill>
                  <a:srgbClr val="00B050"/>
                </a:solidFill>
              </a:rPr>
              <a:t>list of all documents that contain t</a:t>
            </a:r>
            <a:r>
              <a:rPr lang="en-GB" dirty="0"/>
              <a:t>.</a:t>
            </a:r>
          </a:p>
          <a:p>
            <a:pPr lvl="1" algn="just"/>
            <a:r>
              <a:rPr lang="en-GB" dirty="0"/>
              <a:t>Identify each by a </a:t>
            </a:r>
            <a:r>
              <a:rPr lang="en-GB" dirty="0" err="1"/>
              <a:t>docID</a:t>
            </a:r>
            <a:r>
              <a:rPr lang="en-GB" dirty="0"/>
              <a:t>, a document serial number.</a:t>
            </a:r>
          </a:p>
          <a:p>
            <a:pPr algn="just"/>
            <a:r>
              <a:rPr lang="en-GB" dirty="0"/>
              <a:t>Can we used fixed-size arrays for this?</a:t>
            </a:r>
          </a:p>
          <a:p>
            <a:pPr algn="just"/>
            <a:endParaRPr lang="en-GB" dirty="0"/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7EED443-EE41-AC2F-4A1B-FF0E1854FAA3}"/>
              </a:ext>
            </a:extLst>
          </p:cNvPr>
          <p:cNvGrpSpPr/>
          <p:nvPr/>
        </p:nvGrpSpPr>
        <p:grpSpPr>
          <a:xfrm>
            <a:off x="2168525" y="3883950"/>
            <a:ext cx="7854950" cy="1528763"/>
            <a:chOff x="381000" y="3733800"/>
            <a:chExt cx="7854950" cy="1528763"/>
          </a:xfrm>
        </p:grpSpPr>
        <p:sp>
          <p:nvSpPr>
            <p:cNvPr id="46" name="Text Box 4">
              <a:extLst>
                <a:ext uri="{FF2B5EF4-FFF2-40B4-BE49-F238E27FC236}">
                  <a16:creationId xmlns:a16="http://schemas.microsoft.com/office/drawing/2014/main" id="{93C4C8E5-C8DF-D3D6-674A-BE5FCA343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3733800"/>
              <a:ext cx="1176338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Brutus</a:t>
              </a:r>
            </a:p>
          </p:txBody>
        </p:sp>
        <p:sp>
          <p:nvSpPr>
            <p:cNvPr id="47" name="Text Box 5">
              <a:extLst>
                <a:ext uri="{FF2B5EF4-FFF2-40B4-BE49-F238E27FC236}">
                  <a16:creationId xmlns:a16="http://schemas.microsoft.com/office/drawing/2014/main" id="{C4CEF888-94E9-F705-0E94-DC18CEA2B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791075"/>
              <a:ext cx="1614488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Calpurnia</a:t>
              </a:r>
            </a:p>
          </p:txBody>
        </p:sp>
        <p:sp>
          <p:nvSpPr>
            <p:cNvPr id="48" name="Text Box 6">
              <a:extLst>
                <a:ext uri="{FF2B5EF4-FFF2-40B4-BE49-F238E27FC236}">
                  <a16:creationId xmlns:a16="http://schemas.microsoft.com/office/drawing/2014/main" id="{5FE582C3-10D8-7F63-22B2-269E113D9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267200"/>
              <a:ext cx="129540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Caesar</a:t>
              </a:r>
            </a:p>
          </p:txBody>
        </p:sp>
        <p:sp>
          <p:nvSpPr>
            <p:cNvPr id="49" name="AutoShape 7">
              <a:extLst>
                <a:ext uri="{FF2B5EF4-FFF2-40B4-BE49-F238E27FC236}">
                  <a16:creationId xmlns:a16="http://schemas.microsoft.com/office/drawing/2014/main" id="{E97D9CE7-30E8-CC8E-FFE2-6F809F76D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3810000"/>
              <a:ext cx="1143000" cy="228600"/>
            </a:xfrm>
            <a:custGeom>
              <a:avLst/>
              <a:gdLst>
                <a:gd name="T0" fmla="*/ 2147483646 w 21600"/>
                <a:gd name="T1" fmla="*/ 0 h 21600"/>
                <a:gd name="T2" fmla="*/ 0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AutoShape 8">
              <a:extLst>
                <a:ext uri="{FF2B5EF4-FFF2-40B4-BE49-F238E27FC236}">
                  <a16:creationId xmlns:a16="http://schemas.microsoft.com/office/drawing/2014/main" id="{DF75ABC2-5720-AED6-599D-5601F040E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4343400"/>
              <a:ext cx="1143000" cy="228600"/>
            </a:xfrm>
            <a:custGeom>
              <a:avLst/>
              <a:gdLst>
                <a:gd name="T0" fmla="*/ 2147483646 w 21600"/>
                <a:gd name="T1" fmla="*/ 0 h 21600"/>
                <a:gd name="T2" fmla="*/ 0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51" name="Group 26">
              <a:extLst>
                <a:ext uri="{FF2B5EF4-FFF2-40B4-BE49-F238E27FC236}">
                  <a16:creationId xmlns:a16="http://schemas.microsoft.com/office/drawing/2014/main" id="{78810BA5-2BB9-6DE9-D14A-DEEF691AF0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6600" y="4876800"/>
              <a:ext cx="4876800" cy="304800"/>
              <a:chOff x="2064" y="2448"/>
              <a:chExt cx="3072" cy="192"/>
            </a:xfrm>
          </p:grpSpPr>
          <p:sp>
            <p:nvSpPr>
              <p:cNvPr id="88" name="Rectangle 27">
                <a:extLst>
                  <a:ext uri="{FF2B5EF4-FFF2-40B4-BE49-F238E27FC236}">
                    <a16:creationId xmlns:a16="http://schemas.microsoft.com/office/drawing/2014/main" id="{872D7F2D-92D7-2717-1E91-08E20CF9A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89" name="Rectangle 28">
                <a:extLst>
                  <a:ext uri="{FF2B5EF4-FFF2-40B4-BE49-F238E27FC236}">
                    <a16:creationId xmlns:a16="http://schemas.microsoft.com/office/drawing/2014/main" id="{67F1F1DB-364F-AE58-6DF6-CB19C51D2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90" name="Rectangle 29">
                <a:extLst>
                  <a:ext uri="{FF2B5EF4-FFF2-40B4-BE49-F238E27FC236}">
                    <a16:creationId xmlns:a16="http://schemas.microsoft.com/office/drawing/2014/main" id="{7E8D5FD3-6C28-ECD2-9841-D03A95F42A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91" name="Rectangle 30">
                <a:extLst>
                  <a:ext uri="{FF2B5EF4-FFF2-40B4-BE49-F238E27FC236}">
                    <a16:creationId xmlns:a16="http://schemas.microsoft.com/office/drawing/2014/main" id="{13A08810-B116-1559-AE21-A33F7A8C2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92" name="Line 31">
                <a:extLst>
                  <a:ext uri="{FF2B5EF4-FFF2-40B4-BE49-F238E27FC236}">
                    <a16:creationId xmlns:a16="http://schemas.microsoft.com/office/drawing/2014/main" id="{2354ED07-D3CB-116E-8EFF-8755DD1B4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481DD8D-8ABC-A3FE-4DA8-769B2469D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6600" y="4267200"/>
              <a:ext cx="4959350" cy="461963"/>
              <a:chOff x="2064" y="2688"/>
              <a:chExt cx="3124" cy="291"/>
            </a:xfrm>
          </p:grpSpPr>
          <p:grpSp>
            <p:nvGrpSpPr>
              <p:cNvPr id="74" name="Group 20">
                <a:extLst>
                  <a:ext uri="{FF2B5EF4-FFF2-40B4-BE49-F238E27FC236}">
                    <a16:creationId xmlns:a16="http://schemas.microsoft.com/office/drawing/2014/main" id="{608518FA-AE7C-5929-1D3A-42E6DEB36C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4" y="2736"/>
                <a:ext cx="3072" cy="192"/>
                <a:chOff x="2064" y="2448"/>
                <a:chExt cx="3072" cy="192"/>
              </a:xfrm>
            </p:grpSpPr>
            <p:sp>
              <p:nvSpPr>
                <p:cNvPr id="83" name="Rectangle 21">
                  <a:extLst>
                    <a:ext uri="{FF2B5EF4-FFF2-40B4-BE49-F238E27FC236}">
                      <a16:creationId xmlns:a16="http://schemas.microsoft.com/office/drawing/2014/main" id="{820DEE6D-7BB4-F4AE-CE0B-29C4C9BCB8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2448"/>
                  <a:ext cx="3072" cy="19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en-US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endParaRPr>
                </a:p>
              </p:txBody>
            </p:sp>
            <p:sp>
              <p:nvSpPr>
                <p:cNvPr id="84" name="Rectangle 22">
                  <a:extLst>
                    <a:ext uri="{FF2B5EF4-FFF2-40B4-BE49-F238E27FC236}">
                      <a16:creationId xmlns:a16="http://schemas.microsoft.com/office/drawing/2014/main" id="{5BD73F5A-0E72-0B5A-A050-2AB5DE4639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448"/>
                  <a:ext cx="230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en-US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endParaRPr>
                </a:p>
              </p:txBody>
            </p:sp>
            <p:sp>
              <p:nvSpPr>
                <p:cNvPr id="85" name="Rectangle 23">
                  <a:extLst>
                    <a:ext uri="{FF2B5EF4-FFF2-40B4-BE49-F238E27FC236}">
                      <a16:creationId xmlns:a16="http://schemas.microsoft.com/office/drawing/2014/main" id="{8871A763-5427-04F1-68BB-EFDD4A5A52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32" y="2448"/>
                  <a:ext cx="15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en-US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endParaRPr>
                </a:p>
              </p:txBody>
            </p:sp>
            <p:sp>
              <p:nvSpPr>
                <p:cNvPr id="86" name="Rectangle 24">
                  <a:extLst>
                    <a:ext uri="{FF2B5EF4-FFF2-40B4-BE49-F238E27FC236}">
                      <a16:creationId xmlns:a16="http://schemas.microsoft.com/office/drawing/2014/main" id="{25815EFF-BEEC-B3CE-73EC-23495CBB9E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2448"/>
                  <a:ext cx="76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en-US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endParaRPr>
                </a:p>
              </p:txBody>
            </p:sp>
            <p:sp>
              <p:nvSpPr>
                <p:cNvPr id="87" name="Line 25">
                  <a:extLst>
                    <a:ext uri="{FF2B5EF4-FFF2-40B4-BE49-F238E27FC236}">
                      <a16:creationId xmlns:a16="http://schemas.microsoft.com/office/drawing/2014/main" id="{610C072C-2909-CF8C-3ADF-A72A9CDE12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0" y="244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75" name="Text Box 32">
                <a:extLst>
                  <a:ext uri="{FF2B5EF4-FFF2-40B4-BE49-F238E27FC236}">
                    <a16:creationId xmlns:a16="http://schemas.microsoft.com/office/drawing/2014/main" id="{CE32C3C9-F3C4-84EC-8390-D5EC692FDF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0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1</a:t>
                </a:r>
              </a:p>
            </p:txBody>
          </p:sp>
          <p:sp>
            <p:nvSpPr>
              <p:cNvPr id="76" name="Text Box 33">
                <a:extLst>
                  <a:ext uri="{FF2B5EF4-FFF2-40B4-BE49-F238E27FC236}">
                    <a16:creationId xmlns:a16="http://schemas.microsoft.com/office/drawing/2014/main" id="{47C6F546-8D65-70F4-C013-2E5E70FC05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82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2</a:t>
                </a:r>
              </a:p>
            </p:txBody>
          </p:sp>
          <p:sp>
            <p:nvSpPr>
              <p:cNvPr id="77" name="Text Box 34">
                <a:extLst>
                  <a:ext uri="{FF2B5EF4-FFF2-40B4-BE49-F238E27FC236}">
                    <a16:creationId xmlns:a16="http://schemas.microsoft.com/office/drawing/2014/main" id="{B4C38B9F-2BF2-B544-031A-1A6416104B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5" y="2688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4</a:t>
                </a:r>
              </a:p>
            </p:txBody>
          </p:sp>
          <p:sp>
            <p:nvSpPr>
              <p:cNvPr id="78" name="Text Box 35">
                <a:extLst>
                  <a:ext uri="{FF2B5EF4-FFF2-40B4-BE49-F238E27FC236}">
                    <a16:creationId xmlns:a16="http://schemas.microsoft.com/office/drawing/2014/main" id="{4F16F820-CAB3-B35F-1D7C-97CE1DE821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2" y="268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5</a:t>
                </a:r>
              </a:p>
            </p:txBody>
          </p:sp>
          <p:sp>
            <p:nvSpPr>
              <p:cNvPr id="79" name="Text Box 36">
                <a:extLst>
                  <a:ext uri="{FF2B5EF4-FFF2-40B4-BE49-F238E27FC236}">
                    <a16:creationId xmlns:a16="http://schemas.microsoft.com/office/drawing/2014/main" id="{C60539E9-F9F8-4AD8-A487-13DDD7F4E5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5" y="2688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6</a:t>
                </a:r>
              </a:p>
            </p:txBody>
          </p:sp>
          <p:sp>
            <p:nvSpPr>
              <p:cNvPr id="80" name="Text Box 37">
                <a:extLst>
                  <a:ext uri="{FF2B5EF4-FFF2-40B4-BE49-F238E27FC236}">
                    <a16:creationId xmlns:a16="http://schemas.microsoft.com/office/drawing/2014/main" id="{C32F03D2-FB46-E38E-BC95-9A6015DEE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9" y="2688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16</a:t>
                </a:r>
              </a:p>
            </p:txBody>
          </p:sp>
          <p:sp>
            <p:nvSpPr>
              <p:cNvPr id="81" name="Text Box 38">
                <a:extLst>
                  <a:ext uri="{FF2B5EF4-FFF2-40B4-BE49-F238E27FC236}">
                    <a16:creationId xmlns:a16="http://schemas.microsoft.com/office/drawing/2014/main" id="{54DE9637-CDC2-ED95-610C-93B69C6A74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688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57</a:t>
                </a:r>
              </a:p>
            </p:txBody>
          </p:sp>
          <p:sp>
            <p:nvSpPr>
              <p:cNvPr id="82" name="Text Box 39">
                <a:extLst>
                  <a:ext uri="{FF2B5EF4-FFF2-40B4-BE49-F238E27FC236}">
                    <a16:creationId xmlns:a16="http://schemas.microsoft.com/office/drawing/2014/main" id="{42DA3664-B279-EC01-C774-3D7006DD8E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2688"/>
                <a:ext cx="48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132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EABC17F-336B-9624-AC3B-E9110833E5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6600" y="3733800"/>
              <a:ext cx="4876800" cy="461963"/>
              <a:chOff x="2064" y="2400"/>
              <a:chExt cx="3072" cy="291"/>
            </a:xfrm>
          </p:grpSpPr>
          <p:grpSp>
            <p:nvGrpSpPr>
              <p:cNvPr id="60" name="Group 19">
                <a:extLst>
                  <a:ext uri="{FF2B5EF4-FFF2-40B4-BE49-F238E27FC236}">
                    <a16:creationId xmlns:a16="http://schemas.microsoft.com/office/drawing/2014/main" id="{C483D796-9C4F-A300-93E1-9AEBB6D4B1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4" y="2448"/>
                <a:ext cx="3072" cy="192"/>
                <a:chOff x="2064" y="2448"/>
                <a:chExt cx="3072" cy="192"/>
              </a:xfrm>
            </p:grpSpPr>
            <p:sp>
              <p:nvSpPr>
                <p:cNvPr id="69" name="Rectangle 11">
                  <a:extLst>
                    <a:ext uri="{FF2B5EF4-FFF2-40B4-BE49-F238E27FC236}">
                      <a16:creationId xmlns:a16="http://schemas.microsoft.com/office/drawing/2014/main" id="{B0BDDC12-EB2B-1E61-7F22-05C3C0691D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2448"/>
                  <a:ext cx="3072" cy="19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en-US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endParaRPr>
                </a:p>
              </p:txBody>
            </p:sp>
            <p:sp>
              <p:nvSpPr>
                <p:cNvPr id="70" name="Rectangle 13">
                  <a:extLst>
                    <a:ext uri="{FF2B5EF4-FFF2-40B4-BE49-F238E27FC236}">
                      <a16:creationId xmlns:a16="http://schemas.microsoft.com/office/drawing/2014/main" id="{2CE598D7-7A0C-E146-B467-1272927F75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448"/>
                  <a:ext cx="230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en-US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endParaRPr>
                </a:p>
              </p:txBody>
            </p:sp>
            <p:sp>
              <p:nvSpPr>
                <p:cNvPr id="71" name="Rectangle 15">
                  <a:extLst>
                    <a:ext uri="{FF2B5EF4-FFF2-40B4-BE49-F238E27FC236}">
                      <a16:creationId xmlns:a16="http://schemas.microsoft.com/office/drawing/2014/main" id="{8AF2E28E-CDCD-A176-7DB8-F56D25180D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32" y="2448"/>
                  <a:ext cx="15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en-US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endParaRPr>
                </a:p>
              </p:txBody>
            </p:sp>
            <p:sp>
              <p:nvSpPr>
                <p:cNvPr id="72" name="Rectangle 16">
                  <a:extLst>
                    <a:ext uri="{FF2B5EF4-FFF2-40B4-BE49-F238E27FC236}">
                      <a16:creationId xmlns:a16="http://schemas.microsoft.com/office/drawing/2014/main" id="{DF9426CA-121F-C78B-802C-89E58EC7C6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2448"/>
                  <a:ext cx="76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en-US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endParaRPr>
                </a:p>
              </p:txBody>
            </p:sp>
            <p:sp>
              <p:nvSpPr>
                <p:cNvPr id="73" name="Line 18">
                  <a:extLst>
                    <a:ext uri="{FF2B5EF4-FFF2-40B4-BE49-F238E27FC236}">
                      <a16:creationId xmlns:a16="http://schemas.microsoft.com/office/drawing/2014/main" id="{EA62E905-389B-F9C4-E252-2E861502C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0" y="244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61" name="Text Box 40">
                <a:extLst>
                  <a:ext uri="{FF2B5EF4-FFF2-40B4-BE49-F238E27FC236}">
                    <a16:creationId xmlns:a16="http://schemas.microsoft.com/office/drawing/2014/main" id="{746DC923-0EDF-C68D-145C-1CE91528AF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400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1</a:t>
                </a:r>
              </a:p>
            </p:txBody>
          </p:sp>
          <p:sp>
            <p:nvSpPr>
              <p:cNvPr id="62" name="Text Box 41">
                <a:extLst>
                  <a:ext uri="{FF2B5EF4-FFF2-40B4-BE49-F238E27FC236}">
                    <a16:creationId xmlns:a16="http://schemas.microsoft.com/office/drawing/2014/main" id="{93EC9F2F-BB38-7FFE-AD10-6099B8ED14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3" y="2400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2</a:t>
                </a:r>
              </a:p>
            </p:txBody>
          </p:sp>
          <p:sp>
            <p:nvSpPr>
              <p:cNvPr id="63" name="Text Box 42">
                <a:extLst>
                  <a:ext uri="{FF2B5EF4-FFF2-40B4-BE49-F238E27FC236}">
                    <a16:creationId xmlns:a16="http://schemas.microsoft.com/office/drawing/2014/main" id="{E96CF400-2DC4-2054-2350-92C73156D0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2400"/>
                <a:ext cx="2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4</a:t>
                </a:r>
              </a:p>
            </p:txBody>
          </p:sp>
          <p:sp>
            <p:nvSpPr>
              <p:cNvPr id="64" name="Text Box 43">
                <a:extLst>
                  <a:ext uri="{FF2B5EF4-FFF2-40B4-BE49-F238E27FC236}">
                    <a16:creationId xmlns:a16="http://schemas.microsoft.com/office/drawing/2014/main" id="{24435A5A-9C15-A1AA-A315-81D15FB172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2400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11</a:t>
                </a:r>
              </a:p>
            </p:txBody>
          </p:sp>
          <p:sp>
            <p:nvSpPr>
              <p:cNvPr id="65" name="Text Box 44">
                <a:extLst>
                  <a:ext uri="{FF2B5EF4-FFF2-40B4-BE49-F238E27FC236}">
                    <a16:creationId xmlns:a16="http://schemas.microsoft.com/office/drawing/2014/main" id="{3BC07750-0A53-1908-323D-0A07679D58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5" y="2400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31</a:t>
                </a:r>
              </a:p>
            </p:txBody>
          </p:sp>
          <p:sp>
            <p:nvSpPr>
              <p:cNvPr id="66" name="Text Box 45">
                <a:extLst>
                  <a:ext uri="{FF2B5EF4-FFF2-40B4-BE49-F238E27FC236}">
                    <a16:creationId xmlns:a16="http://schemas.microsoft.com/office/drawing/2014/main" id="{955C2B4B-D9EC-421B-BD76-8E86944136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9" y="2400"/>
                <a:ext cx="3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45</a:t>
                </a:r>
              </a:p>
            </p:txBody>
          </p:sp>
          <p:sp>
            <p:nvSpPr>
              <p:cNvPr id="67" name="Text Box 46">
                <a:extLst>
                  <a:ext uri="{FF2B5EF4-FFF2-40B4-BE49-F238E27FC236}">
                    <a16:creationId xmlns:a16="http://schemas.microsoft.com/office/drawing/2014/main" id="{A0FA0BBD-10B7-117E-F309-CC47F28708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400"/>
                <a:ext cx="48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新細明體" panose="02020500000000000000" pitchFamily="18" charset="-120"/>
                    <a:cs typeface="Arial Unicode MS" pitchFamily="34" charset="-120"/>
                  </a:rPr>
                  <a:t>173</a:t>
                </a:r>
              </a:p>
            </p:txBody>
          </p:sp>
          <p:sp>
            <p:nvSpPr>
              <p:cNvPr id="68" name="Text Box 47">
                <a:extLst>
                  <a:ext uri="{FF2B5EF4-FFF2-40B4-BE49-F238E27FC236}">
                    <a16:creationId xmlns:a16="http://schemas.microsoft.com/office/drawing/2014/main" id="{34C39EB2-3849-92E5-6B32-F85C8EE8D6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7" y="240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</p:grpSp>
        <p:sp>
          <p:nvSpPr>
            <p:cNvPr id="54" name="Text Box 48">
              <a:extLst>
                <a:ext uri="{FF2B5EF4-FFF2-40B4-BE49-F238E27FC236}">
                  <a16:creationId xmlns:a16="http://schemas.microsoft.com/office/drawing/2014/main" id="{9B7DCC85-B476-A69C-0C4E-AB7D4FB5C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4800600"/>
              <a:ext cx="37941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2</a:t>
              </a:r>
            </a:p>
          </p:txBody>
        </p:sp>
        <p:sp>
          <p:nvSpPr>
            <p:cNvPr id="55" name="AutoShape 49">
              <a:extLst>
                <a:ext uri="{FF2B5EF4-FFF2-40B4-BE49-F238E27FC236}">
                  <a16:creationId xmlns:a16="http://schemas.microsoft.com/office/drawing/2014/main" id="{51C9C03E-7BF2-42F2-3415-B4F19EAA0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4876800"/>
              <a:ext cx="1143000" cy="228600"/>
            </a:xfrm>
            <a:custGeom>
              <a:avLst/>
              <a:gdLst>
                <a:gd name="T0" fmla="*/ 2147483646 w 21600"/>
                <a:gd name="T1" fmla="*/ 0 h 21600"/>
                <a:gd name="T2" fmla="*/ 0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" name="Text Box 50">
              <a:extLst>
                <a:ext uri="{FF2B5EF4-FFF2-40B4-BE49-F238E27FC236}">
                  <a16:creationId xmlns:a16="http://schemas.microsoft.com/office/drawing/2014/main" id="{01EF8A8E-4DAD-5C0B-D8FE-D1795AC6B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5725" y="4800600"/>
              <a:ext cx="5746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31</a:t>
              </a:r>
            </a:p>
          </p:txBody>
        </p:sp>
        <p:sp>
          <p:nvSpPr>
            <p:cNvPr id="57" name="Text Box 46">
              <a:extLst>
                <a:ext uri="{FF2B5EF4-FFF2-40B4-BE49-F238E27FC236}">
                  <a16:creationId xmlns:a16="http://schemas.microsoft.com/office/drawing/2014/main" id="{03E3A655-3C11-D0DD-585F-909A27C32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3733800"/>
              <a:ext cx="768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174</a:t>
              </a:r>
            </a:p>
          </p:txBody>
        </p:sp>
        <p:sp>
          <p:nvSpPr>
            <p:cNvPr id="58" name="Text Box 50">
              <a:extLst>
                <a:ext uri="{FF2B5EF4-FFF2-40B4-BE49-F238E27FC236}">
                  <a16:creationId xmlns:a16="http://schemas.microsoft.com/office/drawing/2014/main" id="{BB6613BB-0A0E-3E2D-3356-3DF335D35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6925" y="4800600"/>
              <a:ext cx="5746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54</a:t>
              </a:r>
            </a:p>
          </p:txBody>
        </p:sp>
        <p:sp>
          <p:nvSpPr>
            <p:cNvPr id="59" name="Text Box 50">
              <a:extLst>
                <a:ext uri="{FF2B5EF4-FFF2-40B4-BE49-F238E27FC236}">
                  <a16:creationId xmlns:a16="http://schemas.microsoft.com/office/drawing/2014/main" id="{DFB47040-4B8E-356D-329B-441C10FFF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4800600"/>
              <a:ext cx="768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8149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Inverted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We need variable-size postings lists</a:t>
            </a:r>
          </a:p>
          <a:p>
            <a:pPr lvl="1" algn="just"/>
            <a:r>
              <a:rPr lang="en-GB" dirty="0"/>
              <a:t>On disk, a continuous run of postings is normal and best.</a:t>
            </a:r>
          </a:p>
          <a:p>
            <a:pPr lvl="1" algn="just"/>
            <a:r>
              <a:rPr lang="en-GB" dirty="0"/>
              <a:t>In memory, can use linked lists or variable length arrays.</a:t>
            </a:r>
          </a:p>
          <a:p>
            <a:pPr lvl="2" algn="just"/>
            <a:r>
              <a:rPr lang="en-GB" dirty="0"/>
              <a:t>Some trade offs in size/ease of insertion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6" name="Group 54">
            <a:extLst>
              <a:ext uri="{FF2B5EF4-FFF2-40B4-BE49-F238E27FC236}">
                <a16:creationId xmlns:a16="http://schemas.microsoft.com/office/drawing/2014/main" id="{708FCCCD-C449-9061-E92D-66CE264F2C00}"/>
              </a:ext>
            </a:extLst>
          </p:cNvPr>
          <p:cNvGrpSpPr>
            <a:grpSpLocks/>
          </p:cNvGrpSpPr>
          <p:nvPr/>
        </p:nvGrpSpPr>
        <p:grpSpPr bwMode="auto">
          <a:xfrm>
            <a:off x="1559859" y="3972919"/>
            <a:ext cx="1666875" cy="2398713"/>
            <a:chOff x="192" y="2502"/>
            <a:chExt cx="1050" cy="1511"/>
          </a:xfrm>
        </p:grpSpPr>
        <p:sp>
          <p:nvSpPr>
            <p:cNvPr id="7" name="AutoShape 46">
              <a:extLst>
                <a:ext uri="{FF2B5EF4-FFF2-40B4-BE49-F238E27FC236}">
                  <a16:creationId xmlns:a16="http://schemas.microsoft.com/office/drawing/2014/main" id="{3D33DB2A-5C4A-76D0-FD45-162EA70EF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" y="2502"/>
              <a:ext cx="144" cy="960"/>
            </a:xfrm>
            <a:prstGeom prst="leftBrace">
              <a:avLst>
                <a:gd name="adj1" fmla="val 55556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8" name="Text Box 47">
              <a:extLst>
                <a:ext uri="{FF2B5EF4-FFF2-40B4-BE49-F238E27FC236}">
                  <a16:creationId xmlns:a16="http://schemas.microsoft.com/office/drawing/2014/main" id="{DC2425A6-FD04-94E9-66BD-9142BF260A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" y="3725"/>
              <a:ext cx="964" cy="28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i="1">
                  <a:latin typeface="Tahoma" charset="0"/>
                  <a:ea typeface="Arial Unicode MS" charset="0"/>
                  <a:cs typeface="Arial Unicode MS" charset="0"/>
                </a:rPr>
                <a:t>Dictionary</a:t>
              </a:r>
            </a:p>
          </p:txBody>
        </p:sp>
        <p:cxnSp>
          <p:nvCxnSpPr>
            <p:cNvPr id="9" name="AutoShape 48">
              <a:extLst>
                <a:ext uri="{FF2B5EF4-FFF2-40B4-BE49-F238E27FC236}">
                  <a16:creationId xmlns:a16="http://schemas.microsoft.com/office/drawing/2014/main" id="{59580D1D-788F-9902-C5ED-5222B07F1283}"/>
                </a:ext>
              </a:extLst>
            </p:cNvPr>
            <p:cNvCxnSpPr>
              <a:cxnSpLocks noChangeShapeType="1"/>
              <a:stCxn id="8" idx="1"/>
              <a:endCxn id="7" idx="1"/>
            </p:cNvCxnSpPr>
            <p:nvPr/>
          </p:nvCxnSpPr>
          <p:spPr bwMode="auto">
            <a:xfrm rot="10800000">
              <a:off x="192" y="2982"/>
              <a:ext cx="86" cy="889"/>
            </a:xfrm>
            <a:prstGeom prst="curvedConnector3">
              <a:avLst>
                <a:gd name="adj1" fmla="val 26744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" name="Group 53">
            <a:extLst>
              <a:ext uri="{FF2B5EF4-FFF2-40B4-BE49-F238E27FC236}">
                <a16:creationId xmlns:a16="http://schemas.microsoft.com/office/drawing/2014/main" id="{A620AA2A-C322-6901-473F-BA1C466901BA}"/>
              </a:ext>
            </a:extLst>
          </p:cNvPr>
          <p:cNvGrpSpPr>
            <a:grpSpLocks/>
          </p:cNvGrpSpPr>
          <p:nvPr/>
        </p:nvGrpSpPr>
        <p:grpSpPr bwMode="auto">
          <a:xfrm>
            <a:off x="4912659" y="5496919"/>
            <a:ext cx="5334000" cy="803275"/>
            <a:chOff x="2352" y="3600"/>
            <a:chExt cx="3360" cy="506"/>
          </a:xfrm>
        </p:grpSpPr>
        <p:sp>
          <p:nvSpPr>
            <p:cNvPr id="11" name="AutoShape 51">
              <a:extLst>
                <a:ext uri="{FF2B5EF4-FFF2-40B4-BE49-F238E27FC236}">
                  <a16:creationId xmlns:a16="http://schemas.microsoft.com/office/drawing/2014/main" id="{7EB1CB4E-4508-A23B-0AE0-DE084CA667A6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924" y="2028"/>
              <a:ext cx="216" cy="3360"/>
            </a:xfrm>
            <a:prstGeom prst="leftBrace">
              <a:avLst>
                <a:gd name="adj1" fmla="val 12963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12" name="Text Box 52">
              <a:extLst>
                <a:ext uri="{FF2B5EF4-FFF2-40B4-BE49-F238E27FC236}">
                  <a16:creationId xmlns:a16="http://schemas.microsoft.com/office/drawing/2014/main" id="{692C1A7D-B19B-FD91-A2C0-B82B60980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815"/>
              <a:ext cx="880" cy="291"/>
            </a:xfrm>
            <a:prstGeom prst="rect">
              <a:avLst/>
            </a:prstGeom>
            <a:solidFill>
              <a:srgbClr val="83A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i="1">
                  <a:latin typeface="Tahoma" panose="020B060403050404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Postings</a:t>
              </a:r>
            </a:p>
          </p:txBody>
        </p:sp>
      </p:grpSp>
      <p:sp>
        <p:nvSpPr>
          <p:cNvPr id="14" name="Rectangle 73">
            <a:extLst>
              <a:ext uri="{FF2B5EF4-FFF2-40B4-BE49-F238E27FC236}">
                <a16:creationId xmlns:a16="http://schemas.microsoft.com/office/drawing/2014/main" id="{3C0665E5-4256-9765-7E77-782C7F9FE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2659" y="3048994"/>
            <a:ext cx="1143000" cy="406400"/>
          </a:xfrm>
          <a:prstGeom prst="rect">
            <a:avLst/>
          </a:prstGeom>
          <a:gradFill rotWithShape="1">
            <a:gsLst>
              <a:gs pos="0">
                <a:srgbClr val="FFE5E5"/>
              </a:gs>
              <a:gs pos="64999">
                <a:srgbClr val="FFBEBD"/>
              </a:gs>
              <a:gs pos="100000">
                <a:srgbClr val="FFA2A1"/>
              </a:gs>
            </a:gsLst>
            <a:lin ang="5400000" scaled="1"/>
          </a:gradFill>
          <a:ln w="9525">
            <a:solidFill>
              <a:srgbClr val="BE4B48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US" sz="2000" i="1">
                <a:solidFill>
                  <a:srgbClr val="000000"/>
                </a:solidFill>
                <a:latin typeface="+mn-lt"/>
                <a:ea typeface="Arial Unicode MS" charset="0"/>
                <a:cs typeface="Arial Unicode MS" charset="0"/>
              </a:rPr>
              <a:t>Posting</a:t>
            </a:r>
          </a:p>
        </p:txBody>
      </p:sp>
      <p:sp>
        <p:nvSpPr>
          <p:cNvPr id="15" name="Line 75">
            <a:extLst>
              <a:ext uri="{FF2B5EF4-FFF2-40B4-BE49-F238E27FC236}">
                <a16:creationId xmlns:a16="http://schemas.microsoft.com/office/drawing/2014/main" id="{1D362AC0-5321-FF8E-F65B-9143BD3A36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75059" y="3506194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0B763580-F6A3-3E81-1009-314B9E56B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709" y="3887194"/>
            <a:ext cx="109220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b="1" i="1" dirty="0">
                <a:latin typeface="+mn-lt"/>
                <a:ea typeface="Arial Unicode MS" charset="0"/>
                <a:cs typeface="Arial Unicode MS" charset="0"/>
              </a:rPr>
              <a:t>Brutus</a:t>
            </a: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0E3D7783-9996-1657-1E57-E865745CC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709" y="4944469"/>
            <a:ext cx="1490663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b="1" i="1" dirty="0">
                <a:latin typeface="+mn-lt"/>
                <a:ea typeface="Arial Unicode MS" charset="0"/>
                <a:cs typeface="Arial Unicode MS" charset="0"/>
              </a:rPr>
              <a:t>Calpurnia</a:t>
            </a: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1FBDC4F3-97E0-23C1-89A7-4DDBDAE85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709" y="4420594"/>
            <a:ext cx="11493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i="1" dirty="0">
                <a:latin typeface="+mn-lt"/>
                <a:ea typeface="Arial Unicode MS" charset="0"/>
                <a:cs typeface="Arial Unicode MS" charset="0"/>
              </a:rPr>
              <a:t>Caesar</a:t>
            </a: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D1781568-595D-3E42-5376-77CFD5CDA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109" y="3963394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AutoShape 8">
            <a:extLst>
              <a:ext uri="{FF2B5EF4-FFF2-40B4-BE49-F238E27FC236}">
                <a16:creationId xmlns:a16="http://schemas.microsoft.com/office/drawing/2014/main" id="{276C1212-2097-D45A-4D1E-3737C669C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109" y="4496794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1" name="Group 26">
            <a:extLst>
              <a:ext uri="{FF2B5EF4-FFF2-40B4-BE49-F238E27FC236}">
                <a16:creationId xmlns:a16="http://schemas.microsoft.com/office/drawing/2014/main" id="{1524B4DD-2D3A-73C9-0F4F-7960EB80091E}"/>
              </a:ext>
            </a:extLst>
          </p:cNvPr>
          <p:cNvGrpSpPr>
            <a:grpSpLocks/>
          </p:cNvGrpSpPr>
          <p:nvPr/>
        </p:nvGrpSpPr>
        <p:grpSpPr bwMode="auto">
          <a:xfrm>
            <a:off x="4906309" y="5030194"/>
            <a:ext cx="4876800" cy="304800"/>
            <a:chOff x="2064" y="2448"/>
            <a:chExt cx="3072" cy="192"/>
          </a:xfrm>
        </p:grpSpPr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DD1F698C-8812-38A3-1A4B-25F631D41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448"/>
              <a:ext cx="3072" cy="19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27BEF093-3A87-2A08-1FD1-E0F331511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230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50640226-B6EC-6700-18CB-E10307EF4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448"/>
              <a:ext cx="153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25" name="Rectangle 30">
              <a:extLst>
                <a:ext uri="{FF2B5EF4-FFF2-40B4-BE49-F238E27FC236}">
                  <a16:creationId xmlns:a16="http://schemas.microsoft.com/office/drawing/2014/main" id="{72B52DE4-7157-0D7F-7B16-877397243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448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26" name="Line 31">
              <a:extLst>
                <a:ext uri="{FF2B5EF4-FFF2-40B4-BE49-F238E27FC236}">
                  <a16:creationId xmlns:a16="http://schemas.microsoft.com/office/drawing/2014/main" id="{4E6F549C-CE0D-6B94-8760-904FCA7CF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27" name="Group 51">
            <a:extLst>
              <a:ext uri="{FF2B5EF4-FFF2-40B4-BE49-F238E27FC236}">
                <a16:creationId xmlns:a16="http://schemas.microsoft.com/office/drawing/2014/main" id="{C66315A0-2A74-4489-CAA6-1A6C6B2860D7}"/>
              </a:ext>
            </a:extLst>
          </p:cNvPr>
          <p:cNvGrpSpPr>
            <a:grpSpLocks/>
          </p:cNvGrpSpPr>
          <p:nvPr/>
        </p:nvGrpSpPr>
        <p:grpSpPr bwMode="auto">
          <a:xfrm>
            <a:off x="4906309" y="4420594"/>
            <a:ext cx="4959350" cy="461963"/>
            <a:chOff x="2064" y="2688"/>
            <a:chExt cx="3124" cy="291"/>
          </a:xfrm>
        </p:grpSpPr>
        <p:grpSp>
          <p:nvGrpSpPr>
            <p:cNvPr id="28" name="Group 20">
              <a:extLst>
                <a:ext uri="{FF2B5EF4-FFF2-40B4-BE49-F238E27FC236}">
                  <a16:creationId xmlns:a16="http://schemas.microsoft.com/office/drawing/2014/main" id="{B20371F9-643D-F175-FFE2-A0B5F4DF9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736"/>
              <a:ext cx="3072" cy="192"/>
              <a:chOff x="2064" y="2448"/>
              <a:chExt cx="3072" cy="192"/>
            </a:xfrm>
          </p:grpSpPr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AFDFA6C9-6CEA-4C53-CEB8-FD5E47984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38" name="Rectangle 22">
                <a:extLst>
                  <a:ext uri="{FF2B5EF4-FFF2-40B4-BE49-F238E27FC236}">
                    <a16:creationId xmlns:a16="http://schemas.microsoft.com/office/drawing/2014/main" id="{414389C4-81F0-DF01-F6E7-A4FBAD1A6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39" name="Rectangle 23">
                <a:extLst>
                  <a:ext uri="{FF2B5EF4-FFF2-40B4-BE49-F238E27FC236}">
                    <a16:creationId xmlns:a16="http://schemas.microsoft.com/office/drawing/2014/main" id="{066946E5-1382-6DF1-27A8-492175B1F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40" name="Rectangle 24">
                <a:extLst>
                  <a:ext uri="{FF2B5EF4-FFF2-40B4-BE49-F238E27FC236}">
                    <a16:creationId xmlns:a16="http://schemas.microsoft.com/office/drawing/2014/main" id="{32F517F0-2E52-4417-CD26-2E3B1FD9BF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41" name="Line 25">
                <a:extLst>
                  <a:ext uri="{FF2B5EF4-FFF2-40B4-BE49-F238E27FC236}">
                    <a16:creationId xmlns:a16="http://schemas.microsoft.com/office/drawing/2014/main" id="{5B986BDE-AA10-9F32-A565-D3B7A6612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9" name="Text Box 32">
              <a:extLst>
                <a:ext uri="{FF2B5EF4-FFF2-40B4-BE49-F238E27FC236}">
                  <a16:creationId xmlns:a16="http://schemas.microsoft.com/office/drawing/2014/main" id="{8FD4DC21-AA15-7E58-4E75-2E4116209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1</a:t>
              </a:r>
            </a:p>
          </p:txBody>
        </p:sp>
        <p:sp>
          <p:nvSpPr>
            <p:cNvPr id="30" name="Text Box 33">
              <a:extLst>
                <a:ext uri="{FF2B5EF4-FFF2-40B4-BE49-F238E27FC236}">
                  <a16:creationId xmlns:a16="http://schemas.microsoft.com/office/drawing/2014/main" id="{4ADB748E-1B40-A587-2C2F-2392ADB1A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2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2</a:t>
              </a:r>
            </a:p>
          </p:txBody>
        </p:sp>
        <p:sp>
          <p:nvSpPr>
            <p:cNvPr id="31" name="Text Box 34">
              <a:extLst>
                <a:ext uri="{FF2B5EF4-FFF2-40B4-BE49-F238E27FC236}">
                  <a16:creationId xmlns:a16="http://schemas.microsoft.com/office/drawing/2014/main" id="{AADC9B92-DB56-ECD5-2577-48F6B72D9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5" y="2688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4</a:t>
              </a:r>
            </a:p>
          </p:txBody>
        </p:sp>
        <p:sp>
          <p:nvSpPr>
            <p:cNvPr id="32" name="Text Box 35">
              <a:extLst>
                <a:ext uri="{FF2B5EF4-FFF2-40B4-BE49-F238E27FC236}">
                  <a16:creationId xmlns:a16="http://schemas.microsoft.com/office/drawing/2014/main" id="{45EB8EBB-FA9B-F9B0-4B45-D9B63A176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68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5</a:t>
              </a:r>
            </a:p>
          </p:txBody>
        </p:sp>
        <p:sp>
          <p:nvSpPr>
            <p:cNvPr id="33" name="Text Box 36">
              <a:extLst>
                <a:ext uri="{FF2B5EF4-FFF2-40B4-BE49-F238E27FC236}">
                  <a16:creationId xmlns:a16="http://schemas.microsoft.com/office/drawing/2014/main" id="{054C4C97-DA58-73EE-F153-956F8EB29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5" y="2688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6</a:t>
              </a:r>
            </a:p>
          </p:txBody>
        </p:sp>
        <p:sp>
          <p:nvSpPr>
            <p:cNvPr id="34" name="Text Box 37">
              <a:extLst>
                <a:ext uri="{FF2B5EF4-FFF2-40B4-BE49-F238E27FC236}">
                  <a16:creationId xmlns:a16="http://schemas.microsoft.com/office/drawing/2014/main" id="{B9171024-3B6B-444C-9C2F-23F5053B1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9" y="2688"/>
              <a:ext cx="3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16</a:t>
              </a:r>
            </a:p>
          </p:txBody>
        </p:sp>
        <p:sp>
          <p:nvSpPr>
            <p:cNvPr id="35" name="Text Box 38">
              <a:extLst>
                <a:ext uri="{FF2B5EF4-FFF2-40B4-BE49-F238E27FC236}">
                  <a16:creationId xmlns:a16="http://schemas.microsoft.com/office/drawing/2014/main" id="{31FB54D6-E640-C1C4-DD11-C6EC44797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688"/>
              <a:ext cx="3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57</a:t>
              </a:r>
            </a:p>
          </p:txBody>
        </p:sp>
        <p:sp>
          <p:nvSpPr>
            <p:cNvPr id="36" name="Text Box 39">
              <a:extLst>
                <a:ext uri="{FF2B5EF4-FFF2-40B4-BE49-F238E27FC236}">
                  <a16:creationId xmlns:a16="http://schemas.microsoft.com/office/drawing/2014/main" id="{71F0761C-1FEC-A85C-C8BB-00CF04DF2C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688"/>
              <a:ext cx="4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132</a:t>
              </a:r>
            </a:p>
          </p:txBody>
        </p:sp>
      </p:grpSp>
      <p:grpSp>
        <p:nvGrpSpPr>
          <p:cNvPr id="42" name="Group 52">
            <a:extLst>
              <a:ext uri="{FF2B5EF4-FFF2-40B4-BE49-F238E27FC236}">
                <a16:creationId xmlns:a16="http://schemas.microsoft.com/office/drawing/2014/main" id="{4F1CD323-8C05-A960-47C4-3580A2881AFA}"/>
              </a:ext>
            </a:extLst>
          </p:cNvPr>
          <p:cNvGrpSpPr>
            <a:grpSpLocks/>
          </p:cNvGrpSpPr>
          <p:nvPr/>
        </p:nvGrpSpPr>
        <p:grpSpPr bwMode="auto">
          <a:xfrm>
            <a:off x="4906309" y="3887194"/>
            <a:ext cx="4876800" cy="461963"/>
            <a:chOff x="2064" y="2400"/>
            <a:chExt cx="3072" cy="291"/>
          </a:xfrm>
        </p:grpSpPr>
        <p:grpSp>
          <p:nvGrpSpPr>
            <p:cNvPr id="43" name="Group 19">
              <a:extLst>
                <a:ext uri="{FF2B5EF4-FFF2-40B4-BE49-F238E27FC236}">
                  <a16:creationId xmlns:a16="http://schemas.microsoft.com/office/drawing/2014/main" id="{C8FC30CB-0C37-4606-8B6B-C7A1D4C8D1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448"/>
              <a:ext cx="3072" cy="192"/>
              <a:chOff x="2064" y="2448"/>
              <a:chExt cx="3072" cy="192"/>
            </a:xfrm>
          </p:grpSpPr>
          <p:sp>
            <p:nvSpPr>
              <p:cNvPr id="100" name="Rectangle 11">
                <a:extLst>
                  <a:ext uri="{FF2B5EF4-FFF2-40B4-BE49-F238E27FC236}">
                    <a16:creationId xmlns:a16="http://schemas.microsoft.com/office/drawing/2014/main" id="{B01045C3-0DCF-8D52-5B84-D6DD95C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3072" cy="19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101" name="Rectangle 13">
                <a:extLst>
                  <a:ext uri="{FF2B5EF4-FFF2-40B4-BE49-F238E27FC236}">
                    <a16:creationId xmlns:a16="http://schemas.microsoft.com/office/drawing/2014/main" id="{38CA4730-8014-FA2F-A847-93C170E88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2304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102" name="Rectangle 15">
                <a:extLst>
                  <a:ext uri="{FF2B5EF4-FFF2-40B4-BE49-F238E27FC236}">
                    <a16:creationId xmlns:a16="http://schemas.microsoft.com/office/drawing/2014/main" id="{01813EAE-6DE2-8A30-9789-288740D837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15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103" name="Rectangle 16">
                <a:extLst>
                  <a:ext uri="{FF2B5EF4-FFF2-40B4-BE49-F238E27FC236}">
                    <a16:creationId xmlns:a16="http://schemas.microsoft.com/office/drawing/2014/main" id="{B31D3620-03C8-E93E-F0ED-73F8AA569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76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en-US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endParaRPr>
              </a:p>
            </p:txBody>
          </p:sp>
          <p:sp>
            <p:nvSpPr>
              <p:cNvPr id="104" name="Line 18">
                <a:extLst>
                  <a:ext uri="{FF2B5EF4-FFF2-40B4-BE49-F238E27FC236}">
                    <a16:creationId xmlns:a16="http://schemas.microsoft.com/office/drawing/2014/main" id="{E84B549F-F424-1D02-5149-5A303D40FF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4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4" name="Text Box 40">
              <a:extLst>
                <a:ext uri="{FF2B5EF4-FFF2-40B4-BE49-F238E27FC236}">
                  <a16:creationId xmlns:a16="http://schemas.microsoft.com/office/drawing/2014/main" id="{77582BA4-BD81-5393-CE83-9364C0E4E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400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1</a:t>
              </a:r>
            </a:p>
          </p:txBody>
        </p:sp>
        <p:sp>
          <p:nvSpPr>
            <p:cNvPr id="93" name="Text Box 41">
              <a:extLst>
                <a:ext uri="{FF2B5EF4-FFF2-40B4-BE49-F238E27FC236}">
                  <a16:creationId xmlns:a16="http://schemas.microsoft.com/office/drawing/2014/main" id="{2AA42DA6-4AED-05C0-DE86-72BA8BBA2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3" y="2400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2</a:t>
              </a:r>
            </a:p>
          </p:txBody>
        </p:sp>
        <p:sp>
          <p:nvSpPr>
            <p:cNvPr id="94" name="Text Box 42">
              <a:extLst>
                <a:ext uri="{FF2B5EF4-FFF2-40B4-BE49-F238E27FC236}">
                  <a16:creationId xmlns:a16="http://schemas.microsoft.com/office/drawing/2014/main" id="{4124AD1E-6291-B7AF-11AB-5CD0E2374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400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4</a:t>
              </a:r>
            </a:p>
          </p:txBody>
        </p:sp>
        <p:sp>
          <p:nvSpPr>
            <p:cNvPr id="95" name="Text Box 43">
              <a:extLst>
                <a:ext uri="{FF2B5EF4-FFF2-40B4-BE49-F238E27FC236}">
                  <a16:creationId xmlns:a16="http://schemas.microsoft.com/office/drawing/2014/main" id="{8ADBCEDD-01E2-D05A-2219-0D846F9B8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400"/>
              <a:ext cx="3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11</a:t>
              </a:r>
            </a:p>
          </p:txBody>
        </p:sp>
        <p:sp>
          <p:nvSpPr>
            <p:cNvPr id="96" name="Text Box 44">
              <a:extLst>
                <a:ext uri="{FF2B5EF4-FFF2-40B4-BE49-F238E27FC236}">
                  <a16:creationId xmlns:a16="http://schemas.microsoft.com/office/drawing/2014/main" id="{D357AD87-271C-347D-73AD-659E9C2213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5" y="2400"/>
              <a:ext cx="3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31</a:t>
              </a:r>
            </a:p>
          </p:txBody>
        </p:sp>
        <p:sp>
          <p:nvSpPr>
            <p:cNvPr id="97" name="Text Box 45">
              <a:extLst>
                <a:ext uri="{FF2B5EF4-FFF2-40B4-BE49-F238E27FC236}">
                  <a16:creationId xmlns:a16="http://schemas.microsoft.com/office/drawing/2014/main" id="{FC3EA410-5221-3CFB-CA7A-B0D20C7D5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9" y="2400"/>
              <a:ext cx="3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45</a:t>
              </a:r>
            </a:p>
          </p:txBody>
        </p:sp>
        <p:sp>
          <p:nvSpPr>
            <p:cNvPr id="98" name="Text Box 46">
              <a:extLst>
                <a:ext uri="{FF2B5EF4-FFF2-40B4-BE49-F238E27FC236}">
                  <a16:creationId xmlns:a16="http://schemas.microsoft.com/office/drawing/2014/main" id="{300387A2-BEF1-E20B-B0D2-01D9ADFCF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400"/>
              <a:ext cx="4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173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id="{8DC7D6C8-DB12-3F50-25C3-2C7553ACA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7" y="240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</p:grpSp>
      <p:sp>
        <p:nvSpPr>
          <p:cNvPr id="105" name="Text Box 48">
            <a:extLst>
              <a:ext uri="{FF2B5EF4-FFF2-40B4-BE49-F238E27FC236}">
                <a16:creationId xmlns:a16="http://schemas.microsoft.com/office/drawing/2014/main" id="{49913850-187F-EB74-08D7-76D314859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6309" y="4953994"/>
            <a:ext cx="379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2</a:t>
            </a:r>
          </a:p>
        </p:txBody>
      </p:sp>
      <p:sp>
        <p:nvSpPr>
          <p:cNvPr id="106" name="AutoShape 49">
            <a:extLst>
              <a:ext uri="{FF2B5EF4-FFF2-40B4-BE49-F238E27FC236}">
                <a16:creationId xmlns:a16="http://schemas.microsoft.com/office/drawing/2014/main" id="{10AA649D-200A-0F12-84F4-D9905B7A2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109" y="5030194"/>
            <a:ext cx="11430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7" name="Text Box 50">
            <a:extLst>
              <a:ext uri="{FF2B5EF4-FFF2-40B4-BE49-F238E27FC236}">
                <a16:creationId xmlns:a16="http://schemas.microsoft.com/office/drawing/2014/main" id="{2BE6E999-D0D6-D081-8557-39F6D1F52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5434" y="4953994"/>
            <a:ext cx="573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31</a:t>
            </a:r>
          </a:p>
        </p:txBody>
      </p:sp>
      <p:sp>
        <p:nvSpPr>
          <p:cNvPr id="108" name="Text Box 46">
            <a:extLst>
              <a:ext uri="{FF2B5EF4-FFF2-40B4-BE49-F238E27FC236}">
                <a16:creationId xmlns:a16="http://schemas.microsoft.com/office/drawing/2014/main" id="{E0275DB5-4A9A-920D-E03B-AB139AE13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7309" y="3887194"/>
            <a:ext cx="768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174</a:t>
            </a:r>
          </a:p>
        </p:txBody>
      </p:sp>
      <p:sp>
        <p:nvSpPr>
          <p:cNvPr id="109" name="Text Box 50">
            <a:extLst>
              <a:ext uri="{FF2B5EF4-FFF2-40B4-BE49-F238E27FC236}">
                <a16:creationId xmlns:a16="http://schemas.microsoft.com/office/drawing/2014/main" id="{B007A21B-DA1D-2C24-B80E-456CAC7D1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634" y="4953994"/>
            <a:ext cx="574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54</a:t>
            </a:r>
          </a:p>
        </p:txBody>
      </p:sp>
      <p:sp>
        <p:nvSpPr>
          <p:cNvPr id="110" name="Text Box 50">
            <a:extLst>
              <a:ext uri="{FF2B5EF4-FFF2-40B4-BE49-F238E27FC236}">
                <a16:creationId xmlns:a16="http://schemas.microsoft.com/office/drawing/2014/main" id="{E91ADD58-7C5A-0EA8-CA5F-BCFF8EC12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8909" y="4953994"/>
            <a:ext cx="768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39499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Query processing: 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Consider processing the query: Brutus AND Caesar</a:t>
            </a:r>
          </a:p>
          <a:p>
            <a:pPr lvl="1" algn="just"/>
            <a:r>
              <a:rPr lang="en-GB" dirty="0">
                <a:solidFill>
                  <a:srgbClr val="FF0000"/>
                </a:solidFill>
              </a:rPr>
              <a:t>Locate</a:t>
            </a:r>
            <a:r>
              <a:rPr lang="en-GB" dirty="0"/>
              <a:t> Brutus in the Dictionary;</a:t>
            </a:r>
          </a:p>
          <a:p>
            <a:pPr lvl="2" algn="just"/>
            <a:r>
              <a:rPr lang="en-GB" dirty="0">
                <a:solidFill>
                  <a:srgbClr val="FF0000"/>
                </a:solidFill>
              </a:rPr>
              <a:t>Retrieve</a:t>
            </a:r>
            <a:r>
              <a:rPr lang="en-GB" dirty="0"/>
              <a:t> its postings.</a:t>
            </a:r>
          </a:p>
          <a:p>
            <a:pPr lvl="1" algn="just"/>
            <a:r>
              <a:rPr lang="en-GB" dirty="0">
                <a:solidFill>
                  <a:srgbClr val="FF0000"/>
                </a:solidFill>
              </a:rPr>
              <a:t>Locate</a:t>
            </a:r>
            <a:r>
              <a:rPr lang="en-GB" dirty="0"/>
              <a:t> Caesar in the Dictionary;</a:t>
            </a:r>
          </a:p>
          <a:p>
            <a:pPr lvl="2" algn="just"/>
            <a:r>
              <a:rPr lang="en-GB" dirty="0">
                <a:solidFill>
                  <a:srgbClr val="FF0000"/>
                </a:solidFill>
              </a:rPr>
              <a:t>Retrieve</a:t>
            </a:r>
            <a:r>
              <a:rPr lang="en-GB" dirty="0"/>
              <a:t> its postings.</a:t>
            </a:r>
          </a:p>
          <a:p>
            <a:pPr lvl="1" algn="just"/>
            <a:r>
              <a:rPr lang="en-GB" dirty="0">
                <a:solidFill>
                  <a:srgbClr val="FF0000"/>
                </a:solidFill>
              </a:rPr>
              <a:t>“Merge”</a:t>
            </a:r>
            <a:r>
              <a:rPr lang="en-GB" dirty="0"/>
              <a:t> the two postings.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5E9477-653D-CC8A-0760-0AA51506E90A}"/>
              </a:ext>
            </a:extLst>
          </p:cNvPr>
          <p:cNvGrpSpPr/>
          <p:nvPr/>
        </p:nvGrpSpPr>
        <p:grpSpPr>
          <a:xfrm>
            <a:off x="2356644" y="5059494"/>
            <a:ext cx="7478712" cy="1000125"/>
            <a:chOff x="1462088" y="5019675"/>
            <a:chExt cx="7478712" cy="1000125"/>
          </a:xfrm>
        </p:grpSpPr>
        <p:sp>
          <p:nvSpPr>
            <p:cNvPr id="45" name="Text Box 2058">
              <a:extLst>
                <a:ext uri="{FF2B5EF4-FFF2-40B4-BE49-F238E27FC236}">
                  <a16:creationId xmlns:a16="http://schemas.microsoft.com/office/drawing/2014/main" id="{11EDE460-2F50-2F6E-E292-5A848DCD6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8638" y="5019675"/>
              <a:ext cx="703262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128</a:t>
              </a:r>
            </a:p>
          </p:txBody>
        </p:sp>
        <p:sp>
          <p:nvSpPr>
            <p:cNvPr id="46" name="Text Box 2065">
              <a:extLst>
                <a:ext uri="{FF2B5EF4-FFF2-40B4-BE49-F238E27FC236}">
                  <a16:creationId xmlns:a16="http://schemas.microsoft.com/office/drawing/2014/main" id="{C769ECA5-E22C-570E-AC13-AC34044C2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3438" y="5553075"/>
              <a:ext cx="53340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34</a:t>
              </a:r>
            </a:p>
          </p:txBody>
        </p:sp>
        <p:grpSp>
          <p:nvGrpSpPr>
            <p:cNvPr id="47" name="Group 2083">
              <a:extLst>
                <a:ext uri="{FF2B5EF4-FFF2-40B4-BE49-F238E27FC236}">
                  <a16:creationId xmlns:a16="http://schemas.microsoft.com/office/drawing/2014/main" id="{6E5C851F-2A36-7716-DAE5-3A4B495AA5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4600" y="5019675"/>
              <a:ext cx="647700" cy="466725"/>
              <a:chOff x="1584" y="3162"/>
              <a:chExt cx="408" cy="294"/>
            </a:xfrm>
          </p:grpSpPr>
          <p:sp>
            <p:nvSpPr>
              <p:cNvPr id="87" name="Text Box 2052">
                <a:extLst>
                  <a:ext uri="{FF2B5EF4-FFF2-40B4-BE49-F238E27FC236}">
                    <a16:creationId xmlns:a16="http://schemas.microsoft.com/office/drawing/2014/main" id="{F333770F-6322-089E-FECB-B27B706BCA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3162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2</a:t>
                </a:r>
              </a:p>
            </p:txBody>
          </p:sp>
          <p:cxnSp>
            <p:nvCxnSpPr>
              <p:cNvPr id="88" name="AutoShape 2066">
                <a:extLst>
                  <a:ext uri="{FF2B5EF4-FFF2-40B4-BE49-F238E27FC236}">
                    <a16:creationId xmlns:a16="http://schemas.microsoft.com/office/drawing/2014/main" id="{7C9A45AD-1AFE-1458-F9EF-D0A26947EA59}"/>
                  </a:ext>
                </a:extLst>
              </p:cNvPr>
              <p:cNvCxnSpPr>
                <a:cxnSpLocks noChangeShapeType="1"/>
                <a:stCxn id="87" idx="3"/>
                <a:endCxn id="85" idx="1"/>
              </p:cNvCxnSpPr>
              <p:nvPr/>
            </p:nvCxnSpPr>
            <p:spPr bwMode="auto">
              <a:xfrm>
                <a:off x="1813" y="3309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8" name="Group 2084">
              <a:extLst>
                <a:ext uri="{FF2B5EF4-FFF2-40B4-BE49-F238E27FC236}">
                  <a16:creationId xmlns:a16="http://schemas.microsoft.com/office/drawing/2014/main" id="{F7925E57-0351-7A80-E6B0-B693D02CFA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2300" y="5019675"/>
              <a:ext cx="668338" cy="466725"/>
              <a:chOff x="1992" y="3162"/>
              <a:chExt cx="421" cy="294"/>
            </a:xfrm>
          </p:grpSpPr>
          <p:sp>
            <p:nvSpPr>
              <p:cNvPr id="85" name="Text Box 2053">
                <a:extLst>
                  <a:ext uri="{FF2B5EF4-FFF2-40B4-BE49-F238E27FC236}">
                    <a16:creationId xmlns:a16="http://schemas.microsoft.com/office/drawing/2014/main" id="{A29B45C7-AA92-6FBA-1CD9-70BAE3A44F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2" y="3162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4</a:t>
                </a:r>
              </a:p>
            </p:txBody>
          </p:sp>
          <p:cxnSp>
            <p:nvCxnSpPr>
              <p:cNvPr id="86" name="AutoShape 2067">
                <a:extLst>
                  <a:ext uri="{FF2B5EF4-FFF2-40B4-BE49-F238E27FC236}">
                    <a16:creationId xmlns:a16="http://schemas.microsoft.com/office/drawing/2014/main" id="{E7F29AA1-68CF-2187-2F22-C2115D3BDEA4}"/>
                  </a:ext>
                </a:extLst>
              </p:cNvPr>
              <p:cNvCxnSpPr>
                <a:cxnSpLocks noChangeShapeType="1"/>
                <a:stCxn id="85" idx="3"/>
                <a:endCxn id="83" idx="1"/>
              </p:cNvCxnSpPr>
              <p:nvPr/>
            </p:nvCxnSpPr>
            <p:spPr bwMode="auto">
              <a:xfrm>
                <a:off x="2221" y="3309"/>
                <a:ext cx="19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9" name="Group 2085">
              <a:extLst>
                <a:ext uri="{FF2B5EF4-FFF2-40B4-BE49-F238E27FC236}">
                  <a16:creationId xmlns:a16="http://schemas.microsoft.com/office/drawing/2014/main" id="{CC48B06F-D5E9-B9C1-7304-7FFE7423DA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0638" y="5019675"/>
              <a:ext cx="609600" cy="466725"/>
              <a:chOff x="2413" y="3162"/>
              <a:chExt cx="384" cy="294"/>
            </a:xfrm>
          </p:grpSpPr>
          <p:sp>
            <p:nvSpPr>
              <p:cNvPr id="83" name="Text Box 2054">
                <a:extLst>
                  <a:ext uri="{FF2B5EF4-FFF2-40B4-BE49-F238E27FC236}">
                    <a16:creationId xmlns:a16="http://schemas.microsoft.com/office/drawing/2014/main" id="{07CF3CB4-26F5-8A21-6D20-29B8AB4A81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3" y="3162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8</a:t>
                </a:r>
              </a:p>
            </p:txBody>
          </p:sp>
          <p:cxnSp>
            <p:nvCxnSpPr>
              <p:cNvPr id="84" name="AutoShape 2068">
                <a:extLst>
                  <a:ext uri="{FF2B5EF4-FFF2-40B4-BE49-F238E27FC236}">
                    <a16:creationId xmlns:a16="http://schemas.microsoft.com/office/drawing/2014/main" id="{2B1728D2-2A95-69BC-5961-3F06AB0B67EB}"/>
                  </a:ext>
                </a:extLst>
              </p:cNvPr>
              <p:cNvCxnSpPr>
                <a:cxnSpLocks noChangeShapeType="1"/>
                <a:stCxn id="83" idx="3"/>
                <a:endCxn id="81" idx="1"/>
              </p:cNvCxnSpPr>
              <p:nvPr/>
            </p:nvCxnSpPr>
            <p:spPr bwMode="auto">
              <a:xfrm>
                <a:off x="2642" y="3309"/>
                <a:ext cx="155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0" name="Group 2086">
              <a:extLst>
                <a:ext uri="{FF2B5EF4-FFF2-40B4-BE49-F238E27FC236}">
                  <a16:creationId xmlns:a16="http://schemas.microsoft.com/office/drawing/2014/main" id="{4942EE53-9EF9-0B3A-A7CA-E2B3C9301E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0238" y="5019675"/>
              <a:ext cx="762000" cy="466725"/>
              <a:chOff x="2797" y="3162"/>
              <a:chExt cx="480" cy="294"/>
            </a:xfrm>
          </p:grpSpPr>
          <p:sp>
            <p:nvSpPr>
              <p:cNvPr id="81" name="Text Box 2055">
                <a:extLst>
                  <a:ext uri="{FF2B5EF4-FFF2-40B4-BE49-F238E27FC236}">
                    <a16:creationId xmlns:a16="http://schemas.microsoft.com/office/drawing/2014/main" id="{84C91C7A-AE2B-807C-08FE-4BED5C9DB0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7" y="3162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16</a:t>
                </a:r>
              </a:p>
            </p:txBody>
          </p:sp>
          <p:cxnSp>
            <p:nvCxnSpPr>
              <p:cNvPr id="82" name="AutoShape 2069">
                <a:extLst>
                  <a:ext uri="{FF2B5EF4-FFF2-40B4-BE49-F238E27FC236}">
                    <a16:creationId xmlns:a16="http://schemas.microsoft.com/office/drawing/2014/main" id="{05BC6593-D1BB-E2B5-6A62-CF063B045EDC}"/>
                  </a:ext>
                </a:extLst>
              </p:cNvPr>
              <p:cNvCxnSpPr>
                <a:cxnSpLocks noChangeShapeType="1"/>
                <a:stCxn id="81" idx="3"/>
                <a:endCxn id="79" idx="1"/>
              </p:cNvCxnSpPr>
              <p:nvPr/>
            </p:nvCxnSpPr>
            <p:spPr bwMode="auto">
              <a:xfrm>
                <a:off x="3133" y="3309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1" name="Group 2087">
              <a:extLst>
                <a:ext uri="{FF2B5EF4-FFF2-40B4-BE49-F238E27FC236}">
                  <a16:creationId xmlns:a16="http://schemas.microsoft.com/office/drawing/2014/main" id="{BA55F0A7-F2F5-89F2-3754-39432C1C47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2238" y="5019675"/>
              <a:ext cx="838200" cy="466725"/>
              <a:chOff x="3277" y="3162"/>
              <a:chExt cx="528" cy="294"/>
            </a:xfrm>
          </p:grpSpPr>
          <p:sp>
            <p:nvSpPr>
              <p:cNvPr id="79" name="Text Box 2056">
                <a:extLst>
                  <a:ext uri="{FF2B5EF4-FFF2-40B4-BE49-F238E27FC236}">
                    <a16:creationId xmlns:a16="http://schemas.microsoft.com/office/drawing/2014/main" id="{9FE6B346-425D-2774-4F42-2037103B9F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7" y="3162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32</a:t>
                </a:r>
              </a:p>
            </p:txBody>
          </p:sp>
          <p:cxnSp>
            <p:nvCxnSpPr>
              <p:cNvPr id="80" name="AutoShape 2070">
                <a:extLst>
                  <a:ext uri="{FF2B5EF4-FFF2-40B4-BE49-F238E27FC236}">
                    <a16:creationId xmlns:a16="http://schemas.microsoft.com/office/drawing/2014/main" id="{31712103-AE46-20CB-006E-C29FF61DDA51}"/>
                  </a:ext>
                </a:extLst>
              </p:cNvPr>
              <p:cNvCxnSpPr>
                <a:cxnSpLocks noChangeShapeType="1"/>
                <a:stCxn id="79" idx="3"/>
                <a:endCxn id="77" idx="1"/>
              </p:cNvCxnSpPr>
              <p:nvPr/>
            </p:nvCxnSpPr>
            <p:spPr bwMode="auto">
              <a:xfrm>
                <a:off x="3613" y="3309"/>
                <a:ext cx="19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2" name="Group 2088">
              <a:extLst>
                <a:ext uri="{FF2B5EF4-FFF2-40B4-BE49-F238E27FC236}">
                  <a16:creationId xmlns:a16="http://schemas.microsoft.com/office/drawing/2014/main" id="{2BE724F1-8118-9303-7052-9349CAE83C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0438" y="5019675"/>
              <a:ext cx="838200" cy="466725"/>
              <a:chOff x="3805" y="3162"/>
              <a:chExt cx="528" cy="294"/>
            </a:xfrm>
          </p:grpSpPr>
          <p:sp>
            <p:nvSpPr>
              <p:cNvPr id="77" name="Text Box 2057">
                <a:extLst>
                  <a:ext uri="{FF2B5EF4-FFF2-40B4-BE49-F238E27FC236}">
                    <a16:creationId xmlns:a16="http://schemas.microsoft.com/office/drawing/2014/main" id="{DACCF7CD-DAE5-B5DB-415C-57A2DD68CF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5" y="3162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64</a:t>
                </a:r>
              </a:p>
            </p:txBody>
          </p:sp>
          <p:cxnSp>
            <p:nvCxnSpPr>
              <p:cNvPr id="78" name="AutoShape 2071">
                <a:extLst>
                  <a:ext uri="{FF2B5EF4-FFF2-40B4-BE49-F238E27FC236}">
                    <a16:creationId xmlns:a16="http://schemas.microsoft.com/office/drawing/2014/main" id="{9AEEB384-92F3-E89E-D59C-3C9973B96CC1}"/>
                  </a:ext>
                </a:extLst>
              </p:cNvPr>
              <p:cNvCxnSpPr>
                <a:cxnSpLocks noChangeShapeType="1"/>
                <a:stCxn id="77" idx="3"/>
                <a:endCxn id="45" idx="1"/>
              </p:cNvCxnSpPr>
              <p:nvPr/>
            </p:nvCxnSpPr>
            <p:spPr bwMode="auto">
              <a:xfrm>
                <a:off x="4141" y="3309"/>
                <a:ext cx="19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3" name="Group 2089">
              <a:extLst>
                <a:ext uri="{FF2B5EF4-FFF2-40B4-BE49-F238E27FC236}">
                  <a16:creationId xmlns:a16="http://schemas.microsoft.com/office/drawing/2014/main" id="{84600806-F380-6387-1F34-A1E6739212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5238" y="5553075"/>
              <a:ext cx="647700" cy="466725"/>
              <a:chOff x="1597" y="3498"/>
              <a:chExt cx="408" cy="294"/>
            </a:xfrm>
          </p:grpSpPr>
          <p:sp>
            <p:nvSpPr>
              <p:cNvPr id="75" name="Text Box 2072">
                <a:extLst>
                  <a:ext uri="{FF2B5EF4-FFF2-40B4-BE49-F238E27FC236}">
                    <a16:creationId xmlns:a16="http://schemas.microsoft.com/office/drawing/2014/main" id="{94BCDB2B-9310-222E-5CB8-147162E383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7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1</a:t>
                </a:r>
              </a:p>
            </p:txBody>
          </p:sp>
          <p:cxnSp>
            <p:nvCxnSpPr>
              <p:cNvPr id="76" name="AutoShape 2073">
                <a:extLst>
                  <a:ext uri="{FF2B5EF4-FFF2-40B4-BE49-F238E27FC236}">
                    <a16:creationId xmlns:a16="http://schemas.microsoft.com/office/drawing/2014/main" id="{32376760-5BF4-C951-9B12-FE7440B5DA62}"/>
                  </a:ext>
                </a:extLst>
              </p:cNvPr>
              <p:cNvCxnSpPr>
                <a:cxnSpLocks noChangeShapeType="1"/>
                <a:stCxn id="75" idx="3"/>
                <a:endCxn id="73" idx="1"/>
              </p:cNvCxnSpPr>
              <p:nvPr/>
            </p:nvCxnSpPr>
            <p:spPr bwMode="auto">
              <a:xfrm>
                <a:off x="1826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4" name="Group 2090">
              <a:extLst>
                <a:ext uri="{FF2B5EF4-FFF2-40B4-BE49-F238E27FC236}">
                  <a16:creationId xmlns:a16="http://schemas.microsoft.com/office/drawing/2014/main" id="{4704034D-DBBB-5195-E772-EB3E69CFD9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2938" y="5553075"/>
              <a:ext cx="647700" cy="466725"/>
              <a:chOff x="2005" y="3498"/>
              <a:chExt cx="408" cy="294"/>
            </a:xfrm>
          </p:grpSpPr>
          <p:sp>
            <p:nvSpPr>
              <p:cNvPr id="73" name="Text Box 2059">
                <a:extLst>
                  <a:ext uri="{FF2B5EF4-FFF2-40B4-BE49-F238E27FC236}">
                    <a16:creationId xmlns:a16="http://schemas.microsoft.com/office/drawing/2014/main" id="{309F83EC-3ADA-5B91-AEB0-3F27C35033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5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2</a:t>
                </a:r>
              </a:p>
            </p:txBody>
          </p:sp>
          <p:cxnSp>
            <p:nvCxnSpPr>
              <p:cNvPr id="74" name="AutoShape 2074">
                <a:extLst>
                  <a:ext uri="{FF2B5EF4-FFF2-40B4-BE49-F238E27FC236}">
                    <a16:creationId xmlns:a16="http://schemas.microsoft.com/office/drawing/2014/main" id="{7222E4AB-6097-0110-6C94-4379B5CB0D08}"/>
                  </a:ext>
                </a:extLst>
              </p:cNvPr>
              <p:cNvCxnSpPr>
                <a:cxnSpLocks noChangeShapeType="1"/>
                <a:stCxn id="73" idx="3"/>
                <a:endCxn id="71" idx="1"/>
              </p:cNvCxnSpPr>
              <p:nvPr/>
            </p:nvCxnSpPr>
            <p:spPr bwMode="auto">
              <a:xfrm>
                <a:off x="2234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5" name="Group 2091">
              <a:extLst>
                <a:ext uri="{FF2B5EF4-FFF2-40B4-BE49-F238E27FC236}">
                  <a16:creationId xmlns:a16="http://schemas.microsoft.com/office/drawing/2014/main" id="{08A96A1A-6BA8-DD1D-5C0F-FF09EB8099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0638" y="5553075"/>
              <a:ext cx="630237" cy="466725"/>
              <a:chOff x="2413" y="3498"/>
              <a:chExt cx="397" cy="294"/>
            </a:xfrm>
          </p:grpSpPr>
          <p:sp>
            <p:nvSpPr>
              <p:cNvPr id="71" name="Text Box 2060">
                <a:extLst>
                  <a:ext uri="{FF2B5EF4-FFF2-40B4-BE49-F238E27FC236}">
                    <a16:creationId xmlns:a16="http://schemas.microsoft.com/office/drawing/2014/main" id="{323A3C88-F74F-86D5-1DE5-4FC55555B5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3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3</a:t>
                </a:r>
              </a:p>
            </p:txBody>
          </p:sp>
          <p:cxnSp>
            <p:nvCxnSpPr>
              <p:cNvPr id="72" name="AutoShape 2075">
                <a:extLst>
                  <a:ext uri="{FF2B5EF4-FFF2-40B4-BE49-F238E27FC236}">
                    <a16:creationId xmlns:a16="http://schemas.microsoft.com/office/drawing/2014/main" id="{10584A21-0466-AD85-57C0-BF10B69FF5A7}"/>
                  </a:ext>
                </a:extLst>
              </p:cNvPr>
              <p:cNvCxnSpPr>
                <a:cxnSpLocks noChangeShapeType="1"/>
                <a:stCxn id="71" idx="3"/>
                <a:endCxn id="69" idx="1"/>
              </p:cNvCxnSpPr>
              <p:nvPr/>
            </p:nvCxnSpPr>
            <p:spPr bwMode="auto">
              <a:xfrm>
                <a:off x="2642" y="3645"/>
                <a:ext cx="168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6" name="Group 2092">
              <a:extLst>
                <a:ext uri="{FF2B5EF4-FFF2-40B4-BE49-F238E27FC236}">
                  <a16:creationId xmlns:a16="http://schemas.microsoft.com/office/drawing/2014/main" id="{CFD55E58-E509-AFDE-AA10-127CA65F2C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0875" y="5553075"/>
              <a:ext cx="606425" cy="466725"/>
              <a:chOff x="2810" y="3498"/>
              <a:chExt cx="382" cy="294"/>
            </a:xfrm>
          </p:grpSpPr>
          <p:sp>
            <p:nvSpPr>
              <p:cNvPr id="69" name="Text Box 2061">
                <a:extLst>
                  <a:ext uri="{FF2B5EF4-FFF2-40B4-BE49-F238E27FC236}">
                    <a16:creationId xmlns:a16="http://schemas.microsoft.com/office/drawing/2014/main" id="{7C99241A-6F81-4F9A-A17B-1E1450C098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5</a:t>
                </a:r>
              </a:p>
            </p:txBody>
          </p:sp>
          <p:cxnSp>
            <p:nvCxnSpPr>
              <p:cNvPr id="70" name="AutoShape 2076">
                <a:extLst>
                  <a:ext uri="{FF2B5EF4-FFF2-40B4-BE49-F238E27FC236}">
                    <a16:creationId xmlns:a16="http://schemas.microsoft.com/office/drawing/2014/main" id="{FA322258-0D4C-F549-F303-CCF9DB06848B}"/>
                  </a:ext>
                </a:extLst>
              </p:cNvPr>
              <p:cNvCxnSpPr>
                <a:cxnSpLocks noChangeShapeType="1"/>
                <a:stCxn id="69" idx="3"/>
                <a:endCxn id="67" idx="1"/>
              </p:cNvCxnSpPr>
              <p:nvPr/>
            </p:nvCxnSpPr>
            <p:spPr bwMode="auto">
              <a:xfrm>
                <a:off x="3039" y="3645"/>
                <a:ext cx="153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7" name="Group 2093">
              <a:extLst>
                <a:ext uri="{FF2B5EF4-FFF2-40B4-BE49-F238E27FC236}">
                  <a16:creationId xmlns:a16="http://schemas.microsoft.com/office/drawing/2014/main" id="{96A54C65-42E8-82A0-279E-77D06D189F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7300" y="5553075"/>
              <a:ext cx="592138" cy="466725"/>
              <a:chOff x="3192" y="3498"/>
              <a:chExt cx="373" cy="294"/>
            </a:xfrm>
          </p:grpSpPr>
          <p:sp>
            <p:nvSpPr>
              <p:cNvPr id="67" name="Text Box 2062">
                <a:extLst>
                  <a:ext uri="{FF2B5EF4-FFF2-40B4-BE49-F238E27FC236}">
                    <a16:creationId xmlns:a16="http://schemas.microsoft.com/office/drawing/2014/main" id="{1B5973EB-1518-1073-76C8-30C25E6F4D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2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8</a:t>
                </a:r>
              </a:p>
            </p:txBody>
          </p:sp>
          <p:cxnSp>
            <p:nvCxnSpPr>
              <p:cNvPr id="68" name="AutoShape 2077">
                <a:extLst>
                  <a:ext uri="{FF2B5EF4-FFF2-40B4-BE49-F238E27FC236}">
                    <a16:creationId xmlns:a16="http://schemas.microsoft.com/office/drawing/2014/main" id="{2F5C9B7E-D027-A3F9-E5B8-1F89B0ACB37C}"/>
                  </a:ext>
                </a:extLst>
              </p:cNvPr>
              <p:cNvCxnSpPr>
                <a:cxnSpLocks noChangeShapeType="1"/>
                <a:stCxn id="67" idx="3"/>
                <a:endCxn id="65" idx="1"/>
              </p:cNvCxnSpPr>
              <p:nvPr/>
            </p:nvCxnSpPr>
            <p:spPr bwMode="auto">
              <a:xfrm>
                <a:off x="342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8" name="Group 2094">
              <a:extLst>
                <a:ext uri="{FF2B5EF4-FFF2-40B4-BE49-F238E27FC236}">
                  <a16:creationId xmlns:a16="http://schemas.microsoft.com/office/drawing/2014/main" id="{20AEE061-930A-4DD8-0997-9D21AD8BAA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9438" y="5553075"/>
              <a:ext cx="762000" cy="466725"/>
              <a:chOff x="3565" y="3498"/>
              <a:chExt cx="480" cy="294"/>
            </a:xfrm>
          </p:grpSpPr>
          <p:sp>
            <p:nvSpPr>
              <p:cNvPr id="65" name="Text Box 2063">
                <a:extLst>
                  <a:ext uri="{FF2B5EF4-FFF2-40B4-BE49-F238E27FC236}">
                    <a16:creationId xmlns:a16="http://schemas.microsoft.com/office/drawing/2014/main" id="{004DA3FD-377C-DAEC-B4A3-7F7F2F4483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" y="3498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13</a:t>
                </a:r>
              </a:p>
            </p:txBody>
          </p:sp>
          <p:cxnSp>
            <p:nvCxnSpPr>
              <p:cNvPr id="66" name="AutoShape 2078">
                <a:extLst>
                  <a:ext uri="{FF2B5EF4-FFF2-40B4-BE49-F238E27FC236}">
                    <a16:creationId xmlns:a16="http://schemas.microsoft.com/office/drawing/2014/main" id="{CCAB8885-787D-02ED-95F1-9221FE00B4C4}"/>
                  </a:ext>
                </a:extLst>
              </p:cNvPr>
              <p:cNvCxnSpPr>
                <a:cxnSpLocks noChangeShapeType="1"/>
                <a:stCxn id="65" idx="3"/>
                <a:endCxn id="63" idx="1"/>
              </p:cNvCxnSpPr>
              <p:nvPr/>
            </p:nvCxnSpPr>
            <p:spPr bwMode="auto">
              <a:xfrm>
                <a:off x="390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9" name="Group 2095">
              <a:extLst>
                <a:ext uri="{FF2B5EF4-FFF2-40B4-BE49-F238E27FC236}">
                  <a16:creationId xmlns:a16="http://schemas.microsoft.com/office/drawing/2014/main" id="{5EF32148-C9D0-158D-55A7-AE02103D04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21438" y="5553075"/>
              <a:ext cx="762000" cy="466725"/>
              <a:chOff x="4045" y="3498"/>
              <a:chExt cx="480" cy="294"/>
            </a:xfrm>
          </p:grpSpPr>
          <p:sp>
            <p:nvSpPr>
              <p:cNvPr id="63" name="Text Box 2064">
                <a:extLst>
                  <a:ext uri="{FF2B5EF4-FFF2-40B4-BE49-F238E27FC236}">
                    <a16:creationId xmlns:a16="http://schemas.microsoft.com/office/drawing/2014/main" id="{55C9D477-7B9C-6F39-B3A8-782AFEC872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5" y="3498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21</a:t>
                </a:r>
              </a:p>
            </p:txBody>
          </p:sp>
          <p:cxnSp>
            <p:nvCxnSpPr>
              <p:cNvPr id="64" name="AutoShape 2079">
                <a:extLst>
                  <a:ext uri="{FF2B5EF4-FFF2-40B4-BE49-F238E27FC236}">
                    <a16:creationId xmlns:a16="http://schemas.microsoft.com/office/drawing/2014/main" id="{5A697B16-4293-6A98-D602-817669A3472D}"/>
                  </a:ext>
                </a:extLst>
              </p:cNvPr>
              <p:cNvCxnSpPr>
                <a:cxnSpLocks noChangeShapeType="1"/>
                <a:stCxn id="63" idx="3"/>
                <a:endCxn id="46" idx="1"/>
              </p:cNvCxnSpPr>
              <p:nvPr/>
            </p:nvCxnSpPr>
            <p:spPr bwMode="auto">
              <a:xfrm>
                <a:off x="438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0" name="Text Box 2080">
              <a:extLst>
                <a:ext uri="{FF2B5EF4-FFF2-40B4-BE49-F238E27FC236}">
                  <a16:creationId xmlns:a16="http://schemas.microsoft.com/office/drawing/2014/main" id="{3031B7DF-04E4-21D8-DDEC-3A710DC35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038725"/>
              <a:ext cx="10652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Brutus</a:t>
              </a:r>
            </a:p>
          </p:txBody>
        </p:sp>
        <p:sp>
          <p:nvSpPr>
            <p:cNvPr id="61" name="Text Box 2081">
              <a:extLst>
                <a:ext uri="{FF2B5EF4-FFF2-40B4-BE49-F238E27FC236}">
                  <a16:creationId xmlns:a16="http://schemas.microsoft.com/office/drawing/2014/main" id="{EBF36C51-E140-A2D6-8D7A-1BE78778B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495925"/>
              <a:ext cx="1168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Caesar</a:t>
              </a:r>
            </a:p>
          </p:txBody>
        </p:sp>
        <p:sp>
          <p:nvSpPr>
            <p:cNvPr id="62" name="AutoShape 2082">
              <a:extLst>
                <a:ext uri="{FF2B5EF4-FFF2-40B4-BE49-F238E27FC236}">
                  <a16:creationId xmlns:a16="http://schemas.microsoft.com/office/drawing/2014/main" id="{403F822C-5786-7031-F290-C46F291A27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462088" y="5305425"/>
              <a:ext cx="976312" cy="485775"/>
            </a:xfrm>
            <a:prstGeom prst="notchedRightArrow">
              <a:avLst>
                <a:gd name="adj1" fmla="val 50000"/>
                <a:gd name="adj2" fmla="val 50245"/>
              </a:avLst>
            </a:prstGeom>
            <a:solidFill>
              <a:srgbClr val="C0504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6708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merge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Walk through the two postings simultaneously, in time linear in the total number of postings entries.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/>
              <a:t>If the list lengths are x and y, the merge takes O(</a:t>
            </a:r>
            <a:r>
              <a:rPr lang="en-GB" dirty="0" err="1"/>
              <a:t>x+y</a:t>
            </a:r>
            <a:r>
              <a:rPr lang="en-GB" dirty="0"/>
              <a:t>) operations.</a:t>
            </a:r>
          </a:p>
          <a:p>
            <a:pPr algn="just"/>
            <a:r>
              <a:rPr lang="en-GB" dirty="0">
                <a:solidFill>
                  <a:srgbClr val="00B050"/>
                </a:solidFill>
              </a:rPr>
              <a:t>Crucial: postings sorted by </a:t>
            </a:r>
            <a:r>
              <a:rPr lang="en-GB" dirty="0" err="1">
                <a:solidFill>
                  <a:srgbClr val="00B050"/>
                </a:solidFill>
              </a:rPr>
              <a:t>docID</a:t>
            </a:r>
            <a:r>
              <a:rPr lang="en-GB" dirty="0"/>
              <a:t>.</a:t>
            </a:r>
          </a:p>
          <a:p>
            <a:pPr lvl="1"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238" name="Group 99">
            <a:extLst>
              <a:ext uri="{FF2B5EF4-FFF2-40B4-BE49-F238E27FC236}">
                <a16:creationId xmlns:a16="http://schemas.microsoft.com/office/drawing/2014/main" id="{89FD5CAD-8753-D060-F7E1-64ADBD25FA1D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429000"/>
            <a:ext cx="5202238" cy="1009650"/>
            <a:chOff x="1584" y="3264"/>
            <a:chExt cx="3277" cy="636"/>
          </a:xfrm>
        </p:grpSpPr>
        <p:sp>
          <p:nvSpPr>
            <p:cNvPr id="239" name="Text Box 54">
              <a:extLst>
                <a:ext uri="{FF2B5EF4-FFF2-40B4-BE49-F238E27FC236}">
                  <a16:creationId xmlns:a16="http://schemas.microsoft.com/office/drawing/2014/main" id="{79AC6736-80D2-67C6-F794-488689FD6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5" y="3600"/>
              <a:ext cx="336" cy="294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solidFill>
                    <a:srgbClr val="B2B2B2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34</a:t>
              </a:r>
            </a:p>
          </p:txBody>
        </p:sp>
        <p:grpSp>
          <p:nvGrpSpPr>
            <p:cNvPr id="240" name="Group 96">
              <a:extLst>
                <a:ext uri="{FF2B5EF4-FFF2-40B4-BE49-F238E27FC236}">
                  <a16:creationId xmlns:a16="http://schemas.microsoft.com/office/drawing/2014/main" id="{E43E9D83-5755-2931-5388-41902C5EB6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3264"/>
              <a:ext cx="3179" cy="300"/>
              <a:chOff x="1584" y="3060"/>
              <a:chExt cx="3179" cy="300"/>
            </a:xfrm>
          </p:grpSpPr>
          <p:sp>
            <p:nvSpPr>
              <p:cNvPr id="261" name="Text Box 53">
                <a:extLst>
                  <a:ext uri="{FF2B5EF4-FFF2-40B4-BE49-F238E27FC236}">
                    <a16:creationId xmlns:a16="http://schemas.microsoft.com/office/drawing/2014/main" id="{D2227318-36ED-9252-4D84-DDD5E77FA8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3060"/>
                <a:ext cx="443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128</a:t>
                </a:r>
              </a:p>
            </p:txBody>
          </p:sp>
          <p:grpSp>
            <p:nvGrpSpPr>
              <p:cNvPr id="262" name="Group 55">
                <a:extLst>
                  <a:ext uri="{FF2B5EF4-FFF2-40B4-BE49-F238E27FC236}">
                    <a16:creationId xmlns:a16="http://schemas.microsoft.com/office/drawing/2014/main" id="{0A4A43E3-AD7C-807E-6C90-D29C9C28D4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4" y="3060"/>
                <a:ext cx="408" cy="294"/>
                <a:chOff x="1584" y="3162"/>
                <a:chExt cx="408" cy="294"/>
              </a:xfrm>
            </p:grpSpPr>
            <p:sp>
              <p:nvSpPr>
                <p:cNvPr id="278" name="Text Box 56">
                  <a:extLst>
                    <a:ext uri="{FF2B5EF4-FFF2-40B4-BE49-F238E27FC236}">
                      <a16:creationId xmlns:a16="http://schemas.microsoft.com/office/drawing/2014/main" id="{5CF9121A-422B-C93D-E2F9-97242CD7CE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84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2</a:t>
                  </a:r>
                </a:p>
              </p:txBody>
            </p:sp>
            <p:cxnSp>
              <p:nvCxnSpPr>
                <p:cNvPr id="279" name="AutoShape 57">
                  <a:extLst>
                    <a:ext uri="{FF2B5EF4-FFF2-40B4-BE49-F238E27FC236}">
                      <a16:creationId xmlns:a16="http://schemas.microsoft.com/office/drawing/2014/main" id="{5DFAD5A8-6E9E-0D72-998C-7B3ECF678CEA}"/>
                    </a:ext>
                  </a:extLst>
                </p:cNvPr>
                <p:cNvCxnSpPr>
                  <a:cxnSpLocks noChangeShapeType="1"/>
                  <a:stCxn id="278" idx="3"/>
                  <a:endCxn id="276" idx="1"/>
                </p:cNvCxnSpPr>
                <p:nvPr/>
              </p:nvCxnSpPr>
              <p:spPr bwMode="auto">
                <a:xfrm>
                  <a:off x="1813" y="3309"/>
                  <a:ext cx="179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63" name="Group 58">
                <a:extLst>
                  <a:ext uri="{FF2B5EF4-FFF2-40B4-BE49-F238E27FC236}">
                    <a16:creationId xmlns:a16="http://schemas.microsoft.com/office/drawing/2014/main" id="{ADB02D03-319E-C7EC-8A80-8541A2874D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2" y="3060"/>
                <a:ext cx="421" cy="294"/>
                <a:chOff x="1992" y="3162"/>
                <a:chExt cx="421" cy="294"/>
              </a:xfrm>
            </p:grpSpPr>
            <p:sp>
              <p:nvSpPr>
                <p:cNvPr id="276" name="Text Box 59">
                  <a:extLst>
                    <a:ext uri="{FF2B5EF4-FFF2-40B4-BE49-F238E27FC236}">
                      <a16:creationId xmlns:a16="http://schemas.microsoft.com/office/drawing/2014/main" id="{513C26FA-2B81-405D-4C37-2AB8DF2CAC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92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4</a:t>
                  </a:r>
                </a:p>
              </p:txBody>
            </p:sp>
            <p:cxnSp>
              <p:nvCxnSpPr>
                <p:cNvPr id="277" name="AutoShape 60">
                  <a:extLst>
                    <a:ext uri="{FF2B5EF4-FFF2-40B4-BE49-F238E27FC236}">
                      <a16:creationId xmlns:a16="http://schemas.microsoft.com/office/drawing/2014/main" id="{BF1C7779-34BB-EA0F-DD7F-BB3698203B6B}"/>
                    </a:ext>
                  </a:extLst>
                </p:cNvPr>
                <p:cNvCxnSpPr>
                  <a:cxnSpLocks noChangeShapeType="1"/>
                  <a:stCxn id="276" idx="3"/>
                  <a:endCxn id="274" idx="1"/>
                </p:cNvCxnSpPr>
                <p:nvPr/>
              </p:nvCxnSpPr>
              <p:spPr bwMode="auto">
                <a:xfrm>
                  <a:off x="2221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64" name="Group 61">
                <a:extLst>
                  <a:ext uri="{FF2B5EF4-FFF2-40B4-BE49-F238E27FC236}">
                    <a16:creationId xmlns:a16="http://schemas.microsoft.com/office/drawing/2014/main" id="{183B3633-BD55-6150-4B04-826528621F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3" y="3060"/>
                <a:ext cx="384" cy="294"/>
                <a:chOff x="2413" y="3162"/>
                <a:chExt cx="384" cy="294"/>
              </a:xfrm>
            </p:grpSpPr>
            <p:sp>
              <p:nvSpPr>
                <p:cNvPr id="274" name="Text Box 62">
                  <a:extLst>
                    <a:ext uri="{FF2B5EF4-FFF2-40B4-BE49-F238E27FC236}">
                      <a16:creationId xmlns:a16="http://schemas.microsoft.com/office/drawing/2014/main" id="{59FCB7BE-3340-DFD6-68A3-13CE7C91E7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13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8</a:t>
                  </a:r>
                </a:p>
              </p:txBody>
            </p:sp>
            <p:cxnSp>
              <p:nvCxnSpPr>
                <p:cNvPr id="275" name="AutoShape 63">
                  <a:extLst>
                    <a:ext uri="{FF2B5EF4-FFF2-40B4-BE49-F238E27FC236}">
                      <a16:creationId xmlns:a16="http://schemas.microsoft.com/office/drawing/2014/main" id="{440183E6-BF9F-517E-C6EE-AFD0D8442512}"/>
                    </a:ext>
                  </a:extLst>
                </p:cNvPr>
                <p:cNvCxnSpPr>
                  <a:cxnSpLocks noChangeShapeType="1"/>
                  <a:stCxn id="274" idx="3"/>
                  <a:endCxn id="272" idx="1"/>
                </p:cNvCxnSpPr>
                <p:nvPr/>
              </p:nvCxnSpPr>
              <p:spPr bwMode="auto">
                <a:xfrm>
                  <a:off x="2642" y="3309"/>
                  <a:ext cx="155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65" name="Group 64">
                <a:extLst>
                  <a:ext uri="{FF2B5EF4-FFF2-40B4-BE49-F238E27FC236}">
                    <a16:creationId xmlns:a16="http://schemas.microsoft.com/office/drawing/2014/main" id="{A0503FB6-4AEF-25FA-CA8D-6BCFA6086B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97" y="3060"/>
                <a:ext cx="480" cy="294"/>
                <a:chOff x="2797" y="3162"/>
                <a:chExt cx="480" cy="294"/>
              </a:xfrm>
            </p:grpSpPr>
            <p:sp>
              <p:nvSpPr>
                <p:cNvPr id="272" name="Text Box 65">
                  <a:extLst>
                    <a:ext uri="{FF2B5EF4-FFF2-40B4-BE49-F238E27FC236}">
                      <a16:creationId xmlns:a16="http://schemas.microsoft.com/office/drawing/2014/main" id="{08C3EB7E-7FAF-975C-172D-8302FA5C16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97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16</a:t>
                  </a:r>
                </a:p>
              </p:txBody>
            </p:sp>
            <p:cxnSp>
              <p:nvCxnSpPr>
                <p:cNvPr id="273" name="AutoShape 66">
                  <a:extLst>
                    <a:ext uri="{FF2B5EF4-FFF2-40B4-BE49-F238E27FC236}">
                      <a16:creationId xmlns:a16="http://schemas.microsoft.com/office/drawing/2014/main" id="{7DE1CE70-0A93-A094-1208-8BF2E0AB0844}"/>
                    </a:ext>
                  </a:extLst>
                </p:cNvPr>
                <p:cNvCxnSpPr>
                  <a:cxnSpLocks noChangeShapeType="1"/>
                  <a:stCxn id="272" idx="3"/>
                  <a:endCxn id="270" idx="1"/>
                </p:cNvCxnSpPr>
                <p:nvPr/>
              </p:nvCxnSpPr>
              <p:spPr bwMode="auto">
                <a:xfrm>
                  <a:off x="3133" y="3309"/>
                  <a:ext cx="144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66" name="Group 67">
                <a:extLst>
                  <a:ext uri="{FF2B5EF4-FFF2-40B4-BE49-F238E27FC236}">
                    <a16:creationId xmlns:a16="http://schemas.microsoft.com/office/drawing/2014/main" id="{C1DF5446-3924-6220-A853-730E0930B1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7" y="3066"/>
                <a:ext cx="528" cy="294"/>
                <a:chOff x="3277" y="3162"/>
                <a:chExt cx="528" cy="294"/>
              </a:xfrm>
            </p:grpSpPr>
            <p:sp>
              <p:nvSpPr>
                <p:cNvPr id="270" name="Text Box 68">
                  <a:extLst>
                    <a:ext uri="{FF2B5EF4-FFF2-40B4-BE49-F238E27FC236}">
                      <a16:creationId xmlns:a16="http://schemas.microsoft.com/office/drawing/2014/main" id="{15C823F6-DA29-7686-AF44-ADF9C73D3C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77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32</a:t>
                  </a:r>
                </a:p>
              </p:txBody>
            </p:sp>
            <p:cxnSp>
              <p:nvCxnSpPr>
                <p:cNvPr id="271" name="AutoShape 69">
                  <a:extLst>
                    <a:ext uri="{FF2B5EF4-FFF2-40B4-BE49-F238E27FC236}">
                      <a16:creationId xmlns:a16="http://schemas.microsoft.com/office/drawing/2014/main" id="{A9FB0F99-42DD-F1C0-F06A-06C5E2B47BFF}"/>
                    </a:ext>
                  </a:extLst>
                </p:cNvPr>
                <p:cNvCxnSpPr>
                  <a:cxnSpLocks noChangeShapeType="1"/>
                  <a:stCxn id="270" idx="3"/>
                  <a:endCxn id="268" idx="1"/>
                </p:cNvCxnSpPr>
                <p:nvPr/>
              </p:nvCxnSpPr>
              <p:spPr bwMode="auto">
                <a:xfrm>
                  <a:off x="3613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67" name="Group 70">
                <a:extLst>
                  <a:ext uri="{FF2B5EF4-FFF2-40B4-BE49-F238E27FC236}">
                    <a16:creationId xmlns:a16="http://schemas.microsoft.com/office/drawing/2014/main" id="{EA90FD1C-E067-DE2A-9329-8F8A033C0A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05" y="3066"/>
                <a:ext cx="528" cy="294"/>
                <a:chOff x="3805" y="3162"/>
                <a:chExt cx="528" cy="294"/>
              </a:xfrm>
            </p:grpSpPr>
            <p:sp>
              <p:nvSpPr>
                <p:cNvPr id="268" name="Text Box 71">
                  <a:extLst>
                    <a:ext uri="{FF2B5EF4-FFF2-40B4-BE49-F238E27FC236}">
                      <a16:creationId xmlns:a16="http://schemas.microsoft.com/office/drawing/2014/main" id="{50BA3F38-DDF0-7339-9F59-6B33E8E41A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05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solidFill>
                        <a:srgbClr val="B2B2B2"/>
                      </a:solidFill>
                      <a:latin typeface="Arial Unicode MS" pitchFamily="34" charset="-120"/>
                      <a:ea typeface="新細明體" panose="02020500000000000000" pitchFamily="18" charset="-120"/>
                      <a:cs typeface="Arial Unicode MS" pitchFamily="34" charset="-120"/>
                    </a:rPr>
                    <a:t>64</a:t>
                  </a:r>
                </a:p>
              </p:txBody>
            </p:sp>
            <p:cxnSp>
              <p:nvCxnSpPr>
                <p:cNvPr id="269" name="AutoShape 72">
                  <a:extLst>
                    <a:ext uri="{FF2B5EF4-FFF2-40B4-BE49-F238E27FC236}">
                      <a16:creationId xmlns:a16="http://schemas.microsoft.com/office/drawing/2014/main" id="{D4A3547D-CB48-A774-0A90-E0242FC082CE}"/>
                    </a:ext>
                  </a:extLst>
                </p:cNvPr>
                <p:cNvCxnSpPr>
                  <a:cxnSpLocks noChangeShapeType="1"/>
                  <a:stCxn id="268" idx="3"/>
                  <a:endCxn id="261" idx="1"/>
                </p:cNvCxnSpPr>
                <p:nvPr/>
              </p:nvCxnSpPr>
              <p:spPr bwMode="auto">
                <a:xfrm>
                  <a:off x="4141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C0C0C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41" name="Group 73">
              <a:extLst>
                <a:ext uri="{FF2B5EF4-FFF2-40B4-BE49-F238E27FC236}">
                  <a16:creationId xmlns:a16="http://schemas.microsoft.com/office/drawing/2014/main" id="{90BB20BC-5C2C-258A-E4FA-F37C1BCC63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7" y="3600"/>
              <a:ext cx="408" cy="294"/>
              <a:chOff x="1597" y="3498"/>
              <a:chExt cx="408" cy="294"/>
            </a:xfrm>
          </p:grpSpPr>
          <p:sp>
            <p:nvSpPr>
              <p:cNvPr id="259" name="Text Box 74">
                <a:extLst>
                  <a:ext uri="{FF2B5EF4-FFF2-40B4-BE49-F238E27FC236}">
                    <a16:creationId xmlns:a16="http://schemas.microsoft.com/office/drawing/2014/main" id="{18963B86-3F2C-8DDD-A869-23DEC81F5C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7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1</a:t>
                </a:r>
              </a:p>
            </p:txBody>
          </p:sp>
          <p:cxnSp>
            <p:nvCxnSpPr>
              <p:cNvPr id="260" name="AutoShape 75">
                <a:extLst>
                  <a:ext uri="{FF2B5EF4-FFF2-40B4-BE49-F238E27FC236}">
                    <a16:creationId xmlns:a16="http://schemas.microsoft.com/office/drawing/2014/main" id="{DC43DE07-A3CA-3B25-E68F-124F6B2D2913}"/>
                  </a:ext>
                </a:extLst>
              </p:cNvPr>
              <p:cNvCxnSpPr>
                <a:cxnSpLocks noChangeShapeType="1"/>
                <a:stCxn id="259" idx="3"/>
                <a:endCxn id="257" idx="1"/>
              </p:cNvCxnSpPr>
              <p:nvPr/>
            </p:nvCxnSpPr>
            <p:spPr bwMode="auto">
              <a:xfrm>
                <a:off x="1826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2" name="Group 76">
              <a:extLst>
                <a:ext uri="{FF2B5EF4-FFF2-40B4-BE49-F238E27FC236}">
                  <a16:creationId xmlns:a16="http://schemas.microsoft.com/office/drawing/2014/main" id="{0009E4C0-783B-428D-952F-F8EE45B5C2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05" y="3600"/>
              <a:ext cx="408" cy="294"/>
              <a:chOff x="2005" y="3498"/>
              <a:chExt cx="408" cy="294"/>
            </a:xfrm>
          </p:grpSpPr>
          <p:sp>
            <p:nvSpPr>
              <p:cNvPr id="257" name="Text Box 77">
                <a:extLst>
                  <a:ext uri="{FF2B5EF4-FFF2-40B4-BE49-F238E27FC236}">
                    <a16:creationId xmlns:a16="http://schemas.microsoft.com/office/drawing/2014/main" id="{8B580838-6CB8-1271-ED1F-C9E0B09E06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5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2</a:t>
                </a:r>
              </a:p>
            </p:txBody>
          </p:sp>
          <p:cxnSp>
            <p:nvCxnSpPr>
              <p:cNvPr id="258" name="AutoShape 78">
                <a:extLst>
                  <a:ext uri="{FF2B5EF4-FFF2-40B4-BE49-F238E27FC236}">
                    <a16:creationId xmlns:a16="http://schemas.microsoft.com/office/drawing/2014/main" id="{D8276489-ADF8-DC9A-057A-C1890B686C82}"/>
                  </a:ext>
                </a:extLst>
              </p:cNvPr>
              <p:cNvCxnSpPr>
                <a:cxnSpLocks noChangeShapeType="1"/>
                <a:stCxn id="257" idx="3"/>
                <a:endCxn id="255" idx="1"/>
              </p:cNvCxnSpPr>
              <p:nvPr/>
            </p:nvCxnSpPr>
            <p:spPr bwMode="auto">
              <a:xfrm>
                <a:off x="2234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3" name="Group 79">
              <a:extLst>
                <a:ext uri="{FF2B5EF4-FFF2-40B4-BE49-F238E27FC236}">
                  <a16:creationId xmlns:a16="http://schemas.microsoft.com/office/drawing/2014/main" id="{F737781C-F22B-5D15-E83E-C3699515B0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3" y="3606"/>
              <a:ext cx="397" cy="294"/>
              <a:chOff x="2413" y="3498"/>
              <a:chExt cx="397" cy="294"/>
            </a:xfrm>
          </p:grpSpPr>
          <p:sp>
            <p:nvSpPr>
              <p:cNvPr id="255" name="Text Box 80">
                <a:extLst>
                  <a:ext uri="{FF2B5EF4-FFF2-40B4-BE49-F238E27FC236}">
                    <a16:creationId xmlns:a16="http://schemas.microsoft.com/office/drawing/2014/main" id="{AB841F29-877C-F91E-A9AC-E319994ACD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3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3</a:t>
                </a:r>
              </a:p>
            </p:txBody>
          </p:sp>
          <p:cxnSp>
            <p:nvCxnSpPr>
              <p:cNvPr id="256" name="AutoShape 81">
                <a:extLst>
                  <a:ext uri="{FF2B5EF4-FFF2-40B4-BE49-F238E27FC236}">
                    <a16:creationId xmlns:a16="http://schemas.microsoft.com/office/drawing/2014/main" id="{AA7DBD62-3C73-0597-A850-5FA0EAE27598}"/>
                  </a:ext>
                </a:extLst>
              </p:cNvPr>
              <p:cNvCxnSpPr>
                <a:cxnSpLocks noChangeShapeType="1"/>
                <a:stCxn id="255" idx="3"/>
                <a:endCxn id="253" idx="1"/>
              </p:cNvCxnSpPr>
              <p:nvPr/>
            </p:nvCxnSpPr>
            <p:spPr bwMode="auto">
              <a:xfrm>
                <a:off x="2642" y="3645"/>
                <a:ext cx="168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4" name="Group 82">
              <a:extLst>
                <a:ext uri="{FF2B5EF4-FFF2-40B4-BE49-F238E27FC236}">
                  <a16:creationId xmlns:a16="http://schemas.microsoft.com/office/drawing/2014/main" id="{CC7E3F09-A396-F612-1F9B-9576572A9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0" y="3600"/>
              <a:ext cx="382" cy="294"/>
              <a:chOff x="2810" y="3498"/>
              <a:chExt cx="382" cy="294"/>
            </a:xfrm>
          </p:grpSpPr>
          <p:sp>
            <p:nvSpPr>
              <p:cNvPr id="253" name="Text Box 83">
                <a:extLst>
                  <a:ext uri="{FF2B5EF4-FFF2-40B4-BE49-F238E27FC236}">
                    <a16:creationId xmlns:a16="http://schemas.microsoft.com/office/drawing/2014/main" id="{4DD82DEF-A5D1-5611-97AC-D2437F37E4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5</a:t>
                </a:r>
              </a:p>
            </p:txBody>
          </p:sp>
          <p:cxnSp>
            <p:nvCxnSpPr>
              <p:cNvPr id="254" name="AutoShape 84">
                <a:extLst>
                  <a:ext uri="{FF2B5EF4-FFF2-40B4-BE49-F238E27FC236}">
                    <a16:creationId xmlns:a16="http://schemas.microsoft.com/office/drawing/2014/main" id="{93DEB249-A0F6-2840-87AF-E072A2C8333F}"/>
                  </a:ext>
                </a:extLst>
              </p:cNvPr>
              <p:cNvCxnSpPr>
                <a:cxnSpLocks noChangeShapeType="1"/>
                <a:stCxn id="253" idx="3"/>
                <a:endCxn id="251" idx="1"/>
              </p:cNvCxnSpPr>
              <p:nvPr/>
            </p:nvCxnSpPr>
            <p:spPr bwMode="auto">
              <a:xfrm>
                <a:off x="3039" y="3645"/>
                <a:ext cx="153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5" name="Group 85">
              <a:extLst>
                <a:ext uri="{FF2B5EF4-FFF2-40B4-BE49-F238E27FC236}">
                  <a16:creationId xmlns:a16="http://schemas.microsoft.com/office/drawing/2014/main" id="{6D92D589-1DE8-904D-3845-F10AF66A0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2" y="3600"/>
              <a:ext cx="373" cy="294"/>
              <a:chOff x="3192" y="3498"/>
              <a:chExt cx="373" cy="294"/>
            </a:xfrm>
          </p:grpSpPr>
          <p:sp>
            <p:nvSpPr>
              <p:cNvPr id="251" name="Text Box 86">
                <a:extLst>
                  <a:ext uri="{FF2B5EF4-FFF2-40B4-BE49-F238E27FC236}">
                    <a16:creationId xmlns:a16="http://schemas.microsoft.com/office/drawing/2014/main" id="{1CAE87E9-490D-081D-EF5B-25D632BAEA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2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8</a:t>
                </a:r>
              </a:p>
            </p:txBody>
          </p:sp>
          <p:cxnSp>
            <p:nvCxnSpPr>
              <p:cNvPr id="252" name="AutoShape 87">
                <a:extLst>
                  <a:ext uri="{FF2B5EF4-FFF2-40B4-BE49-F238E27FC236}">
                    <a16:creationId xmlns:a16="http://schemas.microsoft.com/office/drawing/2014/main" id="{155B1899-B176-25CF-BD84-C1BB751AB918}"/>
                  </a:ext>
                </a:extLst>
              </p:cNvPr>
              <p:cNvCxnSpPr>
                <a:cxnSpLocks noChangeShapeType="1"/>
                <a:stCxn id="251" idx="3"/>
                <a:endCxn id="246" idx="1"/>
              </p:cNvCxnSpPr>
              <p:nvPr/>
            </p:nvCxnSpPr>
            <p:spPr bwMode="auto">
              <a:xfrm>
                <a:off x="342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46" name="Text Box 89">
              <a:extLst>
                <a:ext uri="{FF2B5EF4-FFF2-40B4-BE49-F238E27FC236}">
                  <a16:creationId xmlns:a16="http://schemas.microsoft.com/office/drawing/2014/main" id="{C317216E-D1F2-8228-90E0-AC61A1AFF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" y="3600"/>
              <a:ext cx="371" cy="294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solidFill>
                    <a:srgbClr val="B2B2B2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13</a:t>
              </a:r>
            </a:p>
          </p:txBody>
        </p:sp>
        <p:cxnSp>
          <p:nvCxnSpPr>
            <p:cNvPr id="247" name="AutoShape 90">
              <a:extLst>
                <a:ext uri="{FF2B5EF4-FFF2-40B4-BE49-F238E27FC236}">
                  <a16:creationId xmlns:a16="http://schemas.microsoft.com/office/drawing/2014/main" id="{3AE0CFB2-6BAA-0A10-5B33-67A1EAEB3150}"/>
                </a:ext>
              </a:extLst>
            </p:cNvPr>
            <p:cNvCxnSpPr>
              <a:cxnSpLocks noChangeShapeType="1"/>
              <a:stCxn id="246" idx="3"/>
              <a:endCxn id="249" idx="1"/>
            </p:cNvCxnSpPr>
            <p:nvPr/>
          </p:nvCxnSpPr>
          <p:spPr bwMode="auto">
            <a:xfrm>
              <a:off x="3936" y="3747"/>
              <a:ext cx="109" cy="0"/>
            </a:xfrm>
            <a:prstGeom prst="straightConnector1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8" name="Group 91">
              <a:extLst>
                <a:ext uri="{FF2B5EF4-FFF2-40B4-BE49-F238E27FC236}">
                  <a16:creationId xmlns:a16="http://schemas.microsoft.com/office/drawing/2014/main" id="{84C8ADF8-05A9-6C60-AF95-D5E9BE43CB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5" y="3600"/>
              <a:ext cx="480" cy="294"/>
              <a:chOff x="4045" y="3498"/>
              <a:chExt cx="480" cy="294"/>
            </a:xfrm>
          </p:grpSpPr>
          <p:sp>
            <p:nvSpPr>
              <p:cNvPr id="249" name="Text Box 92">
                <a:extLst>
                  <a:ext uri="{FF2B5EF4-FFF2-40B4-BE49-F238E27FC236}">
                    <a16:creationId xmlns:a16="http://schemas.microsoft.com/office/drawing/2014/main" id="{75B7824D-54CD-8D50-852E-AF08FE382F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5" y="3498"/>
                <a:ext cx="336" cy="294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B2B2B2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rPr>
                  <a:t>21</a:t>
                </a:r>
              </a:p>
            </p:txBody>
          </p:sp>
          <p:cxnSp>
            <p:nvCxnSpPr>
              <p:cNvPr id="250" name="AutoShape 93">
                <a:extLst>
                  <a:ext uri="{FF2B5EF4-FFF2-40B4-BE49-F238E27FC236}">
                    <a16:creationId xmlns:a16="http://schemas.microsoft.com/office/drawing/2014/main" id="{EEF03117-0DC4-7DF1-2548-EAE68C368532}"/>
                  </a:ext>
                </a:extLst>
              </p:cNvPr>
              <p:cNvCxnSpPr>
                <a:cxnSpLocks noChangeShapeType="1"/>
                <a:stCxn id="249" idx="3"/>
                <a:endCxn id="239" idx="1"/>
              </p:cNvCxnSpPr>
              <p:nvPr/>
            </p:nvCxnSpPr>
            <p:spPr bwMode="auto">
              <a:xfrm>
                <a:off x="438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rgbClr val="C0C0C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280" name="Text Box 4">
            <a:extLst>
              <a:ext uri="{FF2B5EF4-FFF2-40B4-BE49-F238E27FC236}">
                <a16:creationId xmlns:a16="http://schemas.microsoft.com/office/drawing/2014/main" id="{469D4D47-5859-0C90-F769-2542AC272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638" y="3429000"/>
            <a:ext cx="703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rPr>
              <a:t>128</a:t>
            </a:r>
          </a:p>
        </p:txBody>
      </p:sp>
      <p:sp>
        <p:nvSpPr>
          <p:cNvPr id="281" name="Text Box 5">
            <a:extLst>
              <a:ext uri="{FF2B5EF4-FFF2-40B4-BE49-F238E27FC236}">
                <a16:creationId xmlns:a16="http://schemas.microsoft.com/office/drawing/2014/main" id="{89D0ACE9-EE48-FC9D-AFFE-F4F223CB1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3438" y="3962400"/>
            <a:ext cx="533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rPr>
              <a:t>34</a:t>
            </a:r>
          </a:p>
        </p:txBody>
      </p:sp>
      <p:grpSp>
        <p:nvGrpSpPr>
          <p:cNvPr id="282" name="Group 6">
            <a:extLst>
              <a:ext uri="{FF2B5EF4-FFF2-40B4-BE49-F238E27FC236}">
                <a16:creationId xmlns:a16="http://schemas.microsoft.com/office/drawing/2014/main" id="{E5C0CFDF-47CD-802F-2825-D8E40F4E30C9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429000"/>
            <a:ext cx="647700" cy="466725"/>
            <a:chOff x="1584" y="3162"/>
            <a:chExt cx="408" cy="294"/>
          </a:xfrm>
        </p:grpSpPr>
        <p:sp>
          <p:nvSpPr>
            <p:cNvPr id="283" name="Text Box 7">
              <a:extLst>
                <a:ext uri="{FF2B5EF4-FFF2-40B4-BE49-F238E27FC236}">
                  <a16:creationId xmlns:a16="http://schemas.microsoft.com/office/drawing/2014/main" id="{858B7E88-4305-411B-BBAC-9066DB080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2</a:t>
              </a:r>
            </a:p>
          </p:txBody>
        </p:sp>
        <p:cxnSp>
          <p:nvCxnSpPr>
            <p:cNvPr id="284" name="AutoShape 8">
              <a:extLst>
                <a:ext uri="{FF2B5EF4-FFF2-40B4-BE49-F238E27FC236}">
                  <a16:creationId xmlns:a16="http://schemas.microsoft.com/office/drawing/2014/main" id="{15FBDA26-79A7-10AF-19E4-85236CC1CD91}"/>
                </a:ext>
              </a:extLst>
            </p:cNvPr>
            <p:cNvCxnSpPr>
              <a:cxnSpLocks noChangeShapeType="1"/>
              <a:stCxn id="283" idx="3"/>
              <a:endCxn id="286" idx="1"/>
            </p:cNvCxnSpPr>
            <p:nvPr/>
          </p:nvCxnSpPr>
          <p:spPr bwMode="auto">
            <a:xfrm>
              <a:off x="1813" y="3309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5" name="Group 9">
            <a:extLst>
              <a:ext uri="{FF2B5EF4-FFF2-40B4-BE49-F238E27FC236}">
                <a16:creationId xmlns:a16="http://schemas.microsoft.com/office/drawing/2014/main" id="{CAC387B0-9884-18BB-FDB0-AA2110014E55}"/>
              </a:ext>
            </a:extLst>
          </p:cNvPr>
          <p:cNvGrpSpPr>
            <a:grpSpLocks/>
          </p:cNvGrpSpPr>
          <p:nvPr/>
        </p:nvGrpSpPr>
        <p:grpSpPr bwMode="auto">
          <a:xfrm>
            <a:off x="3162300" y="3429000"/>
            <a:ext cx="668338" cy="466725"/>
            <a:chOff x="1992" y="3162"/>
            <a:chExt cx="421" cy="294"/>
          </a:xfrm>
        </p:grpSpPr>
        <p:sp>
          <p:nvSpPr>
            <p:cNvPr id="286" name="Text Box 10">
              <a:extLst>
                <a:ext uri="{FF2B5EF4-FFF2-40B4-BE49-F238E27FC236}">
                  <a16:creationId xmlns:a16="http://schemas.microsoft.com/office/drawing/2014/main" id="{68FC528C-F5B9-49FB-1D62-F1E792C9C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2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4</a:t>
              </a:r>
            </a:p>
          </p:txBody>
        </p:sp>
        <p:cxnSp>
          <p:nvCxnSpPr>
            <p:cNvPr id="287" name="AutoShape 11">
              <a:extLst>
                <a:ext uri="{FF2B5EF4-FFF2-40B4-BE49-F238E27FC236}">
                  <a16:creationId xmlns:a16="http://schemas.microsoft.com/office/drawing/2014/main" id="{3B2CF70F-D647-7512-17BB-7D6E6537F876}"/>
                </a:ext>
              </a:extLst>
            </p:cNvPr>
            <p:cNvCxnSpPr>
              <a:cxnSpLocks noChangeShapeType="1"/>
              <a:stCxn id="286" idx="3"/>
              <a:endCxn id="289" idx="1"/>
            </p:cNvCxnSpPr>
            <p:nvPr/>
          </p:nvCxnSpPr>
          <p:spPr bwMode="auto">
            <a:xfrm>
              <a:off x="2221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8" name="Group 12">
            <a:extLst>
              <a:ext uri="{FF2B5EF4-FFF2-40B4-BE49-F238E27FC236}">
                <a16:creationId xmlns:a16="http://schemas.microsoft.com/office/drawing/2014/main" id="{2A5B0F9D-BB2E-2809-F2C6-392403550C48}"/>
              </a:ext>
            </a:extLst>
          </p:cNvPr>
          <p:cNvGrpSpPr>
            <a:grpSpLocks/>
          </p:cNvGrpSpPr>
          <p:nvPr/>
        </p:nvGrpSpPr>
        <p:grpSpPr bwMode="auto">
          <a:xfrm>
            <a:off x="3830638" y="3429000"/>
            <a:ext cx="609600" cy="466725"/>
            <a:chOff x="2413" y="3162"/>
            <a:chExt cx="384" cy="294"/>
          </a:xfrm>
        </p:grpSpPr>
        <p:sp>
          <p:nvSpPr>
            <p:cNvPr id="289" name="Text Box 13">
              <a:extLst>
                <a:ext uri="{FF2B5EF4-FFF2-40B4-BE49-F238E27FC236}">
                  <a16:creationId xmlns:a16="http://schemas.microsoft.com/office/drawing/2014/main" id="{BE6546A0-C104-5661-B303-8E9E3DFFE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8</a:t>
              </a:r>
            </a:p>
          </p:txBody>
        </p:sp>
        <p:cxnSp>
          <p:nvCxnSpPr>
            <p:cNvPr id="290" name="AutoShape 14">
              <a:extLst>
                <a:ext uri="{FF2B5EF4-FFF2-40B4-BE49-F238E27FC236}">
                  <a16:creationId xmlns:a16="http://schemas.microsoft.com/office/drawing/2014/main" id="{43410CEE-24B9-A9F3-662A-F251253648C9}"/>
                </a:ext>
              </a:extLst>
            </p:cNvPr>
            <p:cNvCxnSpPr>
              <a:cxnSpLocks noChangeShapeType="1"/>
              <a:stCxn id="289" idx="3"/>
              <a:endCxn id="292" idx="1"/>
            </p:cNvCxnSpPr>
            <p:nvPr/>
          </p:nvCxnSpPr>
          <p:spPr bwMode="auto">
            <a:xfrm>
              <a:off x="2642" y="3309"/>
              <a:ext cx="15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1" name="Group 15">
            <a:extLst>
              <a:ext uri="{FF2B5EF4-FFF2-40B4-BE49-F238E27FC236}">
                <a16:creationId xmlns:a16="http://schemas.microsoft.com/office/drawing/2014/main" id="{4AE07626-4824-31AD-0AF7-88EF2A8FF664}"/>
              </a:ext>
            </a:extLst>
          </p:cNvPr>
          <p:cNvGrpSpPr>
            <a:grpSpLocks/>
          </p:cNvGrpSpPr>
          <p:nvPr/>
        </p:nvGrpSpPr>
        <p:grpSpPr bwMode="auto">
          <a:xfrm>
            <a:off x="4440238" y="3429000"/>
            <a:ext cx="762000" cy="466725"/>
            <a:chOff x="2797" y="3162"/>
            <a:chExt cx="480" cy="294"/>
          </a:xfrm>
        </p:grpSpPr>
        <p:sp>
          <p:nvSpPr>
            <p:cNvPr id="292" name="Text Box 16">
              <a:extLst>
                <a:ext uri="{FF2B5EF4-FFF2-40B4-BE49-F238E27FC236}">
                  <a16:creationId xmlns:a16="http://schemas.microsoft.com/office/drawing/2014/main" id="{E4116247-95BE-426D-1AD6-6A655A648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7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16</a:t>
              </a:r>
            </a:p>
          </p:txBody>
        </p:sp>
        <p:cxnSp>
          <p:nvCxnSpPr>
            <p:cNvPr id="293" name="AutoShape 17">
              <a:extLst>
                <a:ext uri="{FF2B5EF4-FFF2-40B4-BE49-F238E27FC236}">
                  <a16:creationId xmlns:a16="http://schemas.microsoft.com/office/drawing/2014/main" id="{469B0C66-0FDE-B36F-4E08-C1A8692468BB}"/>
                </a:ext>
              </a:extLst>
            </p:cNvPr>
            <p:cNvCxnSpPr>
              <a:cxnSpLocks noChangeShapeType="1"/>
              <a:stCxn id="292" idx="3"/>
              <a:endCxn id="295" idx="1"/>
            </p:cNvCxnSpPr>
            <p:nvPr/>
          </p:nvCxnSpPr>
          <p:spPr bwMode="auto">
            <a:xfrm>
              <a:off x="3133" y="3309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4" name="Group 18">
            <a:extLst>
              <a:ext uri="{FF2B5EF4-FFF2-40B4-BE49-F238E27FC236}">
                <a16:creationId xmlns:a16="http://schemas.microsoft.com/office/drawing/2014/main" id="{28A19F00-FE38-5681-8E51-299C1F035222}"/>
              </a:ext>
            </a:extLst>
          </p:cNvPr>
          <p:cNvGrpSpPr>
            <a:grpSpLocks/>
          </p:cNvGrpSpPr>
          <p:nvPr/>
        </p:nvGrpSpPr>
        <p:grpSpPr bwMode="auto">
          <a:xfrm>
            <a:off x="5202238" y="3429000"/>
            <a:ext cx="838200" cy="466725"/>
            <a:chOff x="3277" y="3162"/>
            <a:chExt cx="528" cy="294"/>
          </a:xfrm>
        </p:grpSpPr>
        <p:sp>
          <p:nvSpPr>
            <p:cNvPr id="295" name="Text Box 19">
              <a:extLst>
                <a:ext uri="{FF2B5EF4-FFF2-40B4-BE49-F238E27FC236}">
                  <a16:creationId xmlns:a16="http://schemas.microsoft.com/office/drawing/2014/main" id="{F446E00C-55B2-EF02-E417-895F185812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7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32</a:t>
              </a:r>
            </a:p>
          </p:txBody>
        </p:sp>
        <p:cxnSp>
          <p:nvCxnSpPr>
            <p:cNvPr id="296" name="AutoShape 20">
              <a:extLst>
                <a:ext uri="{FF2B5EF4-FFF2-40B4-BE49-F238E27FC236}">
                  <a16:creationId xmlns:a16="http://schemas.microsoft.com/office/drawing/2014/main" id="{53A95EB5-F42A-87CC-148F-F686A022C72D}"/>
                </a:ext>
              </a:extLst>
            </p:cNvPr>
            <p:cNvCxnSpPr>
              <a:cxnSpLocks noChangeShapeType="1"/>
              <a:stCxn id="295" idx="3"/>
              <a:endCxn id="298" idx="1"/>
            </p:cNvCxnSpPr>
            <p:nvPr/>
          </p:nvCxnSpPr>
          <p:spPr bwMode="auto">
            <a:xfrm>
              <a:off x="3613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" name="Group 21">
            <a:extLst>
              <a:ext uri="{FF2B5EF4-FFF2-40B4-BE49-F238E27FC236}">
                <a16:creationId xmlns:a16="http://schemas.microsoft.com/office/drawing/2014/main" id="{828B2D1E-F31F-463E-65F6-6342AFEC5518}"/>
              </a:ext>
            </a:extLst>
          </p:cNvPr>
          <p:cNvGrpSpPr>
            <a:grpSpLocks/>
          </p:cNvGrpSpPr>
          <p:nvPr/>
        </p:nvGrpSpPr>
        <p:grpSpPr bwMode="auto">
          <a:xfrm>
            <a:off x="6040438" y="3429000"/>
            <a:ext cx="838200" cy="466725"/>
            <a:chOff x="3805" y="3162"/>
            <a:chExt cx="528" cy="294"/>
          </a:xfrm>
        </p:grpSpPr>
        <p:sp>
          <p:nvSpPr>
            <p:cNvPr id="298" name="Text Box 22">
              <a:extLst>
                <a:ext uri="{FF2B5EF4-FFF2-40B4-BE49-F238E27FC236}">
                  <a16:creationId xmlns:a16="http://schemas.microsoft.com/office/drawing/2014/main" id="{E95FE991-6AA4-7A72-AEEB-1924AD4BD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5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64</a:t>
              </a:r>
            </a:p>
          </p:txBody>
        </p:sp>
        <p:cxnSp>
          <p:nvCxnSpPr>
            <p:cNvPr id="299" name="AutoShape 23">
              <a:extLst>
                <a:ext uri="{FF2B5EF4-FFF2-40B4-BE49-F238E27FC236}">
                  <a16:creationId xmlns:a16="http://schemas.microsoft.com/office/drawing/2014/main" id="{A1EF5FF0-D037-DF54-24C2-F170C96501EC}"/>
                </a:ext>
              </a:extLst>
            </p:cNvPr>
            <p:cNvCxnSpPr>
              <a:cxnSpLocks noChangeShapeType="1"/>
              <a:stCxn id="298" idx="3"/>
              <a:endCxn id="280" idx="1"/>
            </p:cNvCxnSpPr>
            <p:nvPr/>
          </p:nvCxnSpPr>
          <p:spPr bwMode="auto">
            <a:xfrm>
              <a:off x="4141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0" name="Group 24">
            <a:extLst>
              <a:ext uri="{FF2B5EF4-FFF2-40B4-BE49-F238E27FC236}">
                <a16:creationId xmlns:a16="http://schemas.microsoft.com/office/drawing/2014/main" id="{B7E27195-B975-4094-D24A-FDC2157E9D3F}"/>
              </a:ext>
            </a:extLst>
          </p:cNvPr>
          <p:cNvGrpSpPr>
            <a:grpSpLocks/>
          </p:cNvGrpSpPr>
          <p:nvPr/>
        </p:nvGrpSpPr>
        <p:grpSpPr bwMode="auto">
          <a:xfrm>
            <a:off x="2535238" y="3962400"/>
            <a:ext cx="647700" cy="466725"/>
            <a:chOff x="1597" y="3498"/>
            <a:chExt cx="408" cy="294"/>
          </a:xfrm>
        </p:grpSpPr>
        <p:sp>
          <p:nvSpPr>
            <p:cNvPr id="301" name="Text Box 25">
              <a:extLst>
                <a:ext uri="{FF2B5EF4-FFF2-40B4-BE49-F238E27FC236}">
                  <a16:creationId xmlns:a16="http://schemas.microsoft.com/office/drawing/2014/main" id="{C296C422-84D0-6157-37F2-794DA1AD4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1</a:t>
              </a:r>
            </a:p>
          </p:txBody>
        </p:sp>
        <p:cxnSp>
          <p:nvCxnSpPr>
            <p:cNvPr id="302" name="AutoShape 26">
              <a:extLst>
                <a:ext uri="{FF2B5EF4-FFF2-40B4-BE49-F238E27FC236}">
                  <a16:creationId xmlns:a16="http://schemas.microsoft.com/office/drawing/2014/main" id="{A17E12A1-8F14-C1C0-CDB9-70AD99C0FFDC}"/>
                </a:ext>
              </a:extLst>
            </p:cNvPr>
            <p:cNvCxnSpPr>
              <a:cxnSpLocks noChangeShapeType="1"/>
              <a:stCxn id="301" idx="3"/>
              <a:endCxn id="304" idx="1"/>
            </p:cNvCxnSpPr>
            <p:nvPr/>
          </p:nvCxnSpPr>
          <p:spPr bwMode="auto">
            <a:xfrm>
              <a:off x="1826" y="3645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3" name="Group 27">
            <a:extLst>
              <a:ext uri="{FF2B5EF4-FFF2-40B4-BE49-F238E27FC236}">
                <a16:creationId xmlns:a16="http://schemas.microsoft.com/office/drawing/2014/main" id="{BE761E3A-1354-0E46-0DB9-29540791F8CD}"/>
              </a:ext>
            </a:extLst>
          </p:cNvPr>
          <p:cNvGrpSpPr>
            <a:grpSpLocks/>
          </p:cNvGrpSpPr>
          <p:nvPr/>
        </p:nvGrpSpPr>
        <p:grpSpPr bwMode="auto">
          <a:xfrm>
            <a:off x="3182938" y="3962400"/>
            <a:ext cx="647700" cy="466725"/>
            <a:chOff x="2005" y="3498"/>
            <a:chExt cx="408" cy="294"/>
          </a:xfrm>
        </p:grpSpPr>
        <p:sp>
          <p:nvSpPr>
            <p:cNvPr id="304" name="Text Box 28">
              <a:extLst>
                <a:ext uri="{FF2B5EF4-FFF2-40B4-BE49-F238E27FC236}">
                  <a16:creationId xmlns:a16="http://schemas.microsoft.com/office/drawing/2014/main" id="{676ED794-3F78-8901-22BD-2535134CB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5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2</a:t>
              </a:r>
            </a:p>
          </p:txBody>
        </p:sp>
        <p:cxnSp>
          <p:nvCxnSpPr>
            <p:cNvPr id="305" name="AutoShape 29">
              <a:extLst>
                <a:ext uri="{FF2B5EF4-FFF2-40B4-BE49-F238E27FC236}">
                  <a16:creationId xmlns:a16="http://schemas.microsoft.com/office/drawing/2014/main" id="{73626851-CEBF-E098-2472-30BEBBD1084B}"/>
                </a:ext>
              </a:extLst>
            </p:cNvPr>
            <p:cNvCxnSpPr>
              <a:cxnSpLocks noChangeShapeType="1"/>
              <a:stCxn id="304" idx="3"/>
              <a:endCxn id="307" idx="1"/>
            </p:cNvCxnSpPr>
            <p:nvPr/>
          </p:nvCxnSpPr>
          <p:spPr bwMode="auto">
            <a:xfrm>
              <a:off x="2234" y="3645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6" name="Group 30">
            <a:extLst>
              <a:ext uri="{FF2B5EF4-FFF2-40B4-BE49-F238E27FC236}">
                <a16:creationId xmlns:a16="http://schemas.microsoft.com/office/drawing/2014/main" id="{631AC341-B29B-19CA-F4A4-01BB8D08971E}"/>
              </a:ext>
            </a:extLst>
          </p:cNvPr>
          <p:cNvGrpSpPr>
            <a:grpSpLocks/>
          </p:cNvGrpSpPr>
          <p:nvPr/>
        </p:nvGrpSpPr>
        <p:grpSpPr bwMode="auto">
          <a:xfrm>
            <a:off x="3830638" y="3962400"/>
            <a:ext cx="630237" cy="466725"/>
            <a:chOff x="2413" y="3498"/>
            <a:chExt cx="397" cy="294"/>
          </a:xfrm>
        </p:grpSpPr>
        <p:sp>
          <p:nvSpPr>
            <p:cNvPr id="307" name="Text Box 31">
              <a:extLst>
                <a:ext uri="{FF2B5EF4-FFF2-40B4-BE49-F238E27FC236}">
                  <a16:creationId xmlns:a16="http://schemas.microsoft.com/office/drawing/2014/main" id="{648A445B-D160-4056-60D4-03BB25B9D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3</a:t>
              </a:r>
            </a:p>
          </p:txBody>
        </p:sp>
        <p:cxnSp>
          <p:nvCxnSpPr>
            <p:cNvPr id="308" name="AutoShape 32">
              <a:extLst>
                <a:ext uri="{FF2B5EF4-FFF2-40B4-BE49-F238E27FC236}">
                  <a16:creationId xmlns:a16="http://schemas.microsoft.com/office/drawing/2014/main" id="{44EEF0DF-3BAA-E525-8AE1-5CA553AA5FD8}"/>
                </a:ext>
              </a:extLst>
            </p:cNvPr>
            <p:cNvCxnSpPr>
              <a:cxnSpLocks noChangeShapeType="1"/>
              <a:stCxn id="307" idx="3"/>
              <a:endCxn id="310" idx="1"/>
            </p:cNvCxnSpPr>
            <p:nvPr/>
          </p:nvCxnSpPr>
          <p:spPr bwMode="auto">
            <a:xfrm>
              <a:off x="2642" y="3645"/>
              <a:ext cx="16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9" name="Group 33">
            <a:extLst>
              <a:ext uri="{FF2B5EF4-FFF2-40B4-BE49-F238E27FC236}">
                <a16:creationId xmlns:a16="http://schemas.microsoft.com/office/drawing/2014/main" id="{5F3B0B6B-1465-345F-5466-97F1EC2323C8}"/>
              </a:ext>
            </a:extLst>
          </p:cNvPr>
          <p:cNvGrpSpPr>
            <a:grpSpLocks/>
          </p:cNvGrpSpPr>
          <p:nvPr/>
        </p:nvGrpSpPr>
        <p:grpSpPr bwMode="auto">
          <a:xfrm>
            <a:off x="4460875" y="3962400"/>
            <a:ext cx="606425" cy="466725"/>
            <a:chOff x="2810" y="3498"/>
            <a:chExt cx="382" cy="294"/>
          </a:xfrm>
        </p:grpSpPr>
        <p:sp>
          <p:nvSpPr>
            <p:cNvPr id="310" name="Text Box 34">
              <a:extLst>
                <a:ext uri="{FF2B5EF4-FFF2-40B4-BE49-F238E27FC236}">
                  <a16:creationId xmlns:a16="http://schemas.microsoft.com/office/drawing/2014/main" id="{A0506F7F-8623-0E33-BCB6-F93F1C5098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5</a:t>
              </a:r>
            </a:p>
          </p:txBody>
        </p:sp>
        <p:cxnSp>
          <p:nvCxnSpPr>
            <p:cNvPr id="311" name="AutoShape 35">
              <a:extLst>
                <a:ext uri="{FF2B5EF4-FFF2-40B4-BE49-F238E27FC236}">
                  <a16:creationId xmlns:a16="http://schemas.microsoft.com/office/drawing/2014/main" id="{5A31EE06-C72E-8F17-F1BA-37A6D1B3481B}"/>
                </a:ext>
              </a:extLst>
            </p:cNvPr>
            <p:cNvCxnSpPr>
              <a:cxnSpLocks noChangeShapeType="1"/>
              <a:stCxn id="310" idx="3"/>
              <a:endCxn id="313" idx="1"/>
            </p:cNvCxnSpPr>
            <p:nvPr/>
          </p:nvCxnSpPr>
          <p:spPr bwMode="auto">
            <a:xfrm>
              <a:off x="3039" y="3645"/>
              <a:ext cx="15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2" name="Group 36">
            <a:extLst>
              <a:ext uri="{FF2B5EF4-FFF2-40B4-BE49-F238E27FC236}">
                <a16:creationId xmlns:a16="http://schemas.microsoft.com/office/drawing/2014/main" id="{E95AC8FF-C4EA-6DC3-8CF6-30D9AC33605B}"/>
              </a:ext>
            </a:extLst>
          </p:cNvPr>
          <p:cNvGrpSpPr>
            <a:grpSpLocks/>
          </p:cNvGrpSpPr>
          <p:nvPr/>
        </p:nvGrpSpPr>
        <p:grpSpPr bwMode="auto">
          <a:xfrm>
            <a:off x="5067300" y="3962400"/>
            <a:ext cx="592138" cy="466725"/>
            <a:chOff x="3192" y="3498"/>
            <a:chExt cx="373" cy="294"/>
          </a:xfrm>
        </p:grpSpPr>
        <p:sp>
          <p:nvSpPr>
            <p:cNvPr id="313" name="Text Box 37">
              <a:extLst>
                <a:ext uri="{FF2B5EF4-FFF2-40B4-BE49-F238E27FC236}">
                  <a16:creationId xmlns:a16="http://schemas.microsoft.com/office/drawing/2014/main" id="{9783EF1A-9189-0D78-DD85-517B8BEC7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2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8</a:t>
              </a:r>
            </a:p>
          </p:txBody>
        </p:sp>
        <p:cxnSp>
          <p:nvCxnSpPr>
            <p:cNvPr id="314" name="AutoShape 38">
              <a:extLst>
                <a:ext uri="{FF2B5EF4-FFF2-40B4-BE49-F238E27FC236}">
                  <a16:creationId xmlns:a16="http://schemas.microsoft.com/office/drawing/2014/main" id="{8688DFE1-1539-0901-CF65-52DA8AA6A563}"/>
                </a:ext>
              </a:extLst>
            </p:cNvPr>
            <p:cNvCxnSpPr>
              <a:cxnSpLocks noChangeShapeType="1"/>
              <a:stCxn id="313" idx="3"/>
              <a:endCxn id="316" idx="1"/>
            </p:cNvCxnSpPr>
            <p:nvPr/>
          </p:nvCxnSpPr>
          <p:spPr bwMode="auto">
            <a:xfrm>
              <a:off x="3421" y="3645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5" name="Group 100">
            <a:extLst>
              <a:ext uri="{FF2B5EF4-FFF2-40B4-BE49-F238E27FC236}">
                <a16:creationId xmlns:a16="http://schemas.microsoft.com/office/drawing/2014/main" id="{4D3407B2-34A2-1AFB-9035-1399742F50E8}"/>
              </a:ext>
            </a:extLst>
          </p:cNvPr>
          <p:cNvGrpSpPr>
            <a:grpSpLocks/>
          </p:cNvGrpSpPr>
          <p:nvPr/>
        </p:nvGrpSpPr>
        <p:grpSpPr bwMode="auto">
          <a:xfrm>
            <a:off x="5659438" y="3962400"/>
            <a:ext cx="762000" cy="466725"/>
            <a:chOff x="3565" y="2496"/>
            <a:chExt cx="480" cy="294"/>
          </a:xfrm>
        </p:grpSpPr>
        <p:sp>
          <p:nvSpPr>
            <p:cNvPr id="316" name="Text Box 40">
              <a:extLst>
                <a:ext uri="{FF2B5EF4-FFF2-40B4-BE49-F238E27FC236}">
                  <a16:creationId xmlns:a16="http://schemas.microsoft.com/office/drawing/2014/main" id="{3F6E3E94-A66D-5422-DC8F-7A7AF7326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" y="2496"/>
              <a:ext cx="371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13</a:t>
              </a:r>
            </a:p>
          </p:txBody>
        </p:sp>
        <p:cxnSp>
          <p:nvCxnSpPr>
            <p:cNvPr id="317" name="AutoShape 41">
              <a:extLst>
                <a:ext uri="{FF2B5EF4-FFF2-40B4-BE49-F238E27FC236}">
                  <a16:creationId xmlns:a16="http://schemas.microsoft.com/office/drawing/2014/main" id="{AE3E8E09-2BE7-0854-8300-7DFD05B4731B}"/>
                </a:ext>
              </a:extLst>
            </p:cNvPr>
            <p:cNvCxnSpPr>
              <a:cxnSpLocks noChangeShapeType="1"/>
              <a:stCxn id="316" idx="3"/>
              <a:endCxn id="319" idx="1"/>
            </p:cNvCxnSpPr>
            <p:nvPr/>
          </p:nvCxnSpPr>
          <p:spPr bwMode="auto">
            <a:xfrm>
              <a:off x="3936" y="2643"/>
              <a:ext cx="10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8" name="Group 42">
            <a:extLst>
              <a:ext uri="{FF2B5EF4-FFF2-40B4-BE49-F238E27FC236}">
                <a16:creationId xmlns:a16="http://schemas.microsoft.com/office/drawing/2014/main" id="{A28AB59E-8046-BFAC-608B-B1702FAA4711}"/>
              </a:ext>
            </a:extLst>
          </p:cNvPr>
          <p:cNvGrpSpPr>
            <a:grpSpLocks/>
          </p:cNvGrpSpPr>
          <p:nvPr/>
        </p:nvGrpSpPr>
        <p:grpSpPr bwMode="auto">
          <a:xfrm>
            <a:off x="6421438" y="3962400"/>
            <a:ext cx="762000" cy="466725"/>
            <a:chOff x="4045" y="3498"/>
            <a:chExt cx="480" cy="294"/>
          </a:xfrm>
        </p:grpSpPr>
        <p:sp>
          <p:nvSpPr>
            <p:cNvPr id="319" name="Text Box 43">
              <a:extLst>
                <a:ext uri="{FF2B5EF4-FFF2-40B4-BE49-F238E27FC236}">
                  <a16:creationId xmlns:a16="http://schemas.microsoft.com/office/drawing/2014/main" id="{57C17C4B-AA7F-DC44-FEC6-BB796B6F7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5" y="349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21</a:t>
              </a:r>
            </a:p>
          </p:txBody>
        </p:sp>
        <p:cxnSp>
          <p:nvCxnSpPr>
            <p:cNvPr id="320" name="AutoShape 44">
              <a:extLst>
                <a:ext uri="{FF2B5EF4-FFF2-40B4-BE49-F238E27FC236}">
                  <a16:creationId xmlns:a16="http://schemas.microsoft.com/office/drawing/2014/main" id="{DDBA55AD-F0A2-6D2D-4056-79E4451F9CB6}"/>
                </a:ext>
              </a:extLst>
            </p:cNvPr>
            <p:cNvCxnSpPr>
              <a:cxnSpLocks noChangeShapeType="1"/>
              <a:stCxn id="319" idx="3"/>
              <a:endCxn id="281" idx="1"/>
            </p:cNvCxnSpPr>
            <p:nvPr/>
          </p:nvCxnSpPr>
          <p:spPr bwMode="auto">
            <a:xfrm>
              <a:off x="4381" y="3645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1" name="Group 52">
            <a:extLst>
              <a:ext uri="{FF2B5EF4-FFF2-40B4-BE49-F238E27FC236}">
                <a16:creationId xmlns:a16="http://schemas.microsoft.com/office/drawing/2014/main" id="{E9633B16-1C19-AC2C-C0D0-879BE014ADB4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438525"/>
            <a:ext cx="1168400" cy="914400"/>
            <a:chOff x="4896" y="2172"/>
            <a:chExt cx="736" cy="576"/>
          </a:xfrm>
        </p:grpSpPr>
        <p:sp>
          <p:nvSpPr>
            <p:cNvPr id="322" name="Text Box 45">
              <a:extLst>
                <a:ext uri="{FF2B5EF4-FFF2-40B4-BE49-F238E27FC236}">
                  <a16:creationId xmlns:a16="http://schemas.microsoft.com/office/drawing/2014/main" id="{2E0683BB-E91B-EFC9-D3AD-99F5FF3EE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172"/>
              <a:ext cx="6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Brutus</a:t>
              </a:r>
            </a:p>
          </p:txBody>
        </p:sp>
        <p:sp>
          <p:nvSpPr>
            <p:cNvPr id="323" name="Text Box 46">
              <a:extLst>
                <a:ext uri="{FF2B5EF4-FFF2-40B4-BE49-F238E27FC236}">
                  <a16:creationId xmlns:a16="http://schemas.microsoft.com/office/drawing/2014/main" id="{7BD78193-A87C-4829-1402-E0D68C297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60"/>
              <a:ext cx="7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b="1" i="1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Caesar</a:t>
              </a:r>
            </a:p>
          </p:txBody>
        </p:sp>
      </p:grpSp>
      <p:sp>
        <p:nvSpPr>
          <p:cNvPr id="324" name="AutoShape 47">
            <a:extLst>
              <a:ext uri="{FF2B5EF4-FFF2-40B4-BE49-F238E27FC236}">
                <a16:creationId xmlns:a16="http://schemas.microsoft.com/office/drawing/2014/main" id="{245DFB76-53B7-6A1F-90C1-EA24A8A9C06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462088" y="3714750"/>
            <a:ext cx="976312" cy="485775"/>
          </a:xfrm>
          <a:prstGeom prst="notchedRightArrow">
            <a:avLst>
              <a:gd name="adj1" fmla="val 50000"/>
              <a:gd name="adj2" fmla="val 50245"/>
            </a:avLst>
          </a:prstGeom>
          <a:solidFill>
            <a:srgbClr val="C050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325" name="Text Box 48">
            <a:extLst>
              <a:ext uri="{FF2B5EF4-FFF2-40B4-BE49-F238E27FC236}">
                <a16:creationId xmlns:a16="http://schemas.microsoft.com/office/drawing/2014/main" id="{8717136F-0B36-5876-3816-804FB2FF1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733800"/>
            <a:ext cx="36353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rPr>
              <a:t>2</a:t>
            </a:r>
          </a:p>
        </p:txBody>
      </p:sp>
      <p:grpSp>
        <p:nvGrpSpPr>
          <p:cNvPr id="326" name="Group 49">
            <a:extLst>
              <a:ext uri="{FF2B5EF4-FFF2-40B4-BE49-F238E27FC236}">
                <a16:creationId xmlns:a16="http://schemas.microsoft.com/office/drawing/2014/main" id="{8AC3BF4F-EF24-A199-399E-770A46EF823E}"/>
              </a:ext>
            </a:extLst>
          </p:cNvPr>
          <p:cNvGrpSpPr>
            <a:grpSpLocks/>
          </p:cNvGrpSpPr>
          <p:nvPr/>
        </p:nvGrpSpPr>
        <p:grpSpPr bwMode="auto">
          <a:xfrm>
            <a:off x="592138" y="3743325"/>
            <a:ext cx="627062" cy="466725"/>
            <a:chOff x="373" y="3360"/>
            <a:chExt cx="395" cy="294"/>
          </a:xfrm>
        </p:grpSpPr>
        <p:cxnSp>
          <p:nvCxnSpPr>
            <p:cNvPr id="327" name="AutoShape 50">
              <a:extLst>
                <a:ext uri="{FF2B5EF4-FFF2-40B4-BE49-F238E27FC236}">
                  <a16:creationId xmlns:a16="http://schemas.microsoft.com/office/drawing/2014/main" id="{449B3F3A-7E84-2189-CB3B-A26E8528F5F7}"/>
                </a:ext>
              </a:extLst>
            </p:cNvPr>
            <p:cNvCxnSpPr>
              <a:cxnSpLocks noChangeShapeType="1"/>
              <a:stCxn id="325" idx="3"/>
            </p:cNvCxnSpPr>
            <p:nvPr/>
          </p:nvCxnSpPr>
          <p:spPr bwMode="auto">
            <a:xfrm>
              <a:off x="373" y="3501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" name="Text Box 51">
              <a:extLst>
                <a:ext uri="{FF2B5EF4-FFF2-40B4-BE49-F238E27FC236}">
                  <a16:creationId xmlns:a16="http://schemas.microsoft.com/office/drawing/2014/main" id="{25491215-E8A4-56B8-2C2E-33E41D35F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" y="336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809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0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0"/>
                            </p:stCondLst>
                            <p:childTnLst>
                              <p:par>
                                <p:cTn id="5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500"/>
                            </p:stCondLst>
                            <p:childTnLst>
                              <p:par>
                                <p:cTn id="6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8000"/>
                            </p:stCondLst>
                            <p:childTnLst>
                              <p:par>
                                <p:cTn id="6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9500"/>
                            </p:stCondLst>
                            <p:childTnLst>
                              <p:par>
                                <p:cTn id="7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1000"/>
                            </p:stCondLst>
                            <p:childTnLst>
                              <p:par>
                                <p:cTn id="7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500"/>
                            </p:stCondLst>
                            <p:childTnLst>
                              <p:par>
                                <p:cTn id="8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0"/>
                            </p:stCondLst>
                            <p:childTnLst>
                              <p:par>
                                <p:cTn id="8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500"/>
                            </p:stCondLst>
                            <p:childTnLst>
                              <p:par>
                                <p:cTn id="9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 animBg="1" autoUpdateAnimBg="0"/>
      <p:bldP spid="281" grpId="0" animBg="1" autoUpdateAnimBg="0"/>
      <p:bldP spid="324" grpId="0" animBg="1"/>
      <p:bldP spid="325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 fontScale="90000"/>
          </a:bodyPr>
          <a:lstStyle/>
          <a:p>
            <a:r>
              <a:rPr lang="en-GB" dirty="0"/>
              <a:t>Intersecting two postings lists (a “merge” algorithm)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92F62-FD5D-F96C-F858-86BD09133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708281"/>
            <a:ext cx="6858000" cy="511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4515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Boolean queries: Exact match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>
                <a:solidFill>
                  <a:srgbClr val="00B050"/>
                </a:solidFill>
              </a:rPr>
              <a:t>Boolean retrieval model</a:t>
            </a:r>
            <a:r>
              <a:rPr lang="en-GB" dirty="0"/>
              <a:t>: being able to ask a query that is a Boolean expression:</a:t>
            </a:r>
          </a:p>
          <a:p>
            <a:pPr lvl="1" algn="just"/>
            <a:r>
              <a:rPr lang="en-GB" dirty="0"/>
              <a:t>Boolean Queries: using AND, OR and NOT to join query terms</a:t>
            </a:r>
          </a:p>
          <a:p>
            <a:pPr algn="just"/>
            <a:r>
              <a:rPr lang="en-GB" dirty="0"/>
              <a:t>Views each </a:t>
            </a:r>
            <a:r>
              <a:rPr lang="en-GB" dirty="0">
                <a:solidFill>
                  <a:srgbClr val="FF0000"/>
                </a:solidFill>
              </a:rPr>
              <a:t>document as a set of words</a:t>
            </a:r>
          </a:p>
          <a:p>
            <a:pPr lvl="1" algn="just"/>
            <a:r>
              <a:rPr lang="en-GB" dirty="0"/>
              <a:t>Is precise: </a:t>
            </a:r>
            <a:r>
              <a:rPr lang="en-GB" i="1" dirty="0">
                <a:solidFill>
                  <a:srgbClr val="00B050"/>
                </a:solidFill>
              </a:rPr>
              <a:t>document matches condition or not</a:t>
            </a:r>
            <a:r>
              <a:rPr lang="en-GB" dirty="0"/>
              <a:t>.</a:t>
            </a:r>
          </a:p>
          <a:p>
            <a:pPr algn="just"/>
            <a:r>
              <a:rPr lang="en-GB" dirty="0"/>
              <a:t>Perhaps the simplest model to build an IR system on.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0763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Phrase queries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Want to be able to answer queries such as </a:t>
            </a:r>
            <a:r>
              <a:rPr lang="en-GB" dirty="0">
                <a:solidFill>
                  <a:srgbClr val="00B050"/>
                </a:solidFill>
              </a:rPr>
              <a:t>“</a:t>
            </a:r>
            <a:r>
              <a:rPr lang="en-GB" dirty="0" err="1">
                <a:solidFill>
                  <a:srgbClr val="00B050"/>
                </a:solidFill>
              </a:rPr>
              <a:t>stanford</a:t>
            </a:r>
            <a:r>
              <a:rPr lang="en-GB" dirty="0">
                <a:solidFill>
                  <a:srgbClr val="00B050"/>
                </a:solidFill>
              </a:rPr>
              <a:t> university”</a:t>
            </a:r>
            <a:r>
              <a:rPr lang="en-GB" dirty="0"/>
              <a:t> – as a phrase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Thus the sentence </a:t>
            </a:r>
            <a:r>
              <a:rPr lang="en-GB" i="1" dirty="0">
                <a:solidFill>
                  <a:srgbClr val="00B050"/>
                </a:solidFill>
              </a:rPr>
              <a:t>“I went to university at Stanford”</a:t>
            </a:r>
            <a:r>
              <a:rPr lang="en-GB" dirty="0"/>
              <a:t> is not a match. 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concept of phrase queries has proven easily understood by users; one of the few “advanced search” ideas that works.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Many more queries are implicit phrase queries.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705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Positional indexes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In the postings, </a:t>
            </a:r>
            <a:r>
              <a:rPr lang="en-GB" dirty="0">
                <a:solidFill>
                  <a:srgbClr val="00B050"/>
                </a:solidFill>
              </a:rPr>
              <a:t>store, for each term the position(s)</a:t>
            </a:r>
            <a:r>
              <a:rPr lang="en-GB" dirty="0"/>
              <a:t> in which tokens of it appear:</a:t>
            </a:r>
          </a:p>
          <a:p>
            <a:pPr marL="457200" lvl="1" indent="0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GB" dirty="0"/>
              <a:t>&lt;term, number of docs containing term;</a:t>
            </a:r>
          </a:p>
          <a:p>
            <a:pPr marL="457200" lvl="1" indent="0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GB" dirty="0"/>
              <a:t>doc1: position1, position2 … ;</a:t>
            </a:r>
          </a:p>
          <a:p>
            <a:pPr marL="457200" lvl="1" indent="0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GB" dirty="0"/>
              <a:t>doc2: position1, position2 … ;</a:t>
            </a:r>
          </a:p>
          <a:p>
            <a:pPr marL="457200" lvl="1" indent="0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GB" dirty="0"/>
              <a:t>etc.&gt;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666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Processing a phrase query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Extract inverted index entries for each distinct term: </a:t>
            </a:r>
            <a:r>
              <a:rPr lang="en-GB" dirty="0">
                <a:solidFill>
                  <a:srgbClr val="00B050"/>
                </a:solidFill>
              </a:rPr>
              <a:t>to, be, or, not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Merge their </a:t>
            </a:r>
            <a:r>
              <a:rPr lang="en-GB" dirty="0" err="1"/>
              <a:t>doc:position</a:t>
            </a:r>
            <a:r>
              <a:rPr lang="en-GB" dirty="0"/>
              <a:t> lists to enumerate all positions with </a:t>
            </a:r>
            <a:r>
              <a:rPr lang="en-GB" dirty="0">
                <a:solidFill>
                  <a:srgbClr val="00B050"/>
                </a:solidFill>
              </a:rPr>
              <a:t>“to be or not to be”</a:t>
            </a:r>
            <a:r>
              <a:rPr lang="en-GB" dirty="0"/>
              <a:t>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to: 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2:1,17,74,222,551; </a:t>
            </a:r>
            <a:r>
              <a:rPr lang="en-GB" dirty="0">
                <a:solidFill>
                  <a:srgbClr val="FF0000"/>
                </a:solidFill>
              </a:rPr>
              <a:t>4:8,16,190,429,433</a:t>
            </a:r>
            <a:r>
              <a:rPr lang="en-GB" dirty="0"/>
              <a:t>; 7:13,23,191; ...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be:  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1:17,19; </a:t>
            </a:r>
            <a:r>
              <a:rPr lang="en-GB" dirty="0">
                <a:solidFill>
                  <a:srgbClr val="FF0000"/>
                </a:solidFill>
              </a:rPr>
              <a:t>4:17,191,291,430,434</a:t>
            </a:r>
            <a:r>
              <a:rPr lang="en-GB" dirty="0"/>
              <a:t>; 5:14,19,101; ...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Same general method for proximity searches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1877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Index Compression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Why compression for inverted indexes?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Dictionary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Make it small enough to keep in main memory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Make it so small that you can keep some postings lists in main memory too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Postings file(s)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Reduce disk space needed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Decrease time needed to read postings lists from disk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Large search engines keep a significant part of the postings in memory.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Compression lets you keep more in memory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9543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Dictionary compression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Array of fixed-width entries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~400,000 terms; 28 bytes/term = 11.2 MB.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EE2B012-10B8-42AE-9D20-812B935631DE}"/>
              </a:ext>
            </a:extLst>
          </p:cNvPr>
          <p:cNvGrpSpPr/>
          <p:nvPr/>
        </p:nvGrpSpPr>
        <p:grpSpPr>
          <a:xfrm>
            <a:off x="2142563" y="3095031"/>
            <a:ext cx="8458200" cy="3505200"/>
            <a:chOff x="76200" y="3200400"/>
            <a:chExt cx="8458200" cy="3505200"/>
          </a:xfrm>
        </p:grpSpPr>
        <p:graphicFrame>
          <p:nvGraphicFramePr>
            <p:cNvPr id="7" name="Object 0">
              <a:extLst>
                <a:ext uri="{FF2B5EF4-FFF2-40B4-BE49-F238E27FC236}">
                  <a16:creationId xmlns:a16="http://schemas.microsoft.com/office/drawing/2014/main" id="{F439D981-C23A-26A8-BAB2-7464D1D480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62825"/>
                </p:ext>
              </p:extLst>
            </p:nvPr>
          </p:nvGraphicFramePr>
          <p:xfrm>
            <a:off x="2895600" y="3200400"/>
            <a:ext cx="4016375" cy="2547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6560657" imgH="4067652" progId="Word.Document.8">
                    <p:embed/>
                  </p:oleObj>
                </mc:Choice>
                <mc:Fallback>
                  <p:oleObj name="Document" r:id="rId2" imgW="6560657" imgH="4067652" progId="Word.Document.8">
                    <p:embed/>
                    <p:pic>
                      <p:nvPicPr>
                        <p:cNvPr id="46084" name="Object 0">
                          <a:extLst>
                            <a:ext uri="{FF2B5EF4-FFF2-40B4-BE49-F238E27FC236}">
                              <a16:creationId xmlns:a16="http://schemas.microsoft.com/office/drawing/2014/main" id="{F1BEC42B-BA2F-4D53-7E3B-74FE0FD464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4016375" cy="2547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" name="AutoShape 5">
              <a:extLst>
                <a:ext uri="{FF2B5EF4-FFF2-40B4-BE49-F238E27FC236}">
                  <a16:creationId xmlns:a16="http://schemas.microsoft.com/office/drawing/2014/main" id="{53228E09-0DC6-22D5-4B8E-27CB3A67B7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19800" y="3962400"/>
              <a:ext cx="25146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6">
              <a:extLst>
                <a:ext uri="{FF2B5EF4-FFF2-40B4-BE49-F238E27FC236}">
                  <a16:creationId xmlns:a16="http://schemas.microsoft.com/office/drawing/2014/main" id="{37C860F8-618C-410A-54A4-27984445CE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19800" y="4343400"/>
              <a:ext cx="25146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AutoShape 7">
              <a:extLst>
                <a:ext uri="{FF2B5EF4-FFF2-40B4-BE49-F238E27FC236}">
                  <a16:creationId xmlns:a16="http://schemas.microsoft.com/office/drawing/2014/main" id="{6130B35D-68DB-E260-BB67-18E4E87848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19800" y="5334000"/>
              <a:ext cx="25146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AutoShape 8">
              <a:extLst>
                <a:ext uri="{FF2B5EF4-FFF2-40B4-BE49-F238E27FC236}">
                  <a16:creationId xmlns:a16="http://schemas.microsoft.com/office/drawing/2014/main" id="{981F5EA7-B608-5854-9F83-73EF46A05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" y="5562600"/>
              <a:ext cx="2741613" cy="1143000"/>
            </a:xfrm>
            <a:prstGeom prst="upArrowCallout">
              <a:avLst>
                <a:gd name="adj1" fmla="val 59965"/>
                <a:gd name="adj2" fmla="val 59965"/>
                <a:gd name="adj3" fmla="val 16667"/>
                <a:gd name="adj4" fmla="val 66667"/>
              </a:avLst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PMingLiU" panose="02020500000000000000" pitchFamily="18" charset="-120"/>
                </a:rPr>
                <a:t>Dictionary search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PMingLiU" panose="02020500000000000000" pitchFamily="18" charset="-120"/>
                </a:rPr>
                <a:t>structure</a:t>
              </a:r>
            </a:p>
          </p:txBody>
        </p:sp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51B05CC9-9D6C-5C2B-BDD6-3A421CDEF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3962400"/>
              <a:ext cx="457200" cy="4572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PMingLiU" panose="02020500000000000000" pitchFamily="18" charset="-120"/>
              </a:endParaRPr>
            </a:p>
          </p:txBody>
        </p:sp>
        <p:sp>
          <p:nvSpPr>
            <p:cNvPr id="13" name="AutoShape 10">
              <a:extLst>
                <a:ext uri="{FF2B5EF4-FFF2-40B4-BE49-F238E27FC236}">
                  <a16:creationId xmlns:a16="http://schemas.microsoft.com/office/drawing/2014/main" id="{C9BDE1E4-5846-7D91-D7F5-93CCC6CCF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4876800"/>
              <a:ext cx="457200" cy="4572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PMingLiU" panose="02020500000000000000" pitchFamily="18" charset="-120"/>
              </a:endParaRPr>
            </a:p>
          </p:txBody>
        </p:sp>
        <p:sp>
          <p:nvSpPr>
            <p:cNvPr id="14" name="AutoShape 11">
              <a:extLst>
                <a:ext uri="{FF2B5EF4-FFF2-40B4-BE49-F238E27FC236}">
                  <a16:creationId xmlns:a16="http://schemas.microsoft.com/office/drawing/2014/main" id="{D3D6A25D-1884-2994-0EFF-EC4C67C72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4419600"/>
              <a:ext cx="457200" cy="4572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PMingLiU" panose="02020500000000000000" pitchFamily="18" charset="-120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E4C7914E-6998-D20D-45B1-3D21C8C18E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4400" y="4267200"/>
              <a:ext cx="609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AF6775D5-1497-6F96-4C6B-B27CB6D96A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1200" y="3962400"/>
              <a:ext cx="990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8DF11F94-AF11-8BB3-9DE5-0720A7993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4267200"/>
              <a:ext cx="990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D487BAE4-200C-1FD2-03E8-1FA85C633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5181600"/>
              <a:ext cx="990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BBCA5E7-41E5-953F-053F-525C0C7AF8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1200" y="4876800"/>
              <a:ext cx="990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F813F4C5-4286-F55D-1BDE-00257E4E3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" y="4724400"/>
              <a:ext cx="609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1BB0CC57-90E1-923E-9B88-C124F857C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5781675"/>
              <a:ext cx="1217613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PMingLiU" panose="02020500000000000000" pitchFamily="18" charset="-120"/>
                </a:rPr>
                <a:t>20 bytes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EA5B3261-AA38-B3C4-26CF-BDEBB2FAC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175" y="5781675"/>
              <a:ext cx="1698625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PMingLiU" panose="02020500000000000000" pitchFamily="18" charset="-120"/>
                </a:rPr>
                <a:t>4 bytes each</a:t>
              </a: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8A6C3A1E-D326-DEAC-2EF8-D0E2039678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00600" y="5486400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B092B20F-4F46-68ED-458B-69020668AF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6400" y="5486400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5054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Dictionary compression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Most of the bytes in the Term column are wasted – we allot 20 bytes for 1 letter terms.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And we still can’t handle supercalifragilisticexpialidocious or hydrochlorofluorocarbons.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Written English averages ~4.5 characters/word.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Ave. dictionary word in English: ~8 characters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How do we use ~8 characters per dictionary term?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6381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Dictionary compression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699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Dictionary-as-a-String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Store dictionary as a (long) string of characters: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Pointer to next word shows end of current word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Hope to save up to 60% of dictionary space.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060E86E-0043-FAB2-E7E3-0E29EB5487F5}"/>
              </a:ext>
            </a:extLst>
          </p:cNvPr>
          <p:cNvGrpSpPr/>
          <p:nvPr/>
        </p:nvGrpSpPr>
        <p:grpSpPr>
          <a:xfrm>
            <a:off x="2250141" y="3658594"/>
            <a:ext cx="8782050" cy="3063875"/>
            <a:chOff x="147638" y="2879725"/>
            <a:chExt cx="8782050" cy="3063875"/>
          </a:xfrm>
        </p:grpSpPr>
        <p:sp>
          <p:nvSpPr>
            <p:cNvPr id="26" name="Text Box 3">
              <a:extLst>
                <a:ext uri="{FF2B5EF4-FFF2-40B4-BE49-F238E27FC236}">
                  <a16:creationId xmlns:a16="http://schemas.microsoft.com/office/drawing/2014/main" id="{B3A34045-F5B5-AFB7-8262-6EC0AC000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3450" y="2879725"/>
              <a:ext cx="6599238" cy="40640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latin typeface="Times New Roman" panose="02020603050405020304" pitchFamily="18" charset="0"/>
                  <a:ea typeface="PMingLiU" panose="02020500000000000000" pitchFamily="18" charset="-120"/>
                </a:rPr>
                <a:t>….systilesyzygeticsyzygialsyzygyszaibelyiteszczecinszomo….</a:t>
              </a:r>
              <a:endParaRPr lang="en-US" altLang="zh-TW" sz="160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graphicFrame>
          <p:nvGraphicFramePr>
            <p:cNvPr id="27" name="Object 0">
              <a:extLst>
                <a:ext uri="{FF2B5EF4-FFF2-40B4-BE49-F238E27FC236}">
                  <a16:creationId xmlns:a16="http://schemas.microsoft.com/office/drawing/2014/main" id="{EF2BEBCC-AF92-5CC7-47E9-394F59F4DC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9973773"/>
                </p:ext>
              </p:extLst>
            </p:nvPr>
          </p:nvGraphicFramePr>
          <p:xfrm>
            <a:off x="147638" y="3697288"/>
            <a:ext cx="3219450" cy="1970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6403848" imgH="3941064" progId="Word.Document.8">
                    <p:embed/>
                  </p:oleObj>
                </mc:Choice>
                <mc:Fallback>
                  <p:oleObj name="Document" r:id="rId2" imgW="6403848" imgH="3941064" progId="Word.Document.8">
                    <p:embed/>
                    <p:pic>
                      <p:nvPicPr>
                        <p:cNvPr id="50180" name="Object 0">
                          <a:extLst>
                            <a:ext uri="{FF2B5EF4-FFF2-40B4-BE49-F238E27FC236}">
                              <a16:creationId xmlns:a16="http://schemas.microsoft.com/office/drawing/2014/main" id="{EBAD8536-FFB5-4046-3FB7-718DCC1729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38" y="3697288"/>
                          <a:ext cx="3219450" cy="1970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Line 5">
              <a:extLst>
                <a:ext uri="{FF2B5EF4-FFF2-40B4-BE49-F238E27FC236}">
                  <a16:creationId xmlns:a16="http://schemas.microsoft.com/office/drawing/2014/main" id="{A88E3F45-45B5-C566-8685-FC3263401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4313238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6">
              <a:extLst>
                <a:ext uri="{FF2B5EF4-FFF2-40B4-BE49-F238E27FC236}">
                  <a16:creationId xmlns:a16="http://schemas.microsoft.com/office/drawing/2014/main" id="{BD2061BF-F3DE-F694-E386-802F7359DC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5200" y="3551238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7">
              <a:extLst>
                <a:ext uri="{FF2B5EF4-FFF2-40B4-BE49-F238E27FC236}">
                  <a16:creationId xmlns:a16="http://schemas.microsoft.com/office/drawing/2014/main" id="{34D91F20-C80A-261C-AAB7-72599B3EE7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67000" y="3246438"/>
              <a:ext cx="838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8">
              <a:extLst>
                <a:ext uri="{FF2B5EF4-FFF2-40B4-BE49-F238E27FC236}">
                  <a16:creationId xmlns:a16="http://schemas.microsoft.com/office/drawing/2014/main" id="{CB0FBDB4-2421-CBD9-A533-5664D3699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4618038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9">
              <a:extLst>
                <a:ext uri="{FF2B5EF4-FFF2-40B4-BE49-F238E27FC236}">
                  <a16:creationId xmlns:a16="http://schemas.microsoft.com/office/drawing/2014/main" id="{7F8D2AC6-D55C-822D-BB0B-6AFB748B06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0000" y="3475038"/>
              <a:ext cx="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10">
              <a:extLst>
                <a:ext uri="{FF2B5EF4-FFF2-40B4-BE49-F238E27FC236}">
                  <a16:creationId xmlns:a16="http://schemas.microsoft.com/office/drawing/2014/main" id="{9853580C-71F3-1E07-4439-58409815DC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29000" y="3246438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1">
              <a:extLst>
                <a:ext uri="{FF2B5EF4-FFF2-40B4-BE49-F238E27FC236}">
                  <a16:creationId xmlns:a16="http://schemas.microsoft.com/office/drawing/2014/main" id="{7852B7F8-1308-39D2-730B-7765BAF6D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4999038"/>
              <a:ext cx="144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12">
              <a:extLst>
                <a:ext uri="{FF2B5EF4-FFF2-40B4-BE49-F238E27FC236}">
                  <a16:creationId xmlns:a16="http://schemas.microsoft.com/office/drawing/2014/main" id="{10471D62-6236-0EE6-DE0A-56BA147DCD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7200" y="3246438"/>
              <a:ext cx="0" cy="1752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13">
              <a:extLst>
                <a:ext uri="{FF2B5EF4-FFF2-40B4-BE49-F238E27FC236}">
                  <a16:creationId xmlns:a16="http://schemas.microsoft.com/office/drawing/2014/main" id="{29A2EA51-9113-5436-11F2-3F8B6EA8F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5456238"/>
              <a:ext cx="228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4">
              <a:extLst>
                <a:ext uri="{FF2B5EF4-FFF2-40B4-BE49-F238E27FC236}">
                  <a16:creationId xmlns:a16="http://schemas.microsoft.com/office/drawing/2014/main" id="{C1E38CF3-407C-6C08-E3D4-CB2DD265B1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400" y="3246438"/>
              <a:ext cx="0" cy="2209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AutoShape 16">
              <a:extLst>
                <a:ext uri="{FF2B5EF4-FFF2-40B4-BE49-F238E27FC236}">
                  <a16:creationId xmlns:a16="http://schemas.microsoft.com/office/drawing/2014/main" id="{D8335C1A-3C6D-D947-D0AC-C24840246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398838"/>
              <a:ext cx="2741613" cy="1096962"/>
            </a:xfrm>
            <a:prstGeom prst="upArrowCallout">
              <a:avLst>
                <a:gd name="adj1" fmla="val 62482"/>
                <a:gd name="adj2" fmla="val 62482"/>
                <a:gd name="adj3" fmla="val 16667"/>
                <a:gd name="adj4" fmla="val 66667"/>
              </a:avLst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PMingLiU" panose="02020500000000000000" pitchFamily="18" charset="-120"/>
                </a:rPr>
                <a:t>Total string length =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PMingLiU" panose="02020500000000000000" pitchFamily="18" charset="-120"/>
                </a:rPr>
                <a:t>400K x 8B = 3.2MB</a:t>
              </a:r>
            </a:p>
          </p:txBody>
        </p:sp>
        <p:sp>
          <p:nvSpPr>
            <p:cNvPr id="39" name="AutoShape 17">
              <a:extLst>
                <a:ext uri="{FF2B5EF4-FFF2-40B4-BE49-F238E27FC236}">
                  <a16:creationId xmlns:a16="http://schemas.microsoft.com/office/drawing/2014/main" id="{8C5B1F21-952B-D8E0-D015-762D6012C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4846638"/>
              <a:ext cx="3748088" cy="1096962"/>
            </a:xfrm>
            <a:prstGeom prst="leftArrowCallout">
              <a:avLst>
                <a:gd name="adj1" fmla="val 25000"/>
                <a:gd name="adj2" fmla="val 25000"/>
                <a:gd name="adj3" fmla="val 56946"/>
                <a:gd name="adj4" fmla="val 71157"/>
              </a:avLst>
            </a:prstGeom>
            <a:solidFill>
              <a:srgbClr val="00CC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Pointers resolve 3.2M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positions: log</a:t>
              </a:r>
              <a:r>
                <a:rPr lang="en-US" altLang="zh-TW" sz="2400" baseline="-250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2</a:t>
              </a:r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3.2M =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22bits = 3bytes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5537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Dictionary compression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699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Blocking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Store pointers to every kth term string.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Example below: k=4.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Need to store term lengths (1 extra byte)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55BFC7-F771-953C-D71C-4BEE631F4DD4}"/>
              </a:ext>
            </a:extLst>
          </p:cNvPr>
          <p:cNvGrpSpPr/>
          <p:nvPr/>
        </p:nvGrpSpPr>
        <p:grpSpPr>
          <a:xfrm>
            <a:off x="1945341" y="3736676"/>
            <a:ext cx="8843962" cy="2985793"/>
            <a:chOff x="147638" y="3829345"/>
            <a:chExt cx="8843962" cy="2985793"/>
          </a:xfrm>
        </p:grpSpPr>
        <p:graphicFrame>
          <p:nvGraphicFramePr>
            <p:cNvPr id="7" name="Object 1024">
              <a:extLst>
                <a:ext uri="{FF2B5EF4-FFF2-40B4-BE49-F238E27FC236}">
                  <a16:creationId xmlns:a16="http://schemas.microsoft.com/office/drawing/2014/main" id="{BB6AA18C-19FF-7520-E145-0D323E29F3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063727"/>
                </p:ext>
              </p:extLst>
            </p:nvPr>
          </p:nvGraphicFramePr>
          <p:xfrm>
            <a:off x="147638" y="4483100"/>
            <a:ext cx="3317875" cy="2332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6598920" imgH="4687824" progId="Word.Document.8">
                    <p:embed/>
                  </p:oleObj>
                </mc:Choice>
                <mc:Fallback>
                  <p:oleObj name="Document" r:id="rId2" imgW="6598920" imgH="4687824" progId="Word.Document.8">
                    <p:embed/>
                    <p:pic>
                      <p:nvPicPr>
                        <p:cNvPr id="54277" name="Object 1024">
                          <a:extLst>
                            <a:ext uri="{FF2B5EF4-FFF2-40B4-BE49-F238E27FC236}">
                              <a16:creationId xmlns:a16="http://schemas.microsoft.com/office/drawing/2014/main" id="{6829D528-920D-7AB3-E3C0-D7AAD6D2BA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38" y="4483100"/>
                          <a:ext cx="3317875" cy="2332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E3B470-B39E-5C49-5B30-05BBEA274E22}"/>
                </a:ext>
              </a:extLst>
            </p:cNvPr>
            <p:cNvGrpSpPr/>
            <p:nvPr/>
          </p:nvGrpSpPr>
          <p:grpSpPr>
            <a:xfrm>
              <a:off x="1562100" y="3829345"/>
              <a:ext cx="7429500" cy="2647655"/>
              <a:chOff x="1562100" y="3829345"/>
              <a:chExt cx="7429500" cy="2647655"/>
            </a:xfrm>
          </p:grpSpPr>
          <p:sp>
            <p:nvSpPr>
              <p:cNvPr id="9" name="Text Box 4">
                <a:extLst>
                  <a:ext uri="{FF2B5EF4-FFF2-40B4-BE49-F238E27FC236}">
                    <a16:creationId xmlns:a16="http://schemas.microsoft.com/office/drawing/2014/main" id="{DFC2AB26-5342-57B7-A2B3-31B16CFD6B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2100" y="3829345"/>
                <a:ext cx="7429500" cy="406400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….</a:t>
                </a:r>
                <a:r>
                  <a:rPr lang="en-US" altLang="zh-TW" sz="2000" b="1" dirty="0">
                    <a:solidFill>
                      <a:srgbClr val="990033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7</a:t>
                </a:r>
                <a:r>
                  <a:rPr lang="en-US" altLang="zh-TW" sz="2000" b="1" i="1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systile</a:t>
                </a:r>
                <a:r>
                  <a:rPr lang="en-US" altLang="zh-TW" sz="2000" dirty="0">
                    <a:solidFill>
                      <a:srgbClr val="990033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9</a:t>
                </a:r>
                <a:r>
                  <a:rPr lang="en-US" altLang="zh-TW" sz="2000" b="1" i="1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syzygetic</a:t>
                </a:r>
                <a:r>
                  <a:rPr lang="en-US" altLang="zh-TW" sz="2000" dirty="0">
                    <a:solidFill>
                      <a:srgbClr val="990033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8</a:t>
                </a:r>
                <a:r>
                  <a:rPr lang="en-US" altLang="zh-TW" sz="2000" b="1" i="1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syzygial</a:t>
                </a:r>
                <a:r>
                  <a:rPr lang="en-US" altLang="zh-TW" sz="2000" dirty="0">
                    <a:solidFill>
                      <a:srgbClr val="990033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6</a:t>
                </a:r>
                <a:r>
                  <a:rPr lang="en-US" altLang="zh-TW" sz="2000" b="1" i="1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syzygy</a:t>
                </a:r>
                <a:r>
                  <a:rPr lang="en-US" altLang="zh-TW" sz="2000" dirty="0">
                    <a:solidFill>
                      <a:srgbClr val="990033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11</a:t>
                </a:r>
                <a:r>
                  <a:rPr lang="en-US" altLang="zh-TW" sz="2000" b="1" i="1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szaibelyite</a:t>
                </a:r>
                <a:r>
                  <a:rPr lang="en-US" altLang="zh-TW" sz="2000" dirty="0">
                    <a:solidFill>
                      <a:srgbClr val="990033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8</a:t>
                </a:r>
                <a:r>
                  <a:rPr lang="en-US" altLang="zh-TW" sz="2000" b="1" i="1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szczecin</a:t>
                </a:r>
                <a:r>
                  <a:rPr lang="en-US" altLang="zh-TW" sz="2000" dirty="0">
                    <a:solidFill>
                      <a:srgbClr val="990033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9</a:t>
                </a:r>
                <a:r>
                  <a:rPr lang="en-US" altLang="zh-TW" sz="2000" b="1" i="1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szomo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….</a:t>
                </a:r>
                <a:endParaRPr lang="en-US" altLang="zh-TW" sz="1600" dirty="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  <p:sp>
            <p:nvSpPr>
              <p:cNvPr id="10" name="Line 6">
                <a:extLst>
                  <a:ext uri="{FF2B5EF4-FFF2-40B4-BE49-F238E27FC236}">
                    <a16:creationId xmlns:a16="http://schemas.microsoft.com/office/drawing/2014/main" id="{6D903BF7-8E16-07E3-93E7-1E60F8E092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3200" y="5029200"/>
                <a:ext cx="762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7">
                <a:extLst>
                  <a:ext uri="{FF2B5EF4-FFF2-40B4-BE49-F238E27FC236}">
                    <a16:creationId xmlns:a16="http://schemas.microsoft.com/office/drawing/2014/main" id="{8395AFBE-AD0D-C40C-294F-C6448AE965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5200" y="4343400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8">
                <a:extLst>
                  <a:ext uri="{FF2B5EF4-FFF2-40B4-BE49-F238E27FC236}">
                    <a16:creationId xmlns:a16="http://schemas.microsoft.com/office/drawing/2014/main" id="{7BA3565C-A0BE-28B8-E848-6D402C06A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178704" y="4257606"/>
                <a:ext cx="1326496" cy="857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9">
                <a:extLst>
                  <a:ext uri="{FF2B5EF4-FFF2-40B4-BE49-F238E27FC236}">
                    <a16:creationId xmlns:a16="http://schemas.microsoft.com/office/drawing/2014/main" id="{81E30FC6-7F10-DA47-3839-AFC75B8E8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3200" y="6477000"/>
                <a:ext cx="2971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10">
                <a:extLst>
                  <a:ext uri="{FF2B5EF4-FFF2-40B4-BE49-F238E27FC236}">
                    <a16:creationId xmlns:a16="http://schemas.microsoft.com/office/drawing/2014/main" id="{07485DCD-FE50-A1D4-31B2-8B9EDDD7EB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15000" y="4257606"/>
                <a:ext cx="0" cy="22193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1">
                <a:extLst>
                  <a:ext uri="{FF2B5EF4-FFF2-40B4-BE49-F238E27FC236}">
                    <a16:creationId xmlns:a16="http://schemas.microsoft.com/office/drawing/2014/main" id="{BDA2A961-AD1F-3FD6-98AF-EC32335DC4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6925" y="5181600"/>
                <a:ext cx="1951038" cy="1187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zh-TW" altLang="en-US" sz="2400">
                    <a:latin typeface="Times New Roman" panose="02020603050405020304" pitchFamily="18" charset="0"/>
                    <a:ea typeface="PMingLiU" panose="02020500000000000000" pitchFamily="18" charset="-120"/>
                    <a:sym typeface="Symbol" panose="05050102010706020507" pitchFamily="18" charset="2"/>
                  </a:rPr>
                  <a:t> </a:t>
                </a:r>
                <a:r>
                  <a:rPr lang="en-US" altLang="zh-TW" sz="2400">
                    <a:latin typeface="Times New Roman" panose="02020603050405020304" pitchFamily="18" charset="0"/>
                    <a:ea typeface="PMingLiU" panose="02020500000000000000" pitchFamily="18" charset="-120"/>
                    <a:sym typeface="Symbol" panose="05050102010706020507" pitchFamily="18" charset="2"/>
                  </a:rPr>
                  <a:t>Save 9 bytes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Times New Roman" panose="02020603050405020304" pitchFamily="18" charset="0"/>
                    <a:ea typeface="PMingLiU" panose="02020500000000000000" pitchFamily="18" charset="-120"/>
                    <a:sym typeface="Symbol" panose="05050102010706020507" pitchFamily="18" charset="2"/>
                  </a:rPr>
                  <a:t> on 3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Times New Roman" panose="02020603050405020304" pitchFamily="18" charset="0"/>
                    <a:ea typeface="PMingLiU" panose="02020500000000000000" pitchFamily="18" charset="-120"/>
                    <a:sym typeface="Symbol" panose="05050102010706020507" pitchFamily="18" charset="2"/>
                  </a:rPr>
                  <a:t> pointers.</a:t>
                </a:r>
                <a:endParaRPr lang="en-US" altLang="zh-TW" sz="240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  <p:sp>
            <p:nvSpPr>
              <p:cNvPr id="16" name="AutoShape 12">
                <a:extLst>
                  <a:ext uri="{FF2B5EF4-FFF2-40B4-BE49-F238E27FC236}">
                    <a16:creationId xmlns:a16="http://schemas.microsoft.com/office/drawing/2014/main" id="{10D51C36-3326-992F-13F9-C5DC8EDFA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1388" y="5257800"/>
                <a:ext cx="2970212" cy="914400"/>
              </a:xfrm>
              <a:prstGeom prst="leftArrowCallout">
                <a:avLst>
                  <a:gd name="adj1" fmla="val 25000"/>
                  <a:gd name="adj2" fmla="val 25000"/>
                  <a:gd name="adj3" fmla="val 54138"/>
                  <a:gd name="adj4" fmla="val 70444"/>
                </a:avLst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Lose 4 bytes on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term lengths.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8447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Dictionary compression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699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Front coding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Sorted words commonly have long common prefix – store differences only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(for last k-1 in a block of k)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8</a:t>
            </a:r>
            <a:r>
              <a:rPr lang="en-GB" dirty="0"/>
              <a:t>automata</a:t>
            </a:r>
            <a:r>
              <a:rPr lang="en-GB" dirty="0">
                <a:solidFill>
                  <a:srgbClr val="FF0000"/>
                </a:solidFill>
              </a:rPr>
              <a:t>8</a:t>
            </a:r>
            <a:r>
              <a:rPr lang="en-GB" dirty="0"/>
              <a:t>automate</a:t>
            </a:r>
            <a:r>
              <a:rPr lang="en-GB" dirty="0">
                <a:solidFill>
                  <a:srgbClr val="FF0000"/>
                </a:solidFill>
              </a:rPr>
              <a:t>9</a:t>
            </a:r>
            <a:r>
              <a:rPr lang="en-GB" dirty="0"/>
              <a:t>automatic</a:t>
            </a:r>
            <a:r>
              <a:rPr lang="en-GB" dirty="0">
                <a:solidFill>
                  <a:srgbClr val="FF0000"/>
                </a:solidFill>
              </a:rPr>
              <a:t>10</a:t>
            </a:r>
            <a:r>
              <a:rPr lang="en-GB" dirty="0"/>
              <a:t>automation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748EE7-B1FB-915E-1098-D375BA252869}"/>
              </a:ext>
            </a:extLst>
          </p:cNvPr>
          <p:cNvGrpSpPr/>
          <p:nvPr/>
        </p:nvGrpSpPr>
        <p:grpSpPr>
          <a:xfrm>
            <a:off x="3046412" y="4131659"/>
            <a:ext cx="6099175" cy="2154238"/>
            <a:chOff x="708025" y="4038600"/>
            <a:chExt cx="6099175" cy="2154238"/>
          </a:xfrm>
        </p:grpSpPr>
        <p:sp>
          <p:nvSpPr>
            <p:cNvPr id="18" name="Text Box 4">
              <a:extLst>
                <a:ext uri="{FF2B5EF4-FFF2-40B4-BE49-F238E27FC236}">
                  <a16:creationId xmlns:a16="http://schemas.microsoft.com/office/drawing/2014/main" id="{4A3B45F1-5F8B-CA44-2293-AFED9474F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9375" y="4038600"/>
              <a:ext cx="43211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TW" altLang="en-US" sz="2400">
                  <a:latin typeface="Lucida Sans" panose="020B0602030504020204" pitchFamily="34" charset="0"/>
                  <a:ea typeface="PMingLiU" panose="02020500000000000000" pitchFamily="18" charset="-120"/>
                  <a:sym typeface="Symbol" panose="05050102010706020507" pitchFamily="18" charset="2"/>
                </a:rPr>
                <a:t></a:t>
              </a:r>
              <a:r>
                <a:rPr lang="en-US" altLang="zh-TW" sz="2400">
                  <a:solidFill>
                    <a:srgbClr val="A40508"/>
                  </a:solidFill>
                  <a:latin typeface="Lucida Sans" panose="020B0602030504020204" pitchFamily="34" charset="0"/>
                  <a:ea typeface="PMingLiU" panose="02020500000000000000" pitchFamily="18" charset="-120"/>
                </a:rPr>
                <a:t>8</a:t>
              </a:r>
              <a:r>
                <a:rPr lang="en-US" altLang="zh-TW" sz="2400" b="1" i="1">
                  <a:latin typeface="Lucida Sans" panose="020B0602030504020204" pitchFamily="34" charset="0"/>
                  <a:ea typeface="PMingLiU" panose="02020500000000000000" pitchFamily="18" charset="-120"/>
                </a:rPr>
                <a:t>automat</a:t>
              </a:r>
              <a:r>
                <a:rPr lang="en-US" altLang="zh-TW" sz="2400">
                  <a:latin typeface="Lucida Sans" panose="020B0602030504020204" pitchFamily="34" charset="0"/>
                  <a:ea typeface="PMingLiU" panose="02020500000000000000" pitchFamily="18" charset="-120"/>
                </a:rPr>
                <a:t>*</a:t>
              </a:r>
              <a:r>
                <a:rPr lang="en-US" altLang="zh-TW" sz="2400" b="1" i="1">
                  <a:latin typeface="Lucida Sans" panose="020B0602030504020204" pitchFamily="34" charset="0"/>
                  <a:ea typeface="PMingLiU" panose="02020500000000000000" pitchFamily="18" charset="-120"/>
                </a:rPr>
                <a:t>a</a:t>
              </a:r>
              <a:r>
                <a:rPr lang="en-US" altLang="zh-TW" sz="2400">
                  <a:solidFill>
                    <a:srgbClr val="A40508"/>
                  </a:solidFill>
                  <a:latin typeface="Lucida Sans" panose="020B0602030504020204" pitchFamily="34" charset="0"/>
                  <a:ea typeface="PMingLiU" panose="02020500000000000000" pitchFamily="18" charset="-120"/>
                </a:rPr>
                <a:t>1</a:t>
              </a:r>
              <a:r>
                <a:rPr lang="en-US" altLang="zh-TW" sz="2400">
                  <a:latin typeface="Lucida Sans" panose="020B0602030504020204" pitchFamily="34" charset="0"/>
                  <a:ea typeface="PMingLiU" panose="02020500000000000000" pitchFamily="18" charset="-120"/>
                  <a:sym typeface="Symbol" panose="05050102010706020507" pitchFamily="18" charset="2"/>
                </a:rPr>
                <a:t></a:t>
              </a:r>
              <a:r>
                <a:rPr lang="en-US" altLang="zh-TW" sz="2400" b="1" i="1">
                  <a:latin typeface="Lucida Sans" panose="020B0602030504020204" pitchFamily="34" charset="0"/>
                  <a:ea typeface="PMingLiU" panose="02020500000000000000" pitchFamily="18" charset="-120"/>
                  <a:sym typeface="Symbol" panose="05050102010706020507" pitchFamily="18" charset="2"/>
                </a:rPr>
                <a:t>e</a:t>
              </a:r>
              <a:r>
                <a:rPr lang="en-US" altLang="zh-TW" sz="2400">
                  <a:solidFill>
                    <a:srgbClr val="A40508"/>
                  </a:solidFill>
                  <a:latin typeface="Lucida Sans" panose="020B0602030504020204" pitchFamily="34" charset="0"/>
                  <a:ea typeface="PMingLiU" panose="02020500000000000000" pitchFamily="18" charset="-120"/>
                  <a:sym typeface="Symbol" panose="05050102010706020507" pitchFamily="18" charset="2"/>
                </a:rPr>
                <a:t>2</a:t>
              </a:r>
              <a:r>
                <a:rPr lang="en-US" altLang="zh-TW" sz="2400">
                  <a:latin typeface="Lucida Sans" panose="020B0602030504020204" pitchFamily="34" charset="0"/>
                  <a:ea typeface="PMingLiU" panose="02020500000000000000" pitchFamily="18" charset="-120"/>
                  <a:sym typeface="Symbol" panose="05050102010706020507" pitchFamily="18" charset="2"/>
                </a:rPr>
                <a:t></a:t>
              </a:r>
              <a:r>
                <a:rPr lang="en-US" altLang="zh-TW" sz="2400" b="1" i="1">
                  <a:latin typeface="Lucida Sans" panose="020B0602030504020204" pitchFamily="34" charset="0"/>
                  <a:ea typeface="PMingLiU" panose="02020500000000000000" pitchFamily="18" charset="-120"/>
                  <a:sym typeface="Symbol" panose="05050102010706020507" pitchFamily="18" charset="2"/>
                </a:rPr>
                <a:t>ic</a:t>
              </a:r>
              <a:r>
                <a:rPr lang="en-US" altLang="zh-TW" sz="2400">
                  <a:solidFill>
                    <a:srgbClr val="A40508"/>
                  </a:solidFill>
                  <a:latin typeface="Lucida Sans" panose="020B0602030504020204" pitchFamily="34" charset="0"/>
                  <a:ea typeface="PMingLiU" panose="02020500000000000000" pitchFamily="18" charset="-120"/>
                  <a:sym typeface="Symbol" panose="05050102010706020507" pitchFamily="18" charset="2"/>
                </a:rPr>
                <a:t>3</a:t>
              </a:r>
              <a:r>
                <a:rPr lang="en-US" altLang="zh-TW" sz="2400">
                  <a:latin typeface="Lucida Sans" panose="020B0602030504020204" pitchFamily="34" charset="0"/>
                  <a:ea typeface="PMingLiU" panose="02020500000000000000" pitchFamily="18" charset="-120"/>
                  <a:sym typeface="Symbol" panose="05050102010706020507" pitchFamily="18" charset="2"/>
                </a:rPr>
                <a:t></a:t>
              </a:r>
              <a:r>
                <a:rPr lang="en-US" altLang="zh-TW" sz="2400" b="1" i="1">
                  <a:latin typeface="Lucida Sans" panose="020B0602030504020204" pitchFamily="34" charset="0"/>
                  <a:ea typeface="PMingLiU" panose="02020500000000000000" pitchFamily="18" charset="-120"/>
                  <a:sym typeface="Symbol" panose="05050102010706020507" pitchFamily="18" charset="2"/>
                </a:rPr>
                <a:t>ion</a:t>
              </a:r>
            </a:p>
          </p:txBody>
        </p:sp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EB21EA4B-7AD3-9BDA-7237-929C878744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0575" y="4419600"/>
              <a:ext cx="0" cy="11430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D0B19768-B378-F2E9-5829-2EE9EEBA7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025" y="5486400"/>
              <a:ext cx="2720975" cy="45720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PMingLiU" panose="02020500000000000000" pitchFamily="18" charset="-120"/>
                </a:rPr>
                <a:t>Encodes </a:t>
              </a:r>
              <a:r>
                <a:rPr lang="en-US" altLang="zh-TW" sz="2400" b="1" i="1">
                  <a:latin typeface="Lucida Sans" panose="020B0602030504020204" pitchFamily="34" charset="0"/>
                  <a:ea typeface="PMingLiU" panose="02020500000000000000" pitchFamily="18" charset="-120"/>
                </a:rPr>
                <a:t>automat</a:t>
              </a:r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34E76160-4A7C-8A89-BD66-A679D8323B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33800" y="4419600"/>
              <a:ext cx="3810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Text Box 8">
              <a:extLst>
                <a:ext uri="{FF2B5EF4-FFF2-40B4-BE49-F238E27FC236}">
                  <a16:creationId xmlns:a16="http://schemas.microsoft.com/office/drawing/2014/main" id="{52DBF6C3-F3ED-B859-1239-F320534D0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5370513"/>
              <a:ext cx="2692400" cy="8223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PMingLiU" panose="02020500000000000000" pitchFamily="18" charset="-120"/>
                </a:rPr>
                <a:t>Extra length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PMingLiU" panose="02020500000000000000" pitchFamily="18" charset="-120"/>
                </a:rPr>
                <a:t>beyond </a:t>
              </a:r>
              <a:r>
                <a:rPr lang="en-US" altLang="zh-TW" sz="2400" b="1" i="1">
                  <a:latin typeface="Lucida Sans" panose="020B0602030504020204" pitchFamily="34" charset="0"/>
                  <a:ea typeface="PMingLiU" panose="02020500000000000000" pitchFamily="18" charset="-120"/>
                </a:rPr>
                <a:t>automat.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4581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Postings compression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postings file is much larger than the dictionary, factor of at least 10.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u="sng" dirty="0"/>
              <a:t>Key desideratum</a:t>
            </a:r>
            <a:r>
              <a:rPr lang="en-GB" dirty="0"/>
              <a:t>: store each posting compactly.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 posting for our purposes is a </a:t>
            </a:r>
            <a:r>
              <a:rPr lang="en-GB" dirty="0" err="1"/>
              <a:t>docID</a:t>
            </a:r>
            <a:r>
              <a:rPr lang="en-GB" dirty="0"/>
              <a:t>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For Reuters (800,000 documents), we would use 32 bits per </a:t>
            </a:r>
            <a:r>
              <a:rPr lang="en-GB" dirty="0" err="1"/>
              <a:t>docID</a:t>
            </a:r>
            <a:r>
              <a:rPr lang="en-GB" dirty="0"/>
              <a:t> when using 4-byte integers.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Alternatively, we can use log2 800,000 ≈ 20 bits per </a:t>
            </a:r>
            <a:r>
              <a:rPr lang="en-GB" dirty="0" err="1"/>
              <a:t>docID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The goal</a:t>
            </a:r>
            <a:r>
              <a:rPr lang="en-GB" dirty="0"/>
              <a:t>: use a lot </a:t>
            </a:r>
            <a:r>
              <a:rPr lang="en-GB" i="1" dirty="0">
                <a:solidFill>
                  <a:srgbClr val="FF0000"/>
                </a:solidFill>
              </a:rPr>
              <a:t>less than 20 bits per </a:t>
            </a:r>
            <a:r>
              <a:rPr lang="en-GB" i="1" dirty="0" err="1">
                <a:solidFill>
                  <a:srgbClr val="FF0000"/>
                </a:solidFill>
              </a:rPr>
              <a:t>docID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1388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/>
              <a:t>Postings compression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We store the list of docs containing a term in increasing order of </a:t>
            </a:r>
            <a:r>
              <a:rPr lang="en-GB" dirty="0" err="1"/>
              <a:t>docID</a:t>
            </a:r>
            <a:r>
              <a:rPr lang="en-GB" dirty="0"/>
              <a:t>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computer: 33,47,154,159,202 …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Consequence: it suffices to store gaps.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33,14,107,5,43 …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Hope: most gaps can be encoded/stored with far fewer than 20 bits.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404E00-DD7B-6739-9680-A605A994C7EB}"/>
              </a:ext>
            </a:extLst>
          </p:cNvPr>
          <p:cNvGrpSpPr/>
          <p:nvPr/>
        </p:nvGrpSpPr>
        <p:grpSpPr>
          <a:xfrm>
            <a:off x="2905126" y="2250141"/>
            <a:ext cx="1774450" cy="1526796"/>
            <a:chOff x="2905126" y="2250141"/>
            <a:chExt cx="1774450" cy="152679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53FDF00-122C-23EB-7726-8541EFB26C9A}"/>
                </a:ext>
              </a:extLst>
            </p:cNvPr>
            <p:cNvSpPr/>
            <p:nvPr/>
          </p:nvSpPr>
          <p:spPr>
            <a:xfrm>
              <a:off x="3693459" y="2250141"/>
              <a:ext cx="986117" cy="331694"/>
            </a:xfrm>
            <a:prstGeom prst="rect">
              <a:avLst/>
            </a:prstGeom>
            <a:noFill/>
            <a:ln w="190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DF5484-451F-AF7F-7516-4A186DF6E3BB}"/>
                </a:ext>
              </a:extLst>
            </p:cNvPr>
            <p:cNvSpPr/>
            <p:nvPr/>
          </p:nvSpPr>
          <p:spPr>
            <a:xfrm>
              <a:off x="2905126" y="3445243"/>
              <a:ext cx="171450" cy="331694"/>
            </a:xfrm>
            <a:prstGeom prst="rect">
              <a:avLst/>
            </a:prstGeom>
            <a:noFill/>
            <a:ln w="190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9C1347-57B4-E686-DEFE-4C2177E5267A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 flipH="1">
              <a:off x="2990851" y="2581835"/>
              <a:ext cx="1195667" cy="863408"/>
            </a:xfrm>
            <a:prstGeom prst="line">
              <a:avLst/>
            </a:prstGeom>
            <a:ln w="127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7093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Ranked retrieval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 fontScale="925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Rather than a set of documents satisfying a query expression, </a:t>
            </a:r>
            <a:r>
              <a:rPr lang="en-GB" dirty="0">
                <a:solidFill>
                  <a:srgbClr val="00B050"/>
                </a:solidFill>
              </a:rPr>
              <a:t>in ranked retrieval models</a:t>
            </a:r>
            <a:r>
              <a:rPr lang="en-GB" dirty="0"/>
              <a:t>, the system returns an </a:t>
            </a:r>
            <a:r>
              <a:rPr lang="en-GB" i="1" dirty="0">
                <a:solidFill>
                  <a:srgbClr val="00B050"/>
                </a:solidFill>
              </a:rPr>
              <a:t>ordering over the (top) documents</a:t>
            </a:r>
            <a:r>
              <a:rPr lang="en-GB" dirty="0"/>
              <a:t> in the collection with </a:t>
            </a:r>
            <a:r>
              <a:rPr lang="en-GB" i="1" dirty="0">
                <a:solidFill>
                  <a:srgbClr val="00B050"/>
                </a:solidFill>
              </a:rPr>
              <a:t>respect to a query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Free text queries</a:t>
            </a:r>
            <a:r>
              <a:rPr lang="en-GB" dirty="0"/>
              <a:t>: Rather than a query language of operators and expressions, the user’s query is just one or more words in a human language.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In principle, there are two separate choices here, but in practice, ranked retrieval models have normally been associated with free text queries and vice versa.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7225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Scoring as the basis of ranked retrieval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We wish to return in </a:t>
            </a:r>
            <a:r>
              <a:rPr lang="en-GB" dirty="0">
                <a:solidFill>
                  <a:srgbClr val="00B050"/>
                </a:solidFill>
              </a:rPr>
              <a:t>order the documents</a:t>
            </a:r>
            <a:r>
              <a:rPr lang="en-GB" dirty="0"/>
              <a:t> most likely to be </a:t>
            </a:r>
            <a:r>
              <a:rPr lang="en-GB" i="1" dirty="0">
                <a:solidFill>
                  <a:srgbClr val="00B050"/>
                </a:solidFill>
              </a:rPr>
              <a:t>useful to the searcher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How can we rank-order the documents in the collection with respect to a query?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Assign a score – say in [0, 1] – to each document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This score </a:t>
            </a:r>
            <a:r>
              <a:rPr lang="en-GB" dirty="0">
                <a:solidFill>
                  <a:srgbClr val="FF0000"/>
                </a:solidFill>
              </a:rPr>
              <a:t>measures how well document and query “match”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4945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Weight matrix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sz="2200" dirty="0"/>
              <a:t>Each </a:t>
            </a:r>
            <a:r>
              <a:rPr lang="en-GB" sz="2200" dirty="0">
                <a:solidFill>
                  <a:srgbClr val="FF0000"/>
                </a:solidFill>
              </a:rPr>
              <a:t>document</a:t>
            </a:r>
            <a:r>
              <a:rPr lang="en-GB" sz="2200" dirty="0"/>
              <a:t> is now represented by a </a:t>
            </a:r>
            <a:r>
              <a:rPr lang="en-GB" sz="2200" dirty="0">
                <a:solidFill>
                  <a:srgbClr val="FF0000"/>
                </a:solidFill>
              </a:rPr>
              <a:t>real-valued vector of </a:t>
            </a:r>
            <a:r>
              <a:rPr lang="en-GB" sz="2200" dirty="0" err="1">
                <a:solidFill>
                  <a:srgbClr val="FF0000"/>
                </a:solidFill>
              </a:rPr>
              <a:t>tf-idf</a:t>
            </a:r>
            <a:r>
              <a:rPr lang="en-GB" sz="2200" dirty="0">
                <a:solidFill>
                  <a:srgbClr val="FF0000"/>
                </a:solidFill>
              </a:rPr>
              <a:t> weights</a:t>
            </a:r>
            <a:r>
              <a:rPr lang="en-GB" sz="2200" dirty="0"/>
              <a:t> ∈ R</a:t>
            </a:r>
            <a:r>
              <a:rPr lang="en-GB" sz="2200" baseline="30000" dirty="0"/>
              <a:t>|V|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AF03C2FA-6630-845C-B5A7-DBA025300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094036"/>
              </p:ext>
            </p:extLst>
          </p:nvPr>
        </p:nvGraphicFramePr>
        <p:xfrm>
          <a:off x="1727759" y="1994647"/>
          <a:ext cx="8947150" cy="267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776460" imgH="2926080" progId="Excel.Sheet.8">
                  <p:embed/>
                </p:oleObj>
              </mc:Choice>
              <mc:Fallback>
                <p:oleObj name="Worksheet" r:id="rId2" imgW="9776460" imgH="2926080" progId="Excel.Sheet.8">
                  <p:embed/>
                  <p:pic>
                    <p:nvPicPr>
                      <p:cNvPr id="59395" name="Object 2">
                        <a:extLst>
                          <a:ext uri="{FF2B5EF4-FFF2-40B4-BE49-F238E27FC236}">
                            <a16:creationId xmlns:a16="http://schemas.microsoft.com/office/drawing/2014/main" id="{6380B77F-D797-2F51-177A-3AE44A3F14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759" y="1994647"/>
                        <a:ext cx="8947150" cy="267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1293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Documents as vectors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So we have a |V|-dimensional vector space.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Terms are axes of the space.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Documents are points or vectors in this space.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Very high-dimensional</a:t>
            </a:r>
            <a:r>
              <a:rPr lang="en-GB" dirty="0"/>
              <a:t>: tens of millions of dimensions when you apply this to a web search engine.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These are very sparse vectors - most entries are zero.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9992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Queries as vectors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Key idea 1</a:t>
            </a:r>
            <a:r>
              <a:rPr lang="en-GB" dirty="0"/>
              <a:t>: Do the same for queries: represent them as vectors in the space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Key idea 2</a:t>
            </a:r>
            <a:r>
              <a:rPr lang="en-GB" dirty="0"/>
              <a:t>: </a:t>
            </a:r>
            <a:r>
              <a:rPr lang="en-GB" dirty="0">
                <a:solidFill>
                  <a:srgbClr val="FF0000"/>
                </a:solidFill>
              </a:rPr>
              <a:t>Rank documents</a:t>
            </a:r>
            <a:r>
              <a:rPr lang="en-GB" dirty="0"/>
              <a:t> according to their </a:t>
            </a:r>
            <a:r>
              <a:rPr lang="en-GB" i="1" dirty="0">
                <a:solidFill>
                  <a:srgbClr val="FF0000"/>
                </a:solidFill>
              </a:rPr>
              <a:t>proximity to the query</a:t>
            </a:r>
            <a:r>
              <a:rPr lang="en-GB" dirty="0"/>
              <a:t> in this space.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i="1" dirty="0">
                <a:solidFill>
                  <a:srgbClr val="FF0000"/>
                </a:solidFill>
              </a:rPr>
              <a:t>proximity = similarity of vectors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i="1" dirty="0">
                <a:solidFill>
                  <a:srgbClr val="FF0000"/>
                </a:solidFill>
              </a:rPr>
              <a:t>proximity ≈ inverse of distance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8145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Why distance is a bad idea?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i="1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i="1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pic>
        <p:nvPicPr>
          <p:cNvPr id="6" name="Content Placeholder 3" descr="vs1.gif">
            <a:extLst>
              <a:ext uri="{FF2B5EF4-FFF2-40B4-BE49-F238E27FC236}">
                <a16:creationId xmlns:a16="http://schemas.microsoft.com/office/drawing/2014/main" id="{39A88770-A07A-FE48-5202-892356A3D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67100" y="2149785"/>
            <a:ext cx="5257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48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Use angle instead of distance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Take a document d and append it to itself. Call this document d′. </a:t>
            </a:r>
            <a:r>
              <a:rPr lang="en-GB" dirty="0">
                <a:solidFill>
                  <a:srgbClr val="00B050"/>
                </a:solidFill>
              </a:rPr>
              <a:t>“Semantically” d and d′ have the same content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The</a:t>
            </a:r>
            <a:r>
              <a:rPr lang="en-GB" dirty="0"/>
              <a:t> </a:t>
            </a:r>
            <a:r>
              <a:rPr lang="en-GB" dirty="0">
                <a:solidFill>
                  <a:srgbClr val="00B050"/>
                </a:solidFill>
              </a:rPr>
              <a:t>Euclidean distance</a:t>
            </a:r>
            <a:r>
              <a:rPr lang="en-GB" dirty="0"/>
              <a:t> between the two documents can be </a:t>
            </a:r>
            <a:r>
              <a:rPr lang="en-GB" i="1" dirty="0">
                <a:solidFill>
                  <a:srgbClr val="00B050"/>
                </a:solidFill>
              </a:rPr>
              <a:t>quite large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The angle</a:t>
            </a:r>
            <a:r>
              <a:rPr lang="en-GB" dirty="0"/>
              <a:t> between the two documents </a:t>
            </a:r>
            <a:r>
              <a:rPr lang="en-GB" dirty="0">
                <a:solidFill>
                  <a:srgbClr val="00B050"/>
                </a:solidFill>
              </a:rPr>
              <a:t>is 0</a:t>
            </a:r>
            <a:r>
              <a:rPr lang="en-GB" dirty="0"/>
              <a:t>, corresponding to </a:t>
            </a:r>
            <a:r>
              <a:rPr lang="en-GB" i="1" dirty="0">
                <a:solidFill>
                  <a:srgbClr val="00B050"/>
                </a:solidFill>
              </a:rPr>
              <a:t>maximal similarity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Key idea:</a:t>
            </a:r>
            <a:r>
              <a:rPr lang="en-GB" dirty="0"/>
              <a:t> Rank documents according to angle with query.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5634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From angles to cosines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following two notions are equivalent.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Rank documents in </a:t>
            </a:r>
            <a:r>
              <a:rPr lang="en-GB" dirty="0">
                <a:solidFill>
                  <a:srgbClr val="FF0000"/>
                </a:solidFill>
              </a:rPr>
              <a:t>decreasing order of the angle</a:t>
            </a:r>
            <a:r>
              <a:rPr lang="en-GB" dirty="0"/>
              <a:t> between query and document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Rank documents in </a:t>
            </a:r>
            <a:r>
              <a:rPr lang="en-GB" dirty="0">
                <a:solidFill>
                  <a:srgbClr val="FF0000"/>
                </a:solidFill>
              </a:rPr>
              <a:t>increasing order of cosine</a:t>
            </a:r>
            <a:r>
              <a:rPr lang="en-GB" dirty="0"/>
              <a:t>(query, document)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Cosine is a monotonically </a:t>
            </a:r>
            <a:r>
              <a:rPr lang="en-GB" dirty="0">
                <a:solidFill>
                  <a:srgbClr val="FF0000"/>
                </a:solidFill>
              </a:rPr>
              <a:t>decreasing</a:t>
            </a:r>
            <a:r>
              <a:rPr lang="en-GB" dirty="0"/>
              <a:t> function </a:t>
            </a:r>
            <a:r>
              <a:rPr lang="en-GB" i="1" dirty="0">
                <a:solidFill>
                  <a:srgbClr val="FF0000"/>
                </a:solidFill>
              </a:rPr>
              <a:t>for the interval [0</a:t>
            </a:r>
            <a:r>
              <a:rPr lang="en-GB" i="1" baseline="30000" dirty="0">
                <a:solidFill>
                  <a:srgbClr val="FF0000"/>
                </a:solidFill>
              </a:rPr>
              <a:t>o</a:t>
            </a:r>
            <a:r>
              <a:rPr lang="en-GB" i="1" dirty="0">
                <a:solidFill>
                  <a:srgbClr val="FF0000"/>
                </a:solidFill>
              </a:rPr>
              <a:t>, 180</a:t>
            </a:r>
            <a:r>
              <a:rPr lang="en-GB" i="1" baseline="30000" dirty="0">
                <a:solidFill>
                  <a:srgbClr val="FF0000"/>
                </a:solidFill>
              </a:rPr>
              <a:t>o</a:t>
            </a:r>
            <a:r>
              <a:rPr lang="en-GB" i="1" dirty="0">
                <a:solidFill>
                  <a:srgbClr val="FF0000"/>
                </a:solidFill>
              </a:rPr>
              <a:t>]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2697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cosine(query, document)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FF746D-FC52-C771-47FE-7A4C8816120C}"/>
              </a:ext>
            </a:extLst>
          </p:cNvPr>
          <p:cNvGrpSpPr/>
          <p:nvPr/>
        </p:nvGrpSpPr>
        <p:grpSpPr>
          <a:xfrm>
            <a:off x="2487612" y="2362200"/>
            <a:ext cx="7216775" cy="2133600"/>
            <a:chOff x="1012825" y="1676400"/>
            <a:chExt cx="7216775" cy="2133600"/>
          </a:xfrm>
        </p:grpSpPr>
        <p:graphicFrame>
          <p:nvGraphicFramePr>
            <p:cNvPr id="7" name="Content Placeholder 3">
              <a:extLst>
                <a:ext uri="{FF2B5EF4-FFF2-40B4-BE49-F238E27FC236}">
                  <a16:creationId xmlns:a16="http://schemas.microsoft.com/office/drawing/2014/main" id="{E972A3A5-C4CE-DB2F-2BF5-55FB39BC1908}"/>
                </a:ext>
              </a:extLst>
            </p:cNvPr>
            <p:cNvGraphicFramePr>
              <a:graphicFrameLocks noChangeAspect="1"/>
            </p:cNvGraphicFramePr>
            <p:nvPr>
              <p:ph idx="1"/>
              <p:extLst>
                <p:ext uri="{D42A27DB-BD31-4B8C-83A1-F6EECF244321}">
                  <p14:modId xmlns:p14="http://schemas.microsoft.com/office/powerpoint/2010/main" val="1815923647"/>
                </p:ext>
              </p:extLst>
            </p:nvPr>
          </p:nvGraphicFramePr>
          <p:xfrm>
            <a:off x="1012825" y="2317750"/>
            <a:ext cx="7216775" cy="1492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946400" imgH="609600" progId="Equation.3">
                    <p:embed/>
                  </p:oleObj>
                </mc:Choice>
                <mc:Fallback>
                  <p:oleObj name="Equation" r:id="rId2" imgW="2946400" imgH="609600" progId="Equation.3">
                    <p:embed/>
                    <p:pic>
                      <p:nvPicPr>
                        <p:cNvPr id="77827" name="Content Placeholder 3">
                          <a:extLst>
                            <a:ext uri="{FF2B5EF4-FFF2-40B4-BE49-F238E27FC236}">
                              <a16:creationId xmlns:a16="http://schemas.microsoft.com/office/drawing/2014/main" id="{477AE374-485F-8BB8-702D-4FF6240189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825" y="2317750"/>
                          <a:ext cx="7216775" cy="1492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Callout 1 4">
              <a:extLst>
                <a:ext uri="{FF2B5EF4-FFF2-40B4-BE49-F238E27FC236}">
                  <a16:creationId xmlns:a16="http://schemas.microsoft.com/office/drawing/2014/main" id="{A538F13F-ECF8-8AC7-E93E-035D3DD45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200" y="1676400"/>
              <a:ext cx="1984375" cy="461963"/>
            </a:xfrm>
            <a:prstGeom prst="borderCallout1">
              <a:avLst>
                <a:gd name="adj1" fmla="val 104463"/>
                <a:gd name="adj2" fmla="val 51190"/>
                <a:gd name="adj3" fmla="val 204176"/>
                <a:gd name="adj4" fmla="val 74931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dirty="0">
                  <a:solidFill>
                    <a:srgbClr val="C00000"/>
                  </a:solidFill>
                  <a:latin typeface="Lucida Sans" panose="020B0602030504020204" pitchFamily="34" charset="0"/>
                  <a:ea typeface="PMingLiU" panose="02020500000000000000" pitchFamily="18" charset="-120"/>
                </a:rPr>
                <a:t>Dot product</a:t>
              </a:r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201A3A5-73BB-A166-F1FC-B30F7E00F1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4800" y="1676400"/>
              <a:ext cx="1981200" cy="762000"/>
              <a:chOff x="4114800" y="1676400"/>
              <a:chExt cx="1981200" cy="762000"/>
            </a:xfrm>
          </p:grpSpPr>
          <p:sp>
            <p:nvSpPr>
              <p:cNvPr id="10" name="Line Callout 2 5">
                <a:extLst>
                  <a:ext uri="{FF2B5EF4-FFF2-40B4-BE49-F238E27FC236}">
                    <a16:creationId xmlns:a16="http://schemas.microsoft.com/office/drawing/2014/main" id="{0A206C1D-FEA5-540B-73CC-03F861B98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800" y="1676400"/>
                <a:ext cx="1981200" cy="457200"/>
              </a:xfrm>
              <a:prstGeom prst="borderCallout2">
                <a:avLst>
                  <a:gd name="adj1" fmla="val 97319"/>
                  <a:gd name="adj2" fmla="val 8153"/>
                  <a:gd name="adj3" fmla="val 159227"/>
                  <a:gd name="adj4" fmla="val 7509"/>
                  <a:gd name="adj5" fmla="val 172023"/>
                  <a:gd name="adj6" fmla="val 3884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C00000"/>
                    </a:solidFill>
                    <a:latin typeface="Lucida Sans" panose="020B0602030504020204" pitchFamily="34" charset="0"/>
                    <a:ea typeface="PMingLiU" panose="02020500000000000000" pitchFamily="18" charset="-120"/>
                  </a:rPr>
                  <a:t>Unit vectors</a:t>
                </a:r>
              </a:p>
            </p:txBody>
          </p:sp>
          <p:cxnSp>
            <p:nvCxnSpPr>
              <p:cNvPr id="11" name="Straight Connector 7">
                <a:extLst>
                  <a:ext uri="{FF2B5EF4-FFF2-40B4-BE49-F238E27FC236}">
                    <a16:creationId xmlns:a16="http://schemas.microsoft.com/office/drawing/2014/main" id="{2C42E6A9-8663-EAD5-4EBE-13154EB090E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4572794" y="2286000"/>
                <a:ext cx="304006" cy="7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2451094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Computing cosine scores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pic>
        <p:nvPicPr>
          <p:cNvPr id="12" name="Content Placeholder 8" descr="cosinescore.gif">
            <a:extLst>
              <a:ext uri="{FF2B5EF4-FFF2-40B4-BE49-F238E27FC236}">
                <a16:creationId xmlns:a16="http://schemas.microsoft.com/office/drawing/2014/main" id="{98EFBC41-F724-8614-845C-155BD2EE8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19300" y="1670050"/>
            <a:ext cx="8153400" cy="51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5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Spell correction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Two main Flavors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Isolated word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Check each word on its own for misspelling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Will not catch typos resulting in correctly spelled words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e.g., from </a:t>
            </a:r>
            <a:r>
              <a:rPr lang="en-GB" dirty="0">
                <a:sym typeface="Symbol" panose="05050102010706020507" pitchFamily="18" charset="2"/>
              </a:rPr>
              <a:t></a:t>
            </a:r>
            <a:r>
              <a:rPr lang="en-GB" dirty="0"/>
              <a:t> form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Context-sensitive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Look at surrounding words, 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e.g., I flew form Heathrow to Narita.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5974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Isolated word correction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Fundamental premise – there is a </a:t>
            </a:r>
            <a:r>
              <a:rPr lang="en-GB" dirty="0">
                <a:solidFill>
                  <a:srgbClr val="FF0000"/>
                </a:solidFill>
              </a:rPr>
              <a:t>lexicon</a:t>
            </a:r>
            <a:r>
              <a:rPr lang="en-GB" dirty="0"/>
              <a:t> from which the correct spellings come.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Two basic choices for this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A standard lexicon</a:t>
            </a:r>
            <a:r>
              <a:rPr lang="en-GB" dirty="0"/>
              <a:t> such as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Webster’s English Dictionary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An “industry-specific” lexicon – hand-maintained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lexicon of </a:t>
            </a:r>
            <a:r>
              <a:rPr lang="en-GB" dirty="0">
                <a:solidFill>
                  <a:srgbClr val="00B050"/>
                </a:solidFill>
              </a:rPr>
              <a:t>the indexed corpus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E.g., all words on the web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All names, acronyms etc.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(Including the mis-spellings)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8646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Isolated word correction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Given a lexicon and a character sequence Q, return the words in the lexicon closest to Q.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What’s “closest”?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We’ll study several alternatives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Edit distance (</a:t>
            </a:r>
            <a:r>
              <a:rPr lang="en-GB" dirty="0" err="1"/>
              <a:t>Levenshtein</a:t>
            </a:r>
            <a:r>
              <a:rPr lang="en-GB" dirty="0"/>
              <a:t> distance)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Weighted edit distance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n-gram overlap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4843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Edit distance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Given two strings S</a:t>
            </a:r>
            <a:r>
              <a:rPr lang="en-GB" baseline="-25000" dirty="0"/>
              <a:t>1</a:t>
            </a:r>
            <a:r>
              <a:rPr lang="en-GB" dirty="0"/>
              <a:t> and S</a:t>
            </a:r>
            <a:r>
              <a:rPr lang="en-GB" baseline="-25000" dirty="0"/>
              <a:t>2</a:t>
            </a:r>
            <a:r>
              <a:rPr lang="en-GB" dirty="0"/>
              <a:t>, the minimum number of operations to convert one to the other.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Operations are typically character-level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Insert, Delete, Replace, (</a:t>
            </a:r>
            <a:r>
              <a:rPr lang="en-GB" dirty="0">
                <a:solidFill>
                  <a:srgbClr val="00B050"/>
                </a:solidFill>
              </a:rPr>
              <a:t>Transposition</a:t>
            </a:r>
            <a:r>
              <a:rPr lang="en-GB" dirty="0"/>
              <a:t>)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E.g., the edit distance from </a:t>
            </a:r>
            <a:r>
              <a:rPr lang="en-GB" dirty="0" err="1">
                <a:solidFill>
                  <a:srgbClr val="FF0000"/>
                </a:solidFill>
              </a:rPr>
              <a:t>dof</a:t>
            </a:r>
            <a:r>
              <a:rPr lang="en-GB" dirty="0"/>
              <a:t> to </a:t>
            </a:r>
            <a:r>
              <a:rPr lang="en-GB" dirty="0">
                <a:solidFill>
                  <a:srgbClr val="FF0000"/>
                </a:solidFill>
              </a:rPr>
              <a:t>dog</a:t>
            </a:r>
            <a:r>
              <a:rPr lang="en-GB" dirty="0"/>
              <a:t> is 1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From </a:t>
            </a:r>
            <a:r>
              <a:rPr lang="en-GB" dirty="0">
                <a:solidFill>
                  <a:srgbClr val="FF0000"/>
                </a:solidFill>
              </a:rPr>
              <a:t>cat </a:t>
            </a:r>
            <a:r>
              <a:rPr lang="en-GB" dirty="0"/>
              <a:t>to </a:t>
            </a:r>
            <a:r>
              <a:rPr lang="en-GB" dirty="0">
                <a:solidFill>
                  <a:srgbClr val="FF0000"/>
                </a:solidFill>
              </a:rPr>
              <a:t>act</a:t>
            </a:r>
            <a:r>
              <a:rPr lang="en-GB" dirty="0"/>
              <a:t> is 2	   (</a:t>
            </a:r>
            <a:r>
              <a:rPr lang="en-GB" dirty="0">
                <a:solidFill>
                  <a:srgbClr val="00B050"/>
                </a:solidFill>
              </a:rPr>
              <a:t>Just 1 with transpose.</a:t>
            </a:r>
            <a:r>
              <a:rPr lang="en-GB" dirty="0"/>
              <a:t>)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from </a:t>
            </a:r>
            <a:r>
              <a:rPr lang="en-GB" dirty="0">
                <a:solidFill>
                  <a:srgbClr val="FF0000"/>
                </a:solidFill>
              </a:rPr>
              <a:t>cat</a:t>
            </a:r>
            <a:r>
              <a:rPr lang="en-GB" dirty="0"/>
              <a:t> to </a:t>
            </a:r>
            <a:r>
              <a:rPr lang="en-GB" dirty="0">
                <a:solidFill>
                  <a:srgbClr val="FF0000"/>
                </a:solidFill>
              </a:rPr>
              <a:t>dog</a:t>
            </a:r>
            <a:r>
              <a:rPr lang="en-GB" dirty="0"/>
              <a:t> is 3.	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Generally found by dynamic programming.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5928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Edit distance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pic>
        <p:nvPicPr>
          <p:cNvPr id="6" name="Picture 8" descr="343.png">
            <a:extLst>
              <a:ext uri="{FF2B5EF4-FFF2-40B4-BE49-F238E27FC236}">
                <a16:creationId xmlns:a16="http://schemas.microsoft.com/office/drawing/2014/main" id="{129B2AEB-E6A9-102B-3731-A1C5E9BDE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781" y="1838369"/>
            <a:ext cx="83264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053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n-gram overlap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Enumerate all the n-grams in the query string as well as in the lexicon.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Use the n-gram index to retrieve all lexicon terms matching any of the query n-grams.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Threshold by number of matching n-grams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Variants – weight by keyboard layout, etc.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06665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Example with trigrams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Suppose the text is </a:t>
            </a:r>
            <a:r>
              <a:rPr lang="en-GB" dirty="0" err="1"/>
              <a:t>november</a:t>
            </a: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Trigrams are </a:t>
            </a:r>
            <a:r>
              <a:rPr lang="en-GB" dirty="0" err="1"/>
              <a:t>nov</a:t>
            </a:r>
            <a:r>
              <a:rPr lang="en-GB" dirty="0"/>
              <a:t>, </a:t>
            </a:r>
            <a:r>
              <a:rPr lang="en-GB" dirty="0" err="1"/>
              <a:t>ove</a:t>
            </a:r>
            <a:r>
              <a:rPr lang="en-GB" dirty="0"/>
              <a:t>, </a:t>
            </a:r>
            <a:r>
              <a:rPr lang="en-GB" dirty="0" err="1"/>
              <a:t>vem</a:t>
            </a:r>
            <a:r>
              <a:rPr lang="en-GB" dirty="0"/>
              <a:t>, </a:t>
            </a:r>
            <a:r>
              <a:rPr lang="en-GB" dirty="0" err="1">
                <a:solidFill>
                  <a:srgbClr val="FF0000"/>
                </a:solidFill>
              </a:rPr>
              <a:t>emb</a:t>
            </a:r>
            <a:r>
              <a:rPr lang="en-GB" dirty="0">
                <a:solidFill>
                  <a:srgbClr val="FF0000"/>
                </a:solidFill>
              </a:rPr>
              <a:t>, </a:t>
            </a:r>
            <a:r>
              <a:rPr lang="en-GB" dirty="0" err="1">
                <a:solidFill>
                  <a:srgbClr val="FF0000"/>
                </a:solidFill>
              </a:rPr>
              <a:t>mbe</a:t>
            </a:r>
            <a:r>
              <a:rPr lang="en-GB" dirty="0">
                <a:solidFill>
                  <a:srgbClr val="FF0000"/>
                </a:solidFill>
              </a:rPr>
              <a:t>, </a:t>
            </a:r>
            <a:r>
              <a:rPr lang="en-GB" dirty="0" err="1">
                <a:solidFill>
                  <a:srgbClr val="FF0000"/>
                </a:solidFill>
              </a:rPr>
              <a:t>ber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query is </a:t>
            </a:r>
            <a:r>
              <a:rPr lang="en-GB" dirty="0" err="1"/>
              <a:t>december</a:t>
            </a: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Trigrams are dec, </a:t>
            </a:r>
            <a:r>
              <a:rPr lang="en-GB" dirty="0" err="1"/>
              <a:t>ece</a:t>
            </a:r>
            <a:r>
              <a:rPr lang="en-GB" dirty="0"/>
              <a:t>, </a:t>
            </a:r>
            <a:r>
              <a:rPr lang="en-GB" dirty="0" err="1"/>
              <a:t>cem</a:t>
            </a:r>
            <a:r>
              <a:rPr lang="en-GB" dirty="0"/>
              <a:t>, </a:t>
            </a:r>
            <a:r>
              <a:rPr lang="en-GB" dirty="0" err="1">
                <a:solidFill>
                  <a:srgbClr val="FF0000"/>
                </a:solidFill>
              </a:rPr>
              <a:t>emb</a:t>
            </a:r>
            <a:r>
              <a:rPr lang="en-GB" dirty="0">
                <a:solidFill>
                  <a:srgbClr val="FF0000"/>
                </a:solidFill>
              </a:rPr>
              <a:t>, </a:t>
            </a:r>
            <a:r>
              <a:rPr lang="en-GB" dirty="0" err="1">
                <a:solidFill>
                  <a:srgbClr val="FF0000"/>
                </a:solidFill>
              </a:rPr>
              <a:t>mbe</a:t>
            </a:r>
            <a:r>
              <a:rPr lang="en-GB" dirty="0">
                <a:solidFill>
                  <a:srgbClr val="FF0000"/>
                </a:solidFill>
              </a:rPr>
              <a:t>, </a:t>
            </a:r>
            <a:r>
              <a:rPr lang="en-GB" dirty="0" err="1">
                <a:solidFill>
                  <a:srgbClr val="FF0000"/>
                </a:solidFill>
              </a:rPr>
              <a:t>ber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So 3 trigrams overlap (of 6 in each term)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How can we turn this into a normalized measure of overlap?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91460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Jaccard coefficient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 commonly-used measure of overlap. Let X and Y be two sets then the J.C. is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Equals 1 when X and Y have the same elements and zero when they are disjoint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X and Y don’t have to be of the same size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Always assigns a number between 0 and 1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Now threshold to decide if you have a match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E.g., </a:t>
            </a:r>
            <a:r>
              <a:rPr lang="en-GB" dirty="0">
                <a:solidFill>
                  <a:srgbClr val="FF0000"/>
                </a:solidFill>
              </a:rPr>
              <a:t>if J.C. &gt; 0.8, declare a match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85F32277-5A9F-5CFB-2F5B-CE759C14E5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651830"/>
              </p:ext>
            </p:extLst>
          </p:nvPr>
        </p:nvGraphicFramePr>
        <p:xfrm>
          <a:off x="2420470" y="2241176"/>
          <a:ext cx="273526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476" imgH="253890" progId="Equation.3">
                  <p:embed/>
                </p:oleObj>
              </mc:Choice>
              <mc:Fallback>
                <p:oleObj name="Equation" r:id="rId2" imgW="977476" imgH="253890" progId="Equation.3">
                  <p:embed/>
                  <p:pic>
                    <p:nvPicPr>
                      <p:cNvPr id="62468" name="Object 2">
                        <a:extLst>
                          <a:ext uri="{FF2B5EF4-FFF2-40B4-BE49-F238E27FC236}">
                            <a16:creationId xmlns:a16="http://schemas.microsoft.com/office/drawing/2014/main" id="{F9FBBD2E-F7C3-26C8-B238-4FF6D9A8F8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470" y="2241176"/>
                        <a:ext cx="2735263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905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Context-sensitive spell correction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Text: </a:t>
            </a:r>
            <a:r>
              <a:rPr lang="en-GB" i="1" dirty="0">
                <a:solidFill>
                  <a:srgbClr val="FF0000"/>
                </a:solidFill>
              </a:rPr>
              <a:t>I flew from Heathrow to Narita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Consider the phrase query “</a:t>
            </a:r>
            <a:r>
              <a:rPr lang="en-GB" i="1" dirty="0">
                <a:solidFill>
                  <a:srgbClr val="FF0000"/>
                </a:solidFill>
              </a:rPr>
              <a:t>flew form Heathrow</a:t>
            </a:r>
            <a:r>
              <a:rPr lang="en-GB" dirty="0"/>
              <a:t>”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We’d like to respond - </a:t>
            </a:r>
            <a:r>
              <a:rPr lang="en-GB" dirty="0">
                <a:solidFill>
                  <a:srgbClr val="00B050"/>
                </a:solidFill>
              </a:rPr>
              <a:t>Did you mean “flew from Heathrow”?</a:t>
            </a:r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GB" dirty="0"/>
              <a:t>	because no docs matched the query phrase.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38621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Context-sensitive spell correction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548477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Need surrounding context to catch this.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First idea</a:t>
            </a:r>
            <a:r>
              <a:rPr lang="en-GB" dirty="0"/>
              <a:t>: retrieve dictionary terms close (in weighted edit distance) to each query term.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Now try all possible resulting phrases with one word “fixed” at a time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flew from </a:t>
            </a:r>
            <a:r>
              <a:rPr lang="en-GB" dirty="0" err="1"/>
              <a:t>heathrow</a:t>
            </a:r>
            <a:r>
              <a:rPr lang="en-GB" dirty="0"/>
              <a:t> 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fled form </a:t>
            </a:r>
            <a:r>
              <a:rPr lang="en-GB" dirty="0" err="1"/>
              <a:t>heathrow</a:t>
            </a: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flea form </a:t>
            </a:r>
            <a:r>
              <a:rPr lang="en-GB" dirty="0" err="1"/>
              <a:t>heathrow</a:t>
            </a: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…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Hit-based spelling correction</a:t>
            </a:r>
            <a:r>
              <a:rPr lang="en-GB" dirty="0"/>
              <a:t>: Suggest the alternative that has lots of hits.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1606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Query expansion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78319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Improving results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For high recall. e.g., searching for </a:t>
            </a:r>
            <a:r>
              <a:rPr lang="en-GB" dirty="0">
                <a:solidFill>
                  <a:srgbClr val="FF0000"/>
                </a:solidFill>
              </a:rPr>
              <a:t>aircraft doesn’t match with plane</a:t>
            </a:r>
            <a:r>
              <a:rPr lang="en-GB" dirty="0"/>
              <a:t>; nor thermodynamic with heat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Options for improving results…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Global methods: </a:t>
            </a:r>
            <a:r>
              <a:rPr lang="en-GB" dirty="0">
                <a:solidFill>
                  <a:srgbClr val="00B050"/>
                </a:solidFill>
              </a:rPr>
              <a:t>independent of queries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Query expansion</a:t>
            </a:r>
          </a:p>
          <a:p>
            <a:pPr lvl="3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Thesauri</a:t>
            </a:r>
          </a:p>
          <a:p>
            <a:pPr lvl="3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Automatic thesaurus generation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Local methods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Relevance feedback</a:t>
            </a:r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Pseudo relevance feedback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2078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Relevance Feedback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783198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User </a:t>
            </a:r>
            <a:r>
              <a:rPr lang="en-GB" dirty="0">
                <a:solidFill>
                  <a:srgbClr val="FF0000"/>
                </a:solidFill>
              </a:rPr>
              <a:t>feedback on relevance of docs</a:t>
            </a:r>
            <a:r>
              <a:rPr lang="en-GB" dirty="0"/>
              <a:t> in initial set of results.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User issues a (short, simple) query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user marks some results as relevant or non-relevant.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system computes a better representation of the information need based on feedback.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Relevance feedback can go through one or more iterations.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Idea:</a:t>
            </a:r>
            <a:r>
              <a:rPr lang="en-GB" dirty="0"/>
              <a:t> it may be difficult to formulate a good query when you don’t know the collection well, so iterate.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7622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Key concept: Centroid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783198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centroid is the center of mass of a set of points.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Definition: </a:t>
            </a:r>
            <a:r>
              <a:rPr lang="en-GB" dirty="0">
                <a:solidFill>
                  <a:srgbClr val="FF0000"/>
                </a:solidFill>
              </a:rPr>
              <a:t>Centroid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GB" dirty="0"/>
              <a:t>where C is a set of documents.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A27B116F-5640-8A25-4800-530E185EF8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875966"/>
              </p:ext>
            </p:extLst>
          </p:nvPr>
        </p:nvGraphicFramePr>
        <p:xfrm>
          <a:off x="1008529" y="2834481"/>
          <a:ext cx="2987675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419100" progId="Equation.3">
                  <p:embed/>
                </p:oleObj>
              </mc:Choice>
              <mc:Fallback>
                <p:oleObj name="Equation" r:id="rId2" imgW="1054100" imgH="419100" progId="Equation.3">
                  <p:embed/>
                  <p:pic>
                    <p:nvPicPr>
                      <p:cNvPr id="33796" name="Object 2">
                        <a:extLst>
                          <a:ext uri="{FF2B5EF4-FFF2-40B4-BE49-F238E27FC236}">
                            <a16:creationId xmlns:a16="http://schemas.microsoft.com/office/drawing/2014/main" id="{150269D3-7228-82BD-0004-6B549A4E27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529" y="2834481"/>
                        <a:ext cx="2987675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85428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00B050"/>
                </a:solidFill>
              </a:rPr>
              <a:t>Rocchio</a:t>
            </a:r>
            <a:r>
              <a:rPr lang="en-GB" dirty="0">
                <a:solidFill>
                  <a:srgbClr val="00B050"/>
                </a:solidFill>
              </a:rPr>
              <a:t> 1971 Algorithm (SMART)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783198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Used in practice: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D</a:t>
            </a:r>
            <a:r>
              <a:rPr lang="en-GB" baseline="-25000" dirty="0"/>
              <a:t>r</a:t>
            </a:r>
            <a:r>
              <a:rPr lang="en-GB" dirty="0"/>
              <a:t>  = set of known relevant doc vectors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 err="1"/>
              <a:t>D</a:t>
            </a:r>
            <a:r>
              <a:rPr lang="en-GB" baseline="-25000" dirty="0" err="1"/>
              <a:t>nr</a:t>
            </a:r>
            <a:r>
              <a:rPr lang="en-GB" dirty="0"/>
              <a:t> = set of known irrelevant doc vectors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GB" dirty="0" err="1"/>
              <a:t>q</a:t>
            </a:r>
            <a:r>
              <a:rPr lang="en-GB" baseline="-25000" dirty="0" err="1"/>
              <a:t>m</a:t>
            </a:r>
            <a:r>
              <a:rPr lang="en-GB" dirty="0"/>
              <a:t> = modified query vector; q</a:t>
            </a:r>
            <a:r>
              <a:rPr lang="en-GB" baseline="-25000" dirty="0"/>
              <a:t>0</a:t>
            </a:r>
            <a:r>
              <a:rPr lang="en-GB" dirty="0"/>
              <a:t> = original query vector;</a:t>
            </a:r>
            <a:br>
              <a:rPr lang="en-GB" dirty="0"/>
            </a:br>
            <a:r>
              <a:rPr lang="el-GR" dirty="0"/>
              <a:t>α,β,γ: </a:t>
            </a:r>
            <a:r>
              <a:rPr lang="en-GB" dirty="0"/>
              <a:t>weights (hand-chosen or set empirically)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New query</a:t>
            </a:r>
            <a:r>
              <a:rPr lang="en-GB" dirty="0"/>
              <a:t> </a:t>
            </a:r>
            <a:r>
              <a:rPr lang="en-GB" i="1" dirty="0">
                <a:solidFill>
                  <a:srgbClr val="FF0000"/>
                </a:solidFill>
              </a:rPr>
              <a:t>moves toward relevant documents</a:t>
            </a:r>
            <a:r>
              <a:rPr lang="en-GB" dirty="0"/>
              <a:t> and </a:t>
            </a:r>
            <a:r>
              <a:rPr lang="en-GB" i="1" dirty="0">
                <a:solidFill>
                  <a:srgbClr val="FF0000"/>
                </a:solidFill>
              </a:rPr>
              <a:t>away from irrelevant documents.</a:t>
            </a:r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None/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E8EBA780-A6A7-C950-BF1B-081E47E08E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07721"/>
              </p:ext>
            </p:extLst>
          </p:nvPr>
        </p:nvGraphicFramePr>
        <p:xfrm>
          <a:off x="1419599" y="2284506"/>
          <a:ext cx="710565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3000" imgH="457200" progId="Equation.3">
                  <p:embed/>
                </p:oleObj>
              </mc:Choice>
              <mc:Fallback>
                <p:oleObj name="Equation" r:id="rId2" imgW="2413000" imgH="457200" progId="Equation.3">
                  <p:embed/>
                  <p:pic>
                    <p:nvPicPr>
                      <p:cNvPr id="39940" name="Object 7">
                        <a:extLst>
                          <a:ext uri="{FF2B5EF4-FFF2-40B4-BE49-F238E27FC236}">
                            <a16:creationId xmlns:a16="http://schemas.microsoft.com/office/drawing/2014/main" id="{EC475055-84ED-AD9D-6150-498E325ACA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599" y="2284506"/>
                        <a:ext cx="710565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4730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Query Expansion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783198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In relevance feedback, users give additional input (relevant/non-relevant) on documents, which is used to reweight terms in the documents.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In query expansion, users give additional input (good/bad search term) on words or phrases.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None/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3659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Thesaurus-based query expansion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783198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For each term</a:t>
            </a:r>
            <a:r>
              <a:rPr lang="en-GB" dirty="0"/>
              <a:t>, t, in a query, </a:t>
            </a:r>
            <a:r>
              <a:rPr lang="en-GB" dirty="0">
                <a:solidFill>
                  <a:srgbClr val="FF0000"/>
                </a:solidFill>
              </a:rPr>
              <a:t>expand</a:t>
            </a:r>
            <a:r>
              <a:rPr lang="en-GB" dirty="0"/>
              <a:t> the query with </a:t>
            </a:r>
            <a:r>
              <a:rPr lang="en-GB" i="1" dirty="0">
                <a:solidFill>
                  <a:srgbClr val="FF0000"/>
                </a:solidFill>
              </a:rPr>
              <a:t>synonyms and related words of t</a:t>
            </a:r>
            <a:r>
              <a:rPr lang="en-GB" dirty="0"/>
              <a:t> from the thesaurus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feline → feline cat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May </a:t>
            </a:r>
            <a:r>
              <a:rPr lang="en-GB" dirty="0">
                <a:solidFill>
                  <a:srgbClr val="FF0000"/>
                </a:solidFill>
              </a:rPr>
              <a:t>weight added</a:t>
            </a:r>
            <a:r>
              <a:rPr lang="en-GB" dirty="0"/>
              <a:t> terms </a:t>
            </a:r>
            <a:r>
              <a:rPr lang="en-GB" i="1" dirty="0">
                <a:solidFill>
                  <a:srgbClr val="FF0000"/>
                </a:solidFill>
              </a:rPr>
              <a:t>less than original</a:t>
            </a:r>
            <a:r>
              <a:rPr lang="en-GB" dirty="0"/>
              <a:t> query terms.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Generally increases recall.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Widely used in many science/engineering fields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May significantly decrease precision, particularly with ambiguous terms.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“interest rate” → “interest rate fascinate evaluate”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There is a high cost of manually producing a thesaurus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And for updating it for scientific changes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None/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64839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Automatic Thesaurus Generation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78319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Attempt to generate a thesaurus automatically by </a:t>
            </a:r>
            <a:r>
              <a:rPr lang="en-GB" dirty="0" err="1"/>
              <a:t>analyzing</a:t>
            </a:r>
            <a:r>
              <a:rPr lang="en-GB" dirty="0"/>
              <a:t> the collection of documents.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Fundamental notion</a:t>
            </a:r>
            <a:r>
              <a:rPr lang="en-GB" dirty="0"/>
              <a:t>: </a:t>
            </a:r>
            <a:r>
              <a:rPr lang="en-GB" dirty="0">
                <a:solidFill>
                  <a:srgbClr val="FF0000"/>
                </a:solidFill>
              </a:rPr>
              <a:t>similarity between two words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u="sng" dirty="0"/>
              <a:t>Definition 1</a:t>
            </a:r>
            <a:r>
              <a:rPr lang="en-GB" dirty="0"/>
              <a:t>: Two words are similar if they co-occur with similar words.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u="sng" dirty="0"/>
              <a:t>Definition 2</a:t>
            </a:r>
            <a:r>
              <a:rPr lang="en-GB" dirty="0"/>
              <a:t>: Two words are similar if they occur in a given grammatical relation with the same words.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Co-occurrence based is more robust, grammatical relations are more accurate.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None/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14015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2103"/>
            <a:ext cx="11066929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Co-occurrence Thesaurus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699"/>
            <a:ext cx="10726271" cy="478319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Simplest way to compute one is based on term-term similarities in C = AA</a:t>
            </a:r>
            <a:r>
              <a:rPr lang="en-GB" baseline="30000" dirty="0"/>
              <a:t>T</a:t>
            </a:r>
            <a:r>
              <a:rPr lang="en-GB" dirty="0"/>
              <a:t> where A is term-document matrix.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 err="1"/>
              <a:t>w</a:t>
            </a:r>
            <a:r>
              <a:rPr lang="en-GB" baseline="-25000" dirty="0" err="1"/>
              <a:t>i,j</a:t>
            </a:r>
            <a:r>
              <a:rPr lang="en-GB" dirty="0"/>
              <a:t> = (normalized) weight for (</a:t>
            </a:r>
            <a:r>
              <a:rPr lang="en-GB" dirty="0" err="1"/>
              <a:t>t</a:t>
            </a:r>
            <a:r>
              <a:rPr lang="en-GB" baseline="-25000" dirty="0" err="1"/>
              <a:t>i</a:t>
            </a:r>
            <a:r>
              <a:rPr lang="en-GB" dirty="0"/>
              <a:t> ,</a:t>
            </a:r>
            <a:r>
              <a:rPr lang="en-GB" dirty="0" err="1"/>
              <a:t>d</a:t>
            </a:r>
            <a:r>
              <a:rPr lang="en-GB" baseline="-25000" dirty="0" err="1"/>
              <a:t>j</a:t>
            </a:r>
            <a:r>
              <a:rPr lang="en-GB" dirty="0"/>
              <a:t>)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For each </a:t>
            </a:r>
            <a:r>
              <a:rPr lang="en-GB" dirty="0" err="1"/>
              <a:t>t</a:t>
            </a:r>
            <a:r>
              <a:rPr lang="en-GB" baseline="-25000" dirty="0" err="1"/>
              <a:t>i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pick terms with high values in C. </a:t>
            </a:r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None/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sz="2200" baseline="30000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106732" y="135531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RETRIEVAL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B23B34-B7AC-B6C7-359D-6087E22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808259" y="6477994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29878B-E5A4-43BD-8562-587F4FAE5E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zh-TW" sz="1200" dirty="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DB4597-0FB5-4BEB-8522-412EA944B77B}"/>
              </a:ext>
            </a:extLst>
          </p:cNvPr>
          <p:cNvGrpSpPr/>
          <p:nvPr/>
        </p:nvGrpSpPr>
        <p:grpSpPr>
          <a:xfrm>
            <a:off x="3543300" y="2900082"/>
            <a:ext cx="5105400" cy="2697163"/>
            <a:chOff x="762000" y="2819400"/>
            <a:chExt cx="5105400" cy="2697163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95FBA6CF-DD92-833F-1EDE-5AA6CAC19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306763"/>
              <a:ext cx="4648200" cy="220980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Lucida Sans" charset="0"/>
              </a:endParaRP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6B16406A-7388-7ED5-5A13-BF3D1C32D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916363"/>
              <a:ext cx="4648200" cy="2286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PMingLiU" panose="02020500000000000000" pitchFamily="18" charset="-120"/>
              </a:endParaRPr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8EC10D5A-5742-E994-D436-D9F173F18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38100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Tahoma" panose="020B0604030504040204" pitchFamily="34" charset="0"/>
                  <a:ea typeface="SimSun" panose="02010600030101010101" pitchFamily="2" charset="-122"/>
                </a:rPr>
                <a:t>t</a:t>
              </a:r>
              <a:r>
                <a:rPr lang="en-US" altLang="zh-CN" sz="2400" i="1" baseline="-25000">
                  <a:latin typeface="Tahoma" panose="020B0604030504040204" pitchFamily="34" charset="0"/>
                  <a:ea typeface="SimSun" panose="02010600030101010101" pitchFamily="2" charset="-122"/>
                </a:rPr>
                <a:t>i</a:t>
              </a:r>
              <a:endParaRPr lang="en-US" altLang="zh-CN" sz="2400" i="1">
                <a:latin typeface="Tahoma" panose="020B060403050404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522CB053-531A-BA8C-F980-B5BFEAE91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306763"/>
              <a:ext cx="228600" cy="22098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PMingLiU" panose="02020500000000000000" pitchFamily="18" charset="-120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663C6C1D-B9A8-57BA-0C17-787931FD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916363"/>
              <a:ext cx="228600" cy="228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PMingLiU" panose="02020500000000000000" pitchFamily="18" charset="-120"/>
              </a:endParaRPr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698FF0F4-E857-B657-C51A-20CF2C89A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2819400"/>
              <a:ext cx="685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i="1">
                  <a:latin typeface="Tahoma" panose="020B0604030504040204" pitchFamily="34" charset="0"/>
                  <a:ea typeface="SimSun" panose="02010600030101010101" pitchFamily="2" charset="-122"/>
                </a:rPr>
                <a:t>d</a:t>
              </a:r>
              <a:r>
                <a:rPr lang="en-US" altLang="zh-CN" sz="2400" i="1" baseline="-25000">
                  <a:latin typeface="Tahoma" panose="020B0604030504040204" pitchFamily="34" charset="0"/>
                  <a:ea typeface="SimSun" panose="02010600030101010101" pitchFamily="2" charset="-122"/>
                </a:rPr>
                <a:t>j</a:t>
              </a:r>
              <a:endParaRPr lang="en-US" altLang="zh-CN" sz="2400" i="1">
                <a:latin typeface="Tahoma" panose="020B0604030504040204" pitchFamily="34" charset="0"/>
                <a:ea typeface="SimSun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000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3578</TotalTime>
  <Words>2669</Words>
  <Application>Microsoft Office PowerPoint</Application>
  <PresentationFormat>Widescreen</PresentationFormat>
  <Paragraphs>1298</Paragraphs>
  <Slides>49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49</vt:i4>
      </vt:variant>
    </vt:vector>
  </HeadingPairs>
  <TitlesOfParts>
    <vt:vector size="64" baseType="lpstr">
      <vt:lpstr>Arial</vt:lpstr>
      <vt:lpstr>Arial Unicode MS</vt:lpstr>
      <vt:lpstr>Calibri</vt:lpstr>
      <vt:lpstr>Calibri Light</vt:lpstr>
      <vt:lpstr>Comic Sans MS</vt:lpstr>
      <vt:lpstr>Courier New</vt:lpstr>
      <vt:lpstr>Lucida Sans</vt:lpstr>
      <vt:lpstr>Tahoma</vt:lpstr>
      <vt:lpstr>Times New Roman</vt:lpstr>
      <vt:lpstr>Office Theme</vt:lpstr>
      <vt:lpstr>Microsoft Word 97 - 2004 Document</vt:lpstr>
      <vt:lpstr>Microsoft Excel 97 - 2004 Worksheet</vt:lpstr>
      <vt:lpstr>Microsoft Equation</vt:lpstr>
      <vt:lpstr>Equation</vt:lpstr>
      <vt:lpstr>Microsoft Equation 3.0</vt:lpstr>
      <vt:lpstr>NATURAL LANGUAGE PROCESSING (NLP)</vt:lpstr>
      <vt:lpstr>Definition</vt:lpstr>
      <vt:lpstr>Basic assumptions of Information Retrieval</vt:lpstr>
      <vt:lpstr>The classic search model</vt:lpstr>
      <vt:lpstr>Inverted index</vt:lpstr>
      <vt:lpstr>Inverted index</vt:lpstr>
      <vt:lpstr>Query processing: AND</vt:lpstr>
      <vt:lpstr>The merge</vt:lpstr>
      <vt:lpstr>Intersecting two postings lists (a “merge” algorithm)</vt:lpstr>
      <vt:lpstr>Boolean queries: Exact match</vt:lpstr>
      <vt:lpstr>Phrase queries</vt:lpstr>
      <vt:lpstr>Positional indexes</vt:lpstr>
      <vt:lpstr>Processing a phrase query</vt:lpstr>
      <vt:lpstr>Index Compression</vt:lpstr>
      <vt:lpstr>Dictionary compression</vt:lpstr>
      <vt:lpstr>Dictionary compression</vt:lpstr>
      <vt:lpstr>Dictionary compression</vt:lpstr>
      <vt:lpstr>Dictionary compression</vt:lpstr>
      <vt:lpstr>Dictionary compression</vt:lpstr>
      <vt:lpstr>Postings compression</vt:lpstr>
      <vt:lpstr>Postings compression</vt:lpstr>
      <vt:lpstr>Ranked retrieval</vt:lpstr>
      <vt:lpstr>Scoring as the basis of ranked retrieval</vt:lpstr>
      <vt:lpstr>Weight matrix</vt:lpstr>
      <vt:lpstr>Documents as vectors</vt:lpstr>
      <vt:lpstr>Queries as vectors</vt:lpstr>
      <vt:lpstr>Why distance is a bad idea?</vt:lpstr>
      <vt:lpstr>Use angle instead of distance</vt:lpstr>
      <vt:lpstr>From angles to cosines</vt:lpstr>
      <vt:lpstr>cosine(query, document)</vt:lpstr>
      <vt:lpstr>Computing cosine scores</vt:lpstr>
      <vt:lpstr>Spell correction</vt:lpstr>
      <vt:lpstr>Isolated word correction</vt:lpstr>
      <vt:lpstr>Isolated word correction</vt:lpstr>
      <vt:lpstr>Edit distance</vt:lpstr>
      <vt:lpstr>Edit distance</vt:lpstr>
      <vt:lpstr>n-gram overlap</vt:lpstr>
      <vt:lpstr>Example with trigrams</vt:lpstr>
      <vt:lpstr>Jaccard coefficient</vt:lpstr>
      <vt:lpstr>Context-sensitive spell correction</vt:lpstr>
      <vt:lpstr>Context-sensitive spell correction</vt:lpstr>
      <vt:lpstr>Query expansion</vt:lpstr>
      <vt:lpstr>Relevance Feedback</vt:lpstr>
      <vt:lpstr>Key concept: Centroid</vt:lpstr>
      <vt:lpstr>Rocchio 1971 Algorithm (SMART)</vt:lpstr>
      <vt:lpstr>Query Expansion</vt:lpstr>
      <vt:lpstr>Thesaurus-based query expansion</vt:lpstr>
      <vt:lpstr>Automatic Thesaurus Generation</vt:lpstr>
      <vt:lpstr>Co-occurrence Thesaurus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  TECHNOLOGY AND MANAGEMENT</dc:title>
  <dc:creator>Quoc Dinh</dc:creator>
  <cp:lastModifiedBy>Quoc Dinh Truong</cp:lastModifiedBy>
  <cp:revision>445</cp:revision>
  <dcterms:created xsi:type="dcterms:W3CDTF">2023-02-12T07:59:05Z</dcterms:created>
  <dcterms:modified xsi:type="dcterms:W3CDTF">2023-10-07T15:11:26Z</dcterms:modified>
</cp:coreProperties>
</file>