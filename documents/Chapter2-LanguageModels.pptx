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6" r:id="rId4"/>
    <p:sldId id="327" r:id="rId5"/>
    <p:sldId id="328" r:id="rId6"/>
    <p:sldId id="329" r:id="rId7"/>
    <p:sldId id="350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8" r:id="rId25"/>
    <p:sldId id="279" r:id="rId26"/>
    <p:sldId id="280" r:id="rId27"/>
    <p:sldId id="281" r:id="rId28"/>
    <p:sldId id="282" r:id="rId29"/>
    <p:sldId id="291" r:id="rId30"/>
    <p:sldId id="292" r:id="rId31"/>
    <p:sldId id="293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4" r:id="rId41"/>
    <p:sldId id="295" r:id="rId42"/>
    <p:sldId id="296" r:id="rId43"/>
    <p:sldId id="297" r:id="rId44"/>
    <p:sldId id="330" r:id="rId45"/>
    <p:sldId id="298" r:id="rId46"/>
    <p:sldId id="302" r:id="rId47"/>
    <p:sldId id="305" r:id="rId48"/>
    <p:sldId id="303" r:id="rId49"/>
    <p:sldId id="304" r:id="rId50"/>
    <p:sldId id="306" r:id="rId51"/>
    <p:sldId id="307" r:id="rId52"/>
    <p:sldId id="308" r:id="rId53"/>
    <p:sldId id="316" r:id="rId54"/>
    <p:sldId id="331" r:id="rId55"/>
    <p:sldId id="299" r:id="rId56"/>
    <p:sldId id="300" r:id="rId57"/>
    <p:sldId id="310" r:id="rId58"/>
    <p:sldId id="311" r:id="rId59"/>
    <p:sldId id="322" r:id="rId60"/>
    <p:sldId id="323" r:id="rId61"/>
    <p:sldId id="324" r:id="rId62"/>
    <p:sldId id="325" r:id="rId63"/>
    <p:sldId id="318" r:id="rId64"/>
    <p:sldId id="321" r:id="rId65"/>
    <p:sldId id="319" r:id="rId66"/>
    <p:sldId id="320" r:id="rId67"/>
    <p:sldId id="332" r:id="rId68"/>
    <p:sldId id="333" r:id="rId69"/>
    <p:sldId id="335" r:id="rId70"/>
    <p:sldId id="334" r:id="rId71"/>
    <p:sldId id="341" r:id="rId72"/>
    <p:sldId id="342" r:id="rId73"/>
    <p:sldId id="343" r:id="rId74"/>
    <p:sldId id="344" r:id="rId75"/>
    <p:sldId id="345" r:id="rId76"/>
    <p:sldId id="349" r:id="rId77"/>
    <p:sldId id="338" r:id="rId78"/>
    <p:sldId id="339" r:id="rId79"/>
    <p:sldId id="340" r:id="rId80"/>
    <p:sldId id="346" r:id="rId81"/>
    <p:sldId id="347" r:id="rId82"/>
    <p:sldId id="348" r:id="rId83"/>
    <p:sldId id="351" r:id="rId84"/>
    <p:sldId id="352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E99A-335F-ED7F-86D0-0B7CF2470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F235E-5D24-0BE9-BF11-46BFC2709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0A96E-2860-BCD7-F55B-182014DA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773D-AE93-A02A-6965-7C74FB6B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E86D-A9FC-290D-6781-4C389E1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6FF6-DEE9-493C-E46D-63782C4D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515600" cy="83944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DE08-2A33-6A3B-E103-AC51002E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1"/>
            <a:ext cx="10515600" cy="435133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F7C3-2FAB-C484-6315-F827735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7E93-8C4D-FD47-B07A-22F7D009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216EA-0442-6D89-117E-5485D9FC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AAF8C-4CA0-2153-4719-8AF166288AFE}"/>
              </a:ext>
            </a:extLst>
          </p:cNvPr>
          <p:cNvSpPr/>
          <p:nvPr userDrawn="1"/>
        </p:nvSpPr>
        <p:spPr>
          <a:xfrm>
            <a:off x="0" y="0"/>
            <a:ext cx="12192000" cy="523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9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8A4C-8204-6892-A09E-93E12171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46984-56F7-FA99-F48E-9FFF651E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DBE8-1C5B-5755-6697-4F6DE5C6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4E5E-8A2C-A43B-539B-287BA13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9404-F36E-F7DF-BEA1-AA9319B8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94AD-360A-D577-B7C0-AB00A171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1603-89C1-FC93-C87D-DD9F0D6A6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0A722-2683-C5C6-9D61-A6F686EAF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A4CA-41F0-60AE-1281-2E910DD1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C1F4D-154D-575F-8F99-9FABDADA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2F91-3C80-21AE-32FD-C0349F95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BBF8-5359-6895-E013-43D0C721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E158-3737-B86B-240F-B8B6D498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6613-850C-5C90-AB92-370A1F59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1CBEE-EA50-17F4-B300-978008091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7B828-9D0D-FC4E-21DE-7001E2443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38E6C-D003-7D42-7A48-1DA927B6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A02F-4800-8F6A-4D1C-50504BF0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5F13F-2A3C-9EE2-DA73-1FA914FC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7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BA8C-9F64-2902-6899-1DCCA67D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32632-7821-FEA0-46B4-428643F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61020-63D4-EA2B-3CE2-C4EA6490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CD84-094F-B6C6-317E-5397DFC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C4B82-FAAF-A638-CC82-C5CF85E6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E16BB-B1CE-47C0-4CA3-98A8429C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CB38-CA25-25F3-A28C-96974122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7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9FC1-F1B4-935D-223B-FF9026DE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0D69-EDE1-5722-D309-DB74E5D2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7919C-0284-8FC2-8AF8-E25D25F80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10F71-DD33-A945-40E5-157809B8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940B1-4E0A-86FD-DB63-FA2EDE62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E100-F3B2-E810-C9C7-B346E02C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DE2E-D7A6-EB4A-7B77-F1EE606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0C683-9447-7295-1D95-CA429675F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55656-3260-BA45-D5C5-A4A906CA3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30B4-C7E4-49A2-E68D-EBC17442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7556-ED10-0DAB-114D-AE364E1E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30525-5767-96D8-DA6E-C5791240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7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308-92A2-CD96-E4A7-5ACC420F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02245-9478-3604-C050-B4F9826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ADED-100D-52F8-4EE0-793837A6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5FC5C-2137-AE4A-4950-01E70865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C086-2164-BAE9-81EE-35F0E9B9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3CDAD-A588-4656-1B11-CBEBBDB72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442F-AFBA-259D-DAE7-29B627B16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B83D2-2AD9-3F78-ED0E-E4444D2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4F7E-85E4-FC71-7083-0D75E158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1AD8-951D-1067-551D-B82ED41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23170-379D-8CDF-FE8D-D3AE2C26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EF52-E98F-D16B-0738-A8D2E7E5D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30B8-00DE-D6C8-0398-7AAA7AFE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B2EA0-E1B1-43E6-876E-C527C1A5BF5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018A-AECB-D062-3BFC-E27F832CD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597D-92D6-84ED-B67D-23F22CD10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685F-167A-9803-8F39-BA4F09949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64" y="884049"/>
            <a:ext cx="11397007" cy="14323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B5F2-AD2D-4D4A-9903-17DF5CFC1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795" y="2819614"/>
            <a:ext cx="10202944" cy="1655762"/>
          </a:xfrm>
        </p:spPr>
        <p:txBody>
          <a:bodyPr/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Chapter 2: LANGUAGE MODELS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BB6B7B-B524-7EBB-585A-DB0BAABB3569}"/>
              </a:ext>
            </a:extLst>
          </p:cNvPr>
          <p:cNvSpPr txBox="1">
            <a:spLocks/>
          </p:cNvSpPr>
          <p:nvPr/>
        </p:nvSpPr>
        <p:spPr>
          <a:xfrm>
            <a:off x="304800" y="5009496"/>
            <a:ext cx="1170790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Trương Quốc Định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Systems – College of Information &amp; Communication Technology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2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Many NLP tasks return output in natural language</a:t>
            </a:r>
          </a:p>
          <a:p>
            <a:pPr lvl="1" algn="just"/>
            <a:r>
              <a:rPr lang="en-GB" dirty="0"/>
              <a:t>Machine translation</a:t>
            </a:r>
          </a:p>
          <a:p>
            <a:pPr lvl="1" algn="just"/>
            <a:r>
              <a:rPr lang="en-GB" dirty="0"/>
              <a:t>Speech recognition</a:t>
            </a:r>
          </a:p>
          <a:p>
            <a:pPr lvl="1" algn="just"/>
            <a:r>
              <a:rPr lang="en-GB" dirty="0"/>
              <a:t>Natural language generation</a:t>
            </a:r>
          </a:p>
          <a:p>
            <a:pPr lvl="1" algn="just"/>
            <a:r>
              <a:rPr lang="en-GB" dirty="0"/>
              <a:t>Spell-checking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Language models</a:t>
            </a:r>
            <a:r>
              <a:rPr lang="en-GB" dirty="0"/>
              <a:t> define </a:t>
            </a:r>
            <a:r>
              <a:rPr lang="en-GB" i="1" dirty="0">
                <a:solidFill>
                  <a:srgbClr val="FF0000"/>
                </a:solidFill>
              </a:rPr>
              <a:t>probability distributions over</a:t>
            </a:r>
            <a:r>
              <a:rPr lang="en-GB" dirty="0"/>
              <a:t> (natural language) </a:t>
            </a:r>
            <a:r>
              <a:rPr lang="en-GB" i="1" dirty="0">
                <a:solidFill>
                  <a:srgbClr val="FF0000"/>
                </a:solidFill>
              </a:rPr>
              <a:t>strings or sentences</a:t>
            </a:r>
            <a:r>
              <a:rPr lang="en-GB" dirty="0"/>
              <a:t>.</a:t>
            </a:r>
          </a:p>
          <a:p>
            <a:pPr algn="just"/>
            <a:r>
              <a:rPr lang="en-GB" dirty="0"/>
              <a:t>We can use them to </a:t>
            </a:r>
            <a:r>
              <a:rPr lang="en-GB" i="1" dirty="0">
                <a:solidFill>
                  <a:srgbClr val="FF0000"/>
                </a:solidFill>
              </a:rPr>
              <a:t>score/rank possible sentences</a:t>
            </a:r>
          </a:p>
          <a:p>
            <a:pPr lvl="1" algn="just"/>
            <a:r>
              <a:rPr lang="en-GB" dirty="0"/>
              <a:t>If P</a:t>
            </a:r>
            <a:r>
              <a:rPr lang="en-GB" baseline="-25000" dirty="0"/>
              <a:t>LM</a:t>
            </a:r>
            <a:r>
              <a:rPr lang="en-GB" dirty="0"/>
              <a:t>(A) &gt; P</a:t>
            </a:r>
            <a:r>
              <a:rPr lang="en-GB" baseline="-25000" dirty="0"/>
              <a:t>LM</a:t>
            </a:r>
            <a:r>
              <a:rPr lang="en-GB" dirty="0"/>
              <a:t>(B), </a:t>
            </a:r>
            <a:r>
              <a:rPr lang="en-GB" dirty="0">
                <a:solidFill>
                  <a:srgbClr val="00B050"/>
                </a:solidFill>
              </a:rPr>
              <a:t>choose sentence A</a:t>
            </a:r>
            <a:r>
              <a:rPr lang="en-GB" dirty="0"/>
              <a:t> over B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9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9E64-5C89-C38C-5D25-01140017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E0F0-6DFA-C057-4B0A-DC8404F9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modeling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D94F-7D6E-3075-5486-F4037BDD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E3D40-686F-45D3-74D1-4FE6EB3FCA18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9DB8E-8276-569F-DB13-41A59D4AF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9998"/>
            <a:ext cx="4734586" cy="1629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16967-FB7C-1C67-6367-F444E66DD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4639"/>
            <a:ext cx="6059709" cy="2324980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836E6921-93B0-37A9-B7E5-58E7704146C0}"/>
              </a:ext>
            </a:extLst>
          </p:cNvPr>
          <p:cNvSpPr/>
          <p:nvPr/>
        </p:nvSpPr>
        <p:spPr>
          <a:xfrm>
            <a:off x="494522" y="5794310"/>
            <a:ext cx="2799184" cy="839448"/>
          </a:xfrm>
          <a:prstGeom prst="cloudCallout">
            <a:avLst>
              <a:gd name="adj1" fmla="val 8834"/>
              <a:gd name="adj2" fmla="val -13312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11328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5D43-6262-0D13-BE1E-0A5A5AF2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6919-9C62-6A85-0425-43C6964A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modeling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EC982-7A64-67A7-54C0-47CB5935B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This language models form </a:t>
            </a:r>
            <a:r>
              <a:rPr lang="en-GB" dirty="0">
                <a:solidFill>
                  <a:srgbClr val="FF0000"/>
                </a:solidFill>
              </a:rPr>
              <a:t>can generate text</a:t>
            </a:r>
          </a:p>
          <a:p>
            <a:pPr lvl="1" algn="just"/>
            <a:r>
              <a:rPr lang="en-GB" dirty="0"/>
              <a:t> At each timestep, sample </a:t>
            </a:r>
            <a:r>
              <a:rPr lang="en-GB" dirty="0">
                <a:solidFill>
                  <a:srgbClr val="00B050"/>
                </a:solidFill>
              </a:rPr>
              <a:t>a token</a:t>
            </a:r>
            <a:r>
              <a:rPr lang="en-GB" dirty="0"/>
              <a:t> from the language model’s </a:t>
            </a:r>
            <a:r>
              <a:rPr lang="en-GB" dirty="0">
                <a:solidFill>
                  <a:srgbClr val="00B050"/>
                </a:solidFill>
              </a:rPr>
              <a:t>new probability</a:t>
            </a:r>
            <a:r>
              <a:rPr lang="en-GB" dirty="0"/>
              <a:t> distribution over next tokens.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55AFD-4F11-A95D-D7CF-83B9E858DEEE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0912F9-9C02-F76E-B1A7-88F0F97F3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78" y="3496990"/>
            <a:ext cx="6526044" cy="278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1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0C10-393F-8EA4-27E6-6A9ADA1A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61B5-CA7B-FAC7-A247-43949188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Language models play the role of 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A9A50-8EB0-FE81-0E03-E5E73985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a judge of </a:t>
            </a:r>
            <a:r>
              <a:rPr lang="en-GB" dirty="0">
                <a:solidFill>
                  <a:srgbClr val="FF0000"/>
                </a:solidFill>
              </a:rPr>
              <a:t>grammaticality</a:t>
            </a:r>
          </a:p>
          <a:p>
            <a:pPr lvl="1" algn="just"/>
            <a:r>
              <a:rPr lang="en-GB" dirty="0"/>
              <a:t>e.g., should prefer </a:t>
            </a:r>
            <a:r>
              <a:rPr lang="en-GB" dirty="0">
                <a:solidFill>
                  <a:srgbClr val="0070C0"/>
                </a:solidFill>
              </a:rPr>
              <a:t>“The boy runs.”</a:t>
            </a:r>
            <a:r>
              <a:rPr lang="en-GB" dirty="0"/>
              <a:t> to “The boy run.”</a:t>
            </a:r>
          </a:p>
          <a:p>
            <a:pPr algn="just"/>
            <a:r>
              <a:rPr lang="en-GB" dirty="0"/>
              <a:t>a judge of </a:t>
            </a:r>
            <a:r>
              <a:rPr lang="en-GB" dirty="0">
                <a:solidFill>
                  <a:srgbClr val="FF0000"/>
                </a:solidFill>
              </a:rPr>
              <a:t>semantic plausibility</a:t>
            </a:r>
          </a:p>
          <a:p>
            <a:pPr lvl="1" algn="just"/>
            <a:r>
              <a:rPr lang="en-GB" dirty="0"/>
              <a:t>e.g., should prefer </a:t>
            </a:r>
            <a:r>
              <a:rPr lang="en-GB" dirty="0">
                <a:solidFill>
                  <a:srgbClr val="0070C0"/>
                </a:solidFill>
              </a:rPr>
              <a:t>“The woman spoke.”</a:t>
            </a:r>
            <a:r>
              <a:rPr lang="en-GB" dirty="0"/>
              <a:t> to “The sandwich spoke.”</a:t>
            </a:r>
          </a:p>
          <a:p>
            <a:pPr algn="just"/>
            <a:r>
              <a:rPr lang="en-GB" dirty="0"/>
              <a:t>an enforcer of </a:t>
            </a:r>
            <a:r>
              <a:rPr lang="en-GB" dirty="0">
                <a:solidFill>
                  <a:srgbClr val="FF0000"/>
                </a:solidFill>
              </a:rPr>
              <a:t>stylistic consistency</a:t>
            </a:r>
          </a:p>
          <a:p>
            <a:pPr lvl="1" algn="just"/>
            <a:r>
              <a:rPr lang="en-GB" dirty="0"/>
              <a:t>e.g., should prefer </a:t>
            </a:r>
            <a:r>
              <a:rPr lang="en-GB" dirty="0">
                <a:solidFill>
                  <a:srgbClr val="0070C0"/>
                </a:solidFill>
              </a:rPr>
              <a:t>“Hello, how are you this evening? Fine, thanks, how are you?”</a:t>
            </a:r>
            <a:r>
              <a:rPr lang="en-GB" dirty="0"/>
              <a:t> to </a:t>
            </a:r>
          </a:p>
          <a:p>
            <a:pPr marL="457200" lvl="1" indent="0" algn="just">
              <a:buNone/>
            </a:pPr>
            <a:r>
              <a:rPr lang="en-GB" dirty="0"/>
              <a:t>“Hello, how are you this evening? Has your house ever been burgled?”</a:t>
            </a:r>
          </a:p>
          <a:p>
            <a:pPr algn="just"/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repository of knowledge (?)</a:t>
            </a:r>
          </a:p>
          <a:p>
            <a:pPr lvl="1" algn="just"/>
            <a:r>
              <a:rPr lang="en-GB" dirty="0"/>
              <a:t>e.g., “Barack Obama was the 44th President of the United States”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DDDC1-E4D8-8B14-1E96-0E99744872CA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27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93DF-0834-746D-9A1E-54CE71F7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E765-44BE-E903-79DF-E123EBC1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language modelling?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B2950-AD0E-B2F3-15E8-EFC7C1579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GB" dirty="0"/>
              <a:t>Machine translation</a:t>
            </a:r>
          </a:p>
          <a:p>
            <a:pPr lvl="1" algn="just"/>
            <a:r>
              <a:rPr lang="en-GB" dirty="0"/>
              <a:t>p(</a:t>
            </a:r>
            <a:r>
              <a:rPr lang="en-GB" dirty="0">
                <a:solidFill>
                  <a:srgbClr val="FF0000"/>
                </a:solidFill>
              </a:rPr>
              <a:t>strong winds</a:t>
            </a:r>
            <a:r>
              <a:rPr lang="en-GB" dirty="0"/>
              <a:t>) &gt; p(large winds)</a:t>
            </a:r>
          </a:p>
          <a:p>
            <a:pPr algn="just"/>
            <a:r>
              <a:rPr lang="en-GB" dirty="0"/>
              <a:t>Spelling correction</a:t>
            </a:r>
          </a:p>
          <a:p>
            <a:pPr lvl="1" algn="just"/>
            <a:r>
              <a:rPr lang="en-GB" dirty="0"/>
              <a:t>The office is about fifteen minuets from my house</a:t>
            </a:r>
          </a:p>
          <a:p>
            <a:pPr lvl="1" algn="just"/>
            <a:r>
              <a:rPr lang="en-GB" dirty="0"/>
              <a:t>p(</a:t>
            </a:r>
            <a:r>
              <a:rPr lang="en-GB" dirty="0">
                <a:solidFill>
                  <a:srgbClr val="FF0000"/>
                </a:solidFill>
              </a:rPr>
              <a:t>about fifteen minutes from</a:t>
            </a:r>
            <a:r>
              <a:rPr lang="en-GB" dirty="0"/>
              <a:t>)  &gt; p(about fifteen minuets from)</a:t>
            </a:r>
          </a:p>
          <a:p>
            <a:pPr algn="just"/>
            <a:r>
              <a:rPr lang="en-GB" dirty="0"/>
              <a:t>Speech recognition </a:t>
            </a:r>
          </a:p>
          <a:p>
            <a:pPr lvl="1" algn="just"/>
            <a:r>
              <a:rPr lang="en-GB" dirty="0"/>
              <a:t>p(</a:t>
            </a:r>
            <a:r>
              <a:rPr lang="en-GB" dirty="0">
                <a:solidFill>
                  <a:srgbClr val="FF0000"/>
                </a:solidFill>
              </a:rPr>
              <a:t>I saw a van</a:t>
            </a:r>
            <a:r>
              <a:rPr lang="en-GB" dirty="0"/>
              <a:t>) &gt;&gt; p(eyes awe of an) </a:t>
            </a:r>
          </a:p>
          <a:p>
            <a:pPr algn="just"/>
            <a:r>
              <a:rPr lang="en-GB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Summarization, question-answering, handwriting recognition, OCR, etc.</a:t>
            </a:r>
            <a:endParaRPr lang="en-US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EF30A-84B7-AD80-EFFF-D5FA4278B46C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2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69F0-E5EB-F8E5-74CE-A4140170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0146-3A28-F175-F747-A1803DF2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Language model evolution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5C167-4B8F-F5D7-97BD-49A5F199F243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FF420-2600-95F3-9D78-34C149669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33377-A3E0-5CF3-8A23-F56D83032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26" y="1813196"/>
            <a:ext cx="10316547" cy="424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59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Pick a random shape, then put it back in the bag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BE56BF-41A7-FFFC-2861-2FF3A714F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47" y="2654954"/>
            <a:ext cx="8596105" cy="38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9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GB" dirty="0">
                    <a:solidFill>
                      <a:srgbClr val="00B050"/>
                    </a:solidFill>
                  </a:rPr>
                  <a:t>Joint and Conditional Probability</a:t>
                </a:r>
              </a:p>
              <a:p>
                <a:pPr lvl="1" algn="just"/>
                <a:r>
                  <a:rPr lang="en-GB" dirty="0"/>
                  <a:t>The </a:t>
                </a:r>
                <a:r>
                  <a:rPr lang="en-GB" dirty="0">
                    <a:solidFill>
                      <a:srgbClr val="FF0000"/>
                    </a:solidFill>
                  </a:rPr>
                  <a:t>conditional probability of X given Y</a:t>
                </a:r>
                <a:r>
                  <a:rPr lang="en-GB" dirty="0"/>
                  <a:t>, </a:t>
                </a:r>
                <a:r>
                  <a:rPr lang="en-GB" i="1" dirty="0">
                    <a:solidFill>
                      <a:srgbClr val="FF0000"/>
                    </a:solidFill>
                  </a:rPr>
                  <a:t>P(X | Y)</a:t>
                </a:r>
                <a:r>
                  <a:rPr lang="en-GB" dirty="0"/>
                  <a:t> is defined in terms of the </a:t>
                </a:r>
                <a:r>
                  <a:rPr lang="en-GB" i="1" dirty="0">
                    <a:solidFill>
                      <a:srgbClr val="FF0000"/>
                    </a:solidFill>
                  </a:rPr>
                  <a:t>probability of Y</a:t>
                </a:r>
                <a:r>
                  <a:rPr lang="en-GB" dirty="0"/>
                  <a:t>, </a:t>
                </a:r>
                <a:r>
                  <a:rPr lang="en-GB" dirty="0">
                    <a:solidFill>
                      <a:srgbClr val="00B050"/>
                    </a:solidFill>
                  </a:rPr>
                  <a:t>P(Y)</a:t>
                </a:r>
                <a:r>
                  <a:rPr lang="en-GB" dirty="0"/>
                  <a:t> and the </a:t>
                </a:r>
                <a:r>
                  <a:rPr lang="en-GB" i="1" dirty="0">
                    <a:solidFill>
                      <a:srgbClr val="FF0000"/>
                    </a:solidFill>
                  </a:rPr>
                  <a:t>joint probability of X and Y</a:t>
                </a:r>
                <a:r>
                  <a:rPr lang="en-GB" dirty="0"/>
                  <a:t>, </a:t>
                </a:r>
                <a:r>
                  <a:rPr lang="en-GB" dirty="0">
                    <a:solidFill>
                      <a:srgbClr val="00B050"/>
                    </a:solidFill>
                  </a:rPr>
                  <a:t>P(X,Y)</a:t>
                </a:r>
                <a:r>
                  <a:rPr lang="en-GB" dirty="0"/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C52D9-AC69-1E0A-DF0C-74A706FAB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477" y="4406353"/>
            <a:ext cx="6287045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21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00B050"/>
                </a:solidFill>
              </a:rPr>
              <a:t>The chain rule</a:t>
            </a:r>
          </a:p>
          <a:p>
            <a:pPr lvl="1" algn="just"/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joint probability P(X,Y)</a:t>
            </a:r>
            <a:r>
              <a:rPr lang="en-GB" dirty="0"/>
              <a:t> can also be </a:t>
            </a:r>
            <a:r>
              <a:rPr lang="en-GB" i="1" dirty="0">
                <a:solidFill>
                  <a:srgbClr val="FF0000"/>
                </a:solidFill>
              </a:rPr>
              <a:t>expressed in terms of the conditional probability P(X | Y)</a:t>
            </a:r>
            <a:r>
              <a:rPr lang="en-GB" dirty="0"/>
              <a:t>.</a:t>
            </a:r>
          </a:p>
          <a:p>
            <a:pPr lvl="1" algn="just"/>
            <a:r>
              <a:rPr lang="es-ES" dirty="0"/>
              <a:t>P(X, Y) = P(X | Y) * P(Y)</a:t>
            </a:r>
          </a:p>
          <a:p>
            <a:pPr lvl="1" algn="just"/>
            <a:r>
              <a:rPr lang="en-GB" dirty="0"/>
              <a:t>This leads to the so-called </a:t>
            </a:r>
            <a:r>
              <a:rPr lang="en-GB" dirty="0">
                <a:solidFill>
                  <a:srgbClr val="00B050"/>
                </a:solidFill>
              </a:rPr>
              <a:t>chain rule</a:t>
            </a:r>
            <a:r>
              <a:rPr lang="en-GB" dirty="0"/>
              <a:t>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A845F6-84D3-A8D2-A975-1F92E3C9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29" y="4342224"/>
            <a:ext cx="8375106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3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00B050"/>
                </a:solidFill>
              </a:rPr>
              <a:t>Independence</a:t>
            </a:r>
          </a:p>
          <a:p>
            <a:pPr lvl="1" algn="just"/>
            <a:r>
              <a:rPr lang="en-GB" dirty="0"/>
              <a:t>Two random variables </a:t>
            </a:r>
            <a:r>
              <a:rPr lang="en-GB" dirty="0">
                <a:solidFill>
                  <a:srgbClr val="FF0000"/>
                </a:solidFill>
              </a:rPr>
              <a:t>X and Y are independent</a:t>
            </a:r>
            <a:r>
              <a:rPr lang="en-GB" dirty="0"/>
              <a:t> </a:t>
            </a:r>
            <a:r>
              <a:rPr lang="en-GB" i="1" dirty="0">
                <a:solidFill>
                  <a:srgbClr val="FF0000"/>
                </a:solidFill>
              </a:rPr>
              <a:t>if </a:t>
            </a:r>
            <a:r>
              <a:rPr lang="es-ES" i="1" dirty="0">
                <a:solidFill>
                  <a:srgbClr val="FF0000"/>
                </a:solidFill>
              </a:rPr>
              <a:t>P(X, Y) = P(X) * P(Y)</a:t>
            </a:r>
            <a:r>
              <a:rPr lang="es-ES" dirty="0"/>
              <a:t>.</a:t>
            </a:r>
          </a:p>
          <a:p>
            <a:pPr lvl="1" algn="just"/>
            <a:r>
              <a:rPr lang="en-GB" dirty="0">
                <a:solidFill>
                  <a:srgbClr val="FF0000"/>
                </a:solidFill>
              </a:rPr>
              <a:t>If X and Y are independent</a:t>
            </a:r>
            <a:r>
              <a:rPr lang="en-GB" dirty="0"/>
              <a:t>, </a:t>
            </a:r>
            <a:r>
              <a:rPr lang="en-GB" i="1" dirty="0">
                <a:solidFill>
                  <a:srgbClr val="00B050"/>
                </a:solidFill>
              </a:rPr>
              <a:t>then P(X | Y) = P(X)</a:t>
            </a:r>
            <a:endParaRPr lang="en-US" i="1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411364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Probability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Building</a:t>
            </a:r>
            <a:r>
              <a:rPr lang="en-GB" dirty="0"/>
              <a:t> a probability model consists of </a:t>
            </a:r>
            <a:r>
              <a:rPr lang="en-GB" dirty="0">
                <a:solidFill>
                  <a:srgbClr val="FF0000"/>
                </a:solidFill>
              </a:rPr>
              <a:t>two steps</a:t>
            </a:r>
            <a:r>
              <a:rPr lang="en-GB" dirty="0"/>
              <a:t>:</a:t>
            </a:r>
          </a:p>
          <a:p>
            <a:pPr lvl="1" algn="just"/>
            <a:r>
              <a:rPr lang="en-GB" dirty="0"/>
              <a:t>Defining the model</a:t>
            </a:r>
          </a:p>
          <a:p>
            <a:pPr lvl="1" algn="just"/>
            <a:r>
              <a:rPr lang="en-GB" dirty="0"/>
              <a:t>Estimating the model’s parameters (</a:t>
            </a:r>
            <a:r>
              <a:rPr lang="en-GB" dirty="0">
                <a:solidFill>
                  <a:srgbClr val="00B050"/>
                </a:solidFill>
              </a:rPr>
              <a:t>training/learning</a:t>
            </a:r>
            <a:r>
              <a:rPr lang="en-GB" dirty="0"/>
              <a:t>)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Models (almost)</a:t>
            </a:r>
            <a:r>
              <a:rPr lang="en-GB" dirty="0"/>
              <a:t> always make </a:t>
            </a:r>
            <a:r>
              <a:rPr lang="en-GB" i="1" dirty="0">
                <a:solidFill>
                  <a:srgbClr val="FF0000"/>
                </a:solidFill>
              </a:rPr>
              <a:t>independence assumptions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That is, even though X and Y are not actually independent, our model may treat them as independent.</a:t>
            </a:r>
          </a:p>
          <a:p>
            <a:pPr lvl="1" algn="just"/>
            <a:r>
              <a:rPr lang="en-GB" dirty="0"/>
              <a:t>This </a:t>
            </a:r>
            <a:r>
              <a:rPr lang="en-GB" i="1" dirty="0">
                <a:solidFill>
                  <a:srgbClr val="00B050"/>
                </a:solidFill>
              </a:rPr>
              <a:t>reduces the number of model parameters</a:t>
            </a:r>
            <a:r>
              <a:rPr lang="en-GB" dirty="0"/>
              <a:t> that we need to estimate (e.g. from n</a:t>
            </a:r>
            <a:r>
              <a:rPr lang="en-GB" baseline="30000" dirty="0"/>
              <a:t>2</a:t>
            </a:r>
            <a:r>
              <a:rPr lang="en-GB" dirty="0"/>
              <a:t> to 2n)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004910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modeling with n-grams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language model</a:t>
            </a:r>
            <a:r>
              <a:rPr lang="en-GB" dirty="0"/>
              <a:t> over a </a:t>
            </a:r>
            <a:r>
              <a:rPr lang="en-GB" dirty="0">
                <a:solidFill>
                  <a:srgbClr val="00B050"/>
                </a:solidFill>
              </a:rPr>
              <a:t>vocabulary V</a:t>
            </a:r>
            <a:r>
              <a:rPr lang="en-GB" dirty="0"/>
              <a:t> </a:t>
            </a:r>
            <a:r>
              <a:rPr lang="en-GB" i="1" dirty="0">
                <a:solidFill>
                  <a:srgbClr val="FF0000"/>
                </a:solidFill>
              </a:rPr>
              <a:t>assigns probabilities to strings</a:t>
            </a:r>
            <a:r>
              <a:rPr lang="en-GB" dirty="0"/>
              <a:t> drawn from V*.</a:t>
            </a:r>
          </a:p>
          <a:p>
            <a:pPr algn="just"/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n-gram language model</a:t>
            </a:r>
            <a:r>
              <a:rPr lang="en-GB" dirty="0"/>
              <a:t> assumes </a:t>
            </a:r>
            <a:r>
              <a:rPr lang="en-GB" dirty="0">
                <a:solidFill>
                  <a:srgbClr val="00B050"/>
                </a:solidFill>
              </a:rPr>
              <a:t>each word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depends only on the last n−1 words</a:t>
            </a:r>
            <a:endParaRPr lang="en-GB" dirty="0"/>
          </a:p>
          <a:p>
            <a:pPr lvl="1"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50072-F625-B8C2-6A58-4C2D978CB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61" y="3974852"/>
            <a:ext cx="8512278" cy="1036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D8FE2-1B6A-53CC-6AED-B59076490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861" y="5011261"/>
            <a:ext cx="8371141" cy="175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44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modeling with n-grams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GB" dirty="0"/>
          </a:p>
          <a:p>
            <a:pPr lvl="1"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95442-7952-61B3-517C-FAFEC389F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62" y="1887574"/>
            <a:ext cx="8346528" cy="203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32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Estimating N-gram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00B050"/>
                </a:solidFill>
              </a:rPr>
              <a:t>Bracket each sentence</a:t>
            </a:r>
            <a:r>
              <a:rPr lang="en-GB" dirty="0"/>
              <a:t> by special start and end symbols</a:t>
            </a:r>
          </a:p>
          <a:p>
            <a:pPr lvl="1" algn="just"/>
            <a:r>
              <a:rPr lang="en-GB" dirty="0"/>
              <a:t>&lt;s&gt; Alice was beginning to get very tired… &lt;/s&gt;</a:t>
            </a:r>
          </a:p>
          <a:p>
            <a:pPr algn="just"/>
            <a:r>
              <a:rPr lang="en-GB" dirty="0">
                <a:solidFill>
                  <a:srgbClr val="00B050"/>
                </a:solidFill>
              </a:rPr>
              <a:t>Count the frequency of each n-gram</a:t>
            </a:r>
            <a:endParaRPr lang="en-GB" dirty="0"/>
          </a:p>
          <a:p>
            <a:pPr lvl="1" algn="just"/>
            <a:r>
              <a:rPr lang="en-GB" dirty="0"/>
              <a:t>C (Alice) = 1, C (Alice was) = 1, …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Normalize these frequencies</a:t>
            </a:r>
            <a:r>
              <a:rPr lang="en-GB" dirty="0"/>
              <a:t> to </a:t>
            </a:r>
            <a:r>
              <a:rPr lang="en-GB" i="1" dirty="0">
                <a:solidFill>
                  <a:srgbClr val="FF0000"/>
                </a:solidFill>
              </a:rPr>
              <a:t>get the probability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3033FE-DE01-3E09-0DCE-DAB36ABE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961" y="4778772"/>
            <a:ext cx="4198536" cy="9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4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Estimating N-gram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Parameter estimation (training)</a:t>
            </a:r>
          </a:p>
          <a:p>
            <a:pPr lvl="1" algn="just"/>
            <a:r>
              <a:rPr lang="en-GB" dirty="0">
                <a:solidFill>
                  <a:srgbClr val="00B050"/>
                </a:solidFill>
              </a:rPr>
              <a:t>Parameters</a:t>
            </a:r>
            <a:r>
              <a:rPr lang="en-GB" dirty="0"/>
              <a:t>: </a:t>
            </a:r>
            <a:r>
              <a:rPr lang="en-GB" i="1" dirty="0">
                <a:solidFill>
                  <a:srgbClr val="00B050"/>
                </a:solidFill>
              </a:rPr>
              <a:t>the actual probabilities</a:t>
            </a:r>
            <a:r>
              <a:rPr lang="en-GB" dirty="0"/>
              <a:t> P(</a:t>
            </a:r>
            <a:r>
              <a:rPr lang="en-GB" dirty="0" err="1"/>
              <a:t>w</a:t>
            </a:r>
            <a:r>
              <a:rPr lang="en-GB" baseline="-25000" dirty="0" err="1"/>
              <a:t>i</a:t>
            </a:r>
            <a:r>
              <a:rPr lang="en-GB" dirty="0"/>
              <a:t> = ‘the’ | w</a:t>
            </a:r>
            <a:r>
              <a:rPr lang="en-GB" baseline="-25000" dirty="0"/>
              <a:t>i-1</a:t>
            </a:r>
            <a:r>
              <a:rPr lang="en-GB" dirty="0"/>
              <a:t> = ‘on’) = </a:t>
            </a:r>
            <a:r>
              <a:rPr lang="en-GB" dirty="0">
                <a:solidFill>
                  <a:srgbClr val="FF0000"/>
                </a:solidFill>
              </a:rPr>
              <a:t>???</a:t>
            </a:r>
          </a:p>
          <a:p>
            <a:pPr lvl="1" algn="just"/>
            <a:r>
              <a:rPr lang="en-GB" dirty="0"/>
              <a:t>We </a:t>
            </a:r>
            <a:r>
              <a:rPr lang="en-GB" dirty="0">
                <a:solidFill>
                  <a:srgbClr val="FF0000"/>
                </a:solidFill>
              </a:rPr>
              <a:t>need (a large amount of) text as training data</a:t>
            </a:r>
            <a:r>
              <a:rPr lang="en-GB" dirty="0"/>
              <a:t> to </a:t>
            </a:r>
            <a:r>
              <a:rPr lang="en-GB" i="1" dirty="0">
                <a:solidFill>
                  <a:srgbClr val="FF0000"/>
                </a:solidFill>
              </a:rPr>
              <a:t>estimate the parameters of a language model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The most basic estimation technique: </a:t>
            </a:r>
            <a:r>
              <a:rPr lang="en-GB" dirty="0">
                <a:solidFill>
                  <a:srgbClr val="00B050"/>
                </a:solidFill>
              </a:rPr>
              <a:t>relative frequency estimation</a:t>
            </a:r>
          </a:p>
          <a:p>
            <a:pPr lvl="2" algn="just"/>
            <a:r>
              <a:rPr lang="en-GB" dirty="0"/>
              <a:t>P(</a:t>
            </a:r>
            <a:r>
              <a:rPr lang="en-GB" dirty="0" err="1"/>
              <a:t>w</a:t>
            </a:r>
            <a:r>
              <a:rPr lang="en-GB" baseline="-25000" dirty="0" err="1"/>
              <a:t>i</a:t>
            </a:r>
            <a:r>
              <a:rPr lang="en-GB" dirty="0"/>
              <a:t> = ‘the’ | w</a:t>
            </a:r>
            <a:r>
              <a:rPr lang="en-GB" baseline="-25000" dirty="0"/>
              <a:t>i-1</a:t>
            </a:r>
            <a:r>
              <a:rPr lang="en-GB" dirty="0"/>
              <a:t> = ‘on’) = C(‘on the’) / C(‘on’)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471900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we use language models?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Independently of any application, we can use a </a:t>
            </a:r>
            <a:r>
              <a:rPr lang="en-GB" dirty="0">
                <a:solidFill>
                  <a:srgbClr val="FF0000"/>
                </a:solidFill>
              </a:rPr>
              <a:t>language model as a random sentence generator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Systems for applications such as machine translation, speech recognition, spell-checking, generation, </a:t>
            </a:r>
            <a:r>
              <a:rPr lang="en-GB" dirty="0">
                <a:solidFill>
                  <a:srgbClr val="00B050"/>
                </a:solidFill>
              </a:rPr>
              <a:t>often produce multiple candidate sentences as output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We prefer output sentences </a:t>
            </a:r>
            <a:r>
              <a:rPr lang="en-GB" dirty="0" err="1"/>
              <a:t>S</a:t>
            </a:r>
            <a:r>
              <a:rPr lang="en-GB" baseline="-25000" dirty="0" err="1"/>
              <a:t>Out</a:t>
            </a:r>
            <a:r>
              <a:rPr lang="en-GB" dirty="0"/>
              <a:t> that have a higher probability,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 err="1"/>
              <a:t>argmax</a:t>
            </a:r>
            <a:r>
              <a:rPr lang="en-GB" baseline="-25000" dirty="0" err="1"/>
              <a:t>SOut</a:t>
            </a:r>
            <a:r>
              <a:rPr lang="en-GB" dirty="0"/>
              <a:t> P(</a:t>
            </a:r>
            <a:r>
              <a:rPr lang="en-GB" dirty="0" err="1"/>
              <a:t>S</a:t>
            </a:r>
            <a:r>
              <a:rPr lang="en-GB" baseline="-25000" dirty="0" err="1"/>
              <a:t>Out</a:t>
            </a:r>
            <a:r>
              <a:rPr lang="en-GB" dirty="0"/>
              <a:t> | Input) = </a:t>
            </a:r>
            <a:r>
              <a:rPr lang="en-GB" dirty="0" err="1"/>
              <a:t>argmax</a:t>
            </a:r>
            <a:r>
              <a:rPr lang="en-GB" baseline="-25000" dirty="0" err="1"/>
              <a:t>SOut</a:t>
            </a:r>
            <a:r>
              <a:rPr lang="en-GB" dirty="0"/>
              <a:t> P(Input | </a:t>
            </a:r>
            <a:r>
              <a:rPr lang="en-GB" dirty="0" err="1"/>
              <a:t>S</a:t>
            </a:r>
            <a:r>
              <a:rPr lang="en-GB" baseline="-25000" dirty="0" err="1"/>
              <a:t>Out</a:t>
            </a:r>
            <a:r>
              <a:rPr lang="en-GB" dirty="0"/>
              <a:t>) * P(</a:t>
            </a:r>
            <a:r>
              <a:rPr lang="en-GB" dirty="0" err="1"/>
              <a:t>S</a:t>
            </a:r>
            <a:r>
              <a:rPr lang="en-GB" baseline="-25000" dirty="0" err="1"/>
              <a:t>Out</a:t>
            </a:r>
            <a:r>
              <a:rPr lang="en-GB" dirty="0"/>
              <a:t>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490654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n-gram models to generate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How do we sample from a distribution P(X |Y=y)?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Assume X has N possible outcomes (values): {x</a:t>
            </a:r>
            <a:r>
              <a:rPr lang="en-GB" baseline="-25000" dirty="0"/>
              <a:t>1</a:t>
            </a:r>
            <a:r>
              <a:rPr lang="en-GB" dirty="0"/>
              <a:t>, …, </a:t>
            </a:r>
            <a:r>
              <a:rPr lang="en-GB" dirty="0" err="1"/>
              <a:t>x</a:t>
            </a:r>
            <a:r>
              <a:rPr lang="en-GB" baseline="-25000" dirty="0" err="1"/>
              <a:t>N</a:t>
            </a:r>
            <a:r>
              <a:rPr lang="en-GB" dirty="0"/>
              <a:t>} and P(X=x</a:t>
            </a:r>
            <a:r>
              <a:rPr lang="en-GB" baseline="-25000" dirty="0"/>
              <a:t>i</a:t>
            </a:r>
            <a:r>
              <a:rPr lang="en-GB" dirty="0"/>
              <a:t> | Y=y) = p</a:t>
            </a:r>
            <a:r>
              <a:rPr lang="en-GB" baseline="-25000" dirty="0"/>
              <a:t>i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Divide the interval [0,1] into N smaller intervals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according to the probabilities of the outcomes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Generate a random number r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between 0 and 1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Return the x</a:t>
            </a:r>
            <a:r>
              <a:rPr lang="en-GB" baseline="-25000" dirty="0">
                <a:solidFill>
                  <a:srgbClr val="00B050"/>
                </a:solidFill>
              </a:rPr>
              <a:t>i</a:t>
            </a:r>
            <a:r>
              <a:rPr lang="en-GB" dirty="0"/>
              <a:t> </a:t>
            </a:r>
            <a:r>
              <a:rPr lang="en-GB" i="1" dirty="0">
                <a:solidFill>
                  <a:srgbClr val="FF0000"/>
                </a:solidFill>
              </a:rPr>
              <a:t>whose interval the number is in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289AB-2786-AF91-C91F-D7DD310D5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424" y="5350897"/>
            <a:ext cx="5441152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94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n-gram models to generate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Generating the Wall Street Journal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56C80D-268F-7BF3-18B5-5FB7270FC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09" y="2659793"/>
            <a:ext cx="7842982" cy="397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32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we evaluate models?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Define an evaluation metric</a:t>
            </a:r>
            <a:r>
              <a:rPr lang="en-GB" dirty="0"/>
              <a:t> (scoring function).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We will want to </a:t>
            </a:r>
            <a:r>
              <a:rPr lang="en-GB" dirty="0">
                <a:solidFill>
                  <a:srgbClr val="FF0000"/>
                </a:solidFill>
              </a:rPr>
              <a:t>measure how similar</a:t>
            </a:r>
            <a:r>
              <a:rPr lang="en-GB" dirty="0"/>
              <a:t> the </a:t>
            </a:r>
            <a:r>
              <a:rPr lang="en-GB" i="1" dirty="0">
                <a:solidFill>
                  <a:srgbClr val="FF0000"/>
                </a:solidFill>
              </a:rPr>
              <a:t>predictions</a:t>
            </a:r>
            <a:r>
              <a:rPr lang="en-GB" dirty="0"/>
              <a:t> of the model are to </a:t>
            </a:r>
            <a:r>
              <a:rPr lang="en-GB" i="1" dirty="0">
                <a:solidFill>
                  <a:srgbClr val="FF0000"/>
                </a:solidFill>
              </a:rPr>
              <a:t>real text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Train the model on a ‘seen’ training set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Perhaps: tune some parameters based on held-out data (disjoint from the training data, meant to emulate unseen data)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Test the model</a:t>
            </a:r>
            <a:r>
              <a:rPr lang="en-GB" dirty="0"/>
              <a:t> on an unseen test set (usually from the same source (e.g. WSJ) as the training data)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Test data must be disjoint from training and held-out data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Compare models by their scores.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885422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we evaluate models?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Intrinsic vs Extrinsic Evaluation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Intrinsic</a:t>
            </a:r>
            <a:r>
              <a:rPr lang="en-GB" dirty="0"/>
              <a:t> evaluation captures how </a:t>
            </a:r>
            <a:r>
              <a:rPr lang="en-GB" dirty="0">
                <a:solidFill>
                  <a:srgbClr val="00B050"/>
                </a:solidFill>
              </a:rPr>
              <a:t>well</a:t>
            </a:r>
            <a:r>
              <a:rPr lang="en-GB" dirty="0"/>
              <a:t> the model </a:t>
            </a:r>
            <a:r>
              <a:rPr lang="en-GB" dirty="0">
                <a:solidFill>
                  <a:srgbClr val="00B050"/>
                </a:solidFill>
              </a:rPr>
              <a:t>captures</a:t>
            </a:r>
            <a:r>
              <a:rPr lang="en-GB" dirty="0"/>
              <a:t> what it is </a:t>
            </a:r>
            <a:r>
              <a:rPr lang="en-GB" dirty="0">
                <a:solidFill>
                  <a:srgbClr val="00B050"/>
                </a:solidFill>
              </a:rPr>
              <a:t>supposed to capture</a:t>
            </a:r>
            <a:r>
              <a:rPr lang="en-GB" dirty="0"/>
              <a:t> (e.g. probabilities)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Extrinsic (task-based)</a:t>
            </a:r>
            <a:r>
              <a:rPr lang="en-GB" dirty="0"/>
              <a:t> evaluation captures how </a:t>
            </a:r>
            <a:r>
              <a:rPr lang="en-GB" dirty="0">
                <a:solidFill>
                  <a:srgbClr val="00B050"/>
                </a:solidFill>
              </a:rPr>
              <a:t>useful</a:t>
            </a:r>
            <a:r>
              <a:rPr lang="en-GB" dirty="0"/>
              <a:t> the model is </a:t>
            </a:r>
            <a:r>
              <a:rPr lang="en-GB" dirty="0">
                <a:solidFill>
                  <a:srgbClr val="00B050"/>
                </a:solidFill>
              </a:rPr>
              <a:t>in a particular task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06866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941424" cy="839448"/>
          </a:xfrm>
        </p:spPr>
        <p:txBody>
          <a:bodyPr>
            <a:normAutofit fontScale="90000"/>
          </a:bodyPr>
          <a:lstStyle/>
          <a:p>
            <a:r>
              <a:rPr lang="en-GB" dirty="0"/>
              <a:t>Intrinsic Evaluation of Language Models: Perplexity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Perplexity</a:t>
            </a:r>
            <a:r>
              <a:rPr lang="en-GB" dirty="0"/>
              <a:t> is the </a:t>
            </a:r>
            <a:r>
              <a:rPr lang="en-GB" i="1" dirty="0">
                <a:solidFill>
                  <a:srgbClr val="FF0000"/>
                </a:solidFill>
              </a:rPr>
              <a:t>inverse of the probability</a:t>
            </a:r>
            <a:r>
              <a:rPr lang="en-GB" dirty="0"/>
              <a:t> of the test set (as assigned by the language model), </a:t>
            </a:r>
            <a:r>
              <a:rPr lang="en-GB" i="1" dirty="0">
                <a:solidFill>
                  <a:srgbClr val="FF0000"/>
                </a:solidFill>
              </a:rPr>
              <a:t>normalized by the number of word tokens</a:t>
            </a:r>
            <a:r>
              <a:rPr lang="en-GB" dirty="0"/>
              <a:t> in the test set.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Language model </a:t>
            </a:r>
            <a:r>
              <a:rPr lang="en-GB" dirty="0">
                <a:solidFill>
                  <a:srgbClr val="FF0000"/>
                </a:solidFill>
              </a:rPr>
              <a:t>LM</a:t>
            </a:r>
            <a:r>
              <a:rPr lang="en-GB" baseline="-25000" dirty="0">
                <a:solidFill>
                  <a:srgbClr val="FF0000"/>
                </a:solidFill>
              </a:rPr>
              <a:t>1</a:t>
            </a:r>
            <a:r>
              <a:rPr lang="en-GB" dirty="0">
                <a:solidFill>
                  <a:srgbClr val="FF0000"/>
                </a:solidFill>
              </a:rPr>
              <a:t> is better than LM</a:t>
            </a:r>
            <a:r>
              <a:rPr lang="en-GB" baseline="-25000" dirty="0">
                <a:solidFill>
                  <a:srgbClr val="FF0000"/>
                </a:solidFill>
              </a:rPr>
              <a:t>2</a:t>
            </a:r>
            <a:r>
              <a:rPr lang="en-GB" dirty="0"/>
              <a:t> if </a:t>
            </a:r>
            <a:r>
              <a:rPr lang="en-GB" i="1" dirty="0">
                <a:solidFill>
                  <a:srgbClr val="FF0000"/>
                </a:solidFill>
              </a:rPr>
              <a:t>LM</a:t>
            </a:r>
            <a:r>
              <a:rPr lang="en-GB" i="1" baseline="-25000" dirty="0">
                <a:solidFill>
                  <a:srgbClr val="FF0000"/>
                </a:solidFill>
              </a:rPr>
              <a:t>1</a:t>
            </a:r>
            <a:r>
              <a:rPr lang="en-GB" i="1" dirty="0">
                <a:solidFill>
                  <a:srgbClr val="FF0000"/>
                </a:solidFill>
              </a:rPr>
              <a:t> assigns lower perplexity</a:t>
            </a:r>
            <a:r>
              <a:rPr lang="en-GB" dirty="0"/>
              <a:t> (= higher probability) to the test corpus w</a:t>
            </a:r>
            <a:r>
              <a:rPr lang="en-GB" baseline="-25000" dirty="0"/>
              <a:t>1</a:t>
            </a:r>
            <a:r>
              <a:rPr lang="en-GB" dirty="0"/>
              <a:t>…</a:t>
            </a:r>
            <a:r>
              <a:rPr lang="en-GB" dirty="0" err="1"/>
              <a:t>w</a:t>
            </a:r>
            <a:r>
              <a:rPr lang="en-GB" baseline="-25000" dirty="0" err="1"/>
              <a:t>N</a:t>
            </a:r>
            <a:endParaRPr lang="en-GB" baseline="-25000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perplexity of LM</a:t>
            </a:r>
            <a:r>
              <a:rPr lang="en-GB" baseline="-25000" dirty="0"/>
              <a:t>1</a:t>
            </a:r>
            <a:r>
              <a:rPr lang="en-GB" dirty="0"/>
              <a:t> and LM</a:t>
            </a:r>
            <a:r>
              <a:rPr lang="en-GB" baseline="-25000" dirty="0"/>
              <a:t>2</a:t>
            </a:r>
            <a:r>
              <a:rPr lang="en-GB" dirty="0"/>
              <a:t> can only be directly compared if both models use the same vocabulary.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294406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941424" cy="839448"/>
          </a:xfrm>
        </p:spPr>
        <p:txBody>
          <a:bodyPr>
            <a:normAutofit fontScale="90000"/>
          </a:bodyPr>
          <a:lstStyle/>
          <a:p>
            <a:r>
              <a:rPr lang="en-GB" dirty="0"/>
              <a:t>Intrinsic Evaluation of Language Models: Perplexity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361239-8689-5085-2B69-37B331AB2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78" y="1708282"/>
            <a:ext cx="10763468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24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/>
              <a:t>Extrinsic Evaluation of LMs: </a:t>
            </a:r>
            <a:r>
              <a:rPr lang="en-GB" dirty="0">
                <a:solidFill>
                  <a:srgbClr val="FF0000"/>
                </a:solidFill>
              </a:rPr>
              <a:t>Word Error Rate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Originally developed for speech recognition.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How much</a:t>
            </a:r>
            <a:r>
              <a:rPr lang="en-GB" dirty="0"/>
              <a:t> does the </a:t>
            </a:r>
            <a:r>
              <a:rPr lang="en-GB" dirty="0">
                <a:solidFill>
                  <a:srgbClr val="FF0000"/>
                </a:solidFill>
              </a:rPr>
              <a:t>predicted sequence of words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differ</a:t>
            </a:r>
            <a:r>
              <a:rPr lang="en-GB" dirty="0"/>
              <a:t> from the </a:t>
            </a:r>
            <a:r>
              <a:rPr lang="en-GB" dirty="0">
                <a:solidFill>
                  <a:srgbClr val="00B050"/>
                </a:solidFill>
              </a:rPr>
              <a:t>actual sequence of words</a:t>
            </a:r>
            <a:r>
              <a:rPr lang="en-GB" dirty="0"/>
              <a:t> in the correct transcript?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But </a:t>
            </a:r>
            <a:r>
              <a:rPr lang="en-GB" dirty="0">
                <a:solidFill>
                  <a:srgbClr val="00B050"/>
                </a:solidFill>
              </a:rPr>
              <a:t>unseen test data</a:t>
            </a:r>
            <a:r>
              <a:rPr lang="en-GB" dirty="0"/>
              <a:t> will contain unseen words.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F3FDE-670B-B33E-87E9-09D7B6D8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097" y="3883950"/>
            <a:ext cx="5829805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86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An approach with which we </a:t>
            </a:r>
            <a:r>
              <a:rPr lang="en-GB" dirty="0">
                <a:solidFill>
                  <a:srgbClr val="00B050"/>
                </a:solidFill>
              </a:rPr>
              <a:t>represent documents and words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It is defined as a </a:t>
            </a:r>
            <a:r>
              <a:rPr lang="en-GB" dirty="0">
                <a:solidFill>
                  <a:srgbClr val="00B050"/>
                </a:solidFill>
              </a:rPr>
              <a:t>numeric vector input</a:t>
            </a:r>
            <a:r>
              <a:rPr lang="en-GB" dirty="0"/>
              <a:t> that allows </a:t>
            </a:r>
            <a:r>
              <a:rPr lang="en-GB" i="1" dirty="0">
                <a:solidFill>
                  <a:srgbClr val="00B050"/>
                </a:solidFill>
              </a:rPr>
              <a:t>words with similar meanings to have the same representation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Word Embeddings</a:t>
            </a:r>
            <a:r>
              <a:rPr lang="en-GB" dirty="0"/>
              <a:t> in NLP is a technique where </a:t>
            </a:r>
            <a:r>
              <a:rPr lang="en-GB" dirty="0">
                <a:solidFill>
                  <a:srgbClr val="FF0000"/>
                </a:solidFill>
              </a:rPr>
              <a:t>individual words</a:t>
            </a:r>
            <a:r>
              <a:rPr lang="en-GB" dirty="0"/>
              <a:t> are </a:t>
            </a:r>
            <a:r>
              <a:rPr lang="en-GB" b="1" dirty="0">
                <a:solidFill>
                  <a:srgbClr val="FF0000"/>
                </a:solidFill>
              </a:rPr>
              <a:t>represented as real-valued vectors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in a lower-dimensional space</a:t>
            </a:r>
            <a:r>
              <a:rPr lang="en-GB" dirty="0"/>
              <a:t> and </a:t>
            </a:r>
            <a:r>
              <a:rPr lang="en-GB" i="1" dirty="0">
                <a:solidFill>
                  <a:srgbClr val="00B050"/>
                </a:solidFill>
              </a:rPr>
              <a:t>captures inter-word semantics</a:t>
            </a:r>
            <a:r>
              <a:rPr lang="en-GB" dirty="0"/>
              <a:t>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548202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Term frequency - Inverse document frequency (TF-IDF)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TF</a:t>
            </a:r>
            <a:r>
              <a:rPr lang="en-GB" dirty="0"/>
              <a:t> score measures the </a:t>
            </a:r>
            <a:r>
              <a:rPr lang="en-GB" dirty="0">
                <a:solidFill>
                  <a:srgbClr val="00B050"/>
                </a:solidFill>
              </a:rPr>
              <a:t>frequency of words in a particular document</a:t>
            </a:r>
            <a:r>
              <a:rPr lang="en-GB" dirty="0"/>
              <a:t>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IDF</a:t>
            </a:r>
            <a:r>
              <a:rPr lang="en-GB" dirty="0"/>
              <a:t> score measures the </a:t>
            </a:r>
            <a:r>
              <a:rPr lang="en-GB" dirty="0">
                <a:solidFill>
                  <a:srgbClr val="00B050"/>
                </a:solidFill>
              </a:rPr>
              <a:t>rarity of the words in the text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TF-IDF</a:t>
            </a:r>
            <a:r>
              <a:rPr lang="en-GB" dirty="0"/>
              <a:t> algorithm </a:t>
            </a:r>
            <a:r>
              <a:rPr lang="en-GB" dirty="0">
                <a:solidFill>
                  <a:srgbClr val="FF0000"/>
                </a:solidFill>
              </a:rPr>
              <a:t>is used</a:t>
            </a:r>
            <a:r>
              <a:rPr lang="en-GB" dirty="0"/>
              <a:t> in some tasks like </a:t>
            </a:r>
            <a:r>
              <a:rPr lang="en-GB" i="1" dirty="0">
                <a:solidFill>
                  <a:srgbClr val="FF0000"/>
                </a:solidFill>
              </a:rPr>
              <a:t>information retrieval, stop words removal, keyword extraction, and basic text analysis</a:t>
            </a:r>
            <a:r>
              <a:rPr lang="en-GB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8CC05-9183-5F31-9871-5CFFC8C7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19" y="4588721"/>
            <a:ext cx="6909118" cy="713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6B7C61-20FD-BF8D-5EE7-9D357BA87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462" y="5301920"/>
            <a:ext cx="6942375" cy="14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03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Term frequency - Inverse document frequency (TF-IDF)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‘kind true sadly’, ‘swear jam set world ablaze’, ‘swear true car accident’, ‘car sadly car caught up fire’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920549-F72B-AE1F-647F-E55C4989A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618" y="3755839"/>
            <a:ext cx="9753007" cy="230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37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Bag of words (BOW)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BOW</a:t>
            </a:r>
            <a:r>
              <a:rPr lang="en-GB" dirty="0"/>
              <a:t> is one of the popular word embedding techniques of text where </a:t>
            </a:r>
            <a:r>
              <a:rPr lang="en-GB" i="1" dirty="0">
                <a:solidFill>
                  <a:srgbClr val="00B050"/>
                </a:solidFill>
              </a:rPr>
              <a:t>each value in the vector would represent the count of words in a document/sentence</a:t>
            </a:r>
            <a:r>
              <a:rPr lang="en-GB" dirty="0"/>
              <a:t>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To create BOW: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In the first step, tokenize the text into sentences.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Next, the sentences tokenized in the first step have further tokenized words.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Eliminate any stop words or punctuation.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Then, convert all the words to lowercase.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Finally, move to create a frequency distribution chart of the words.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052807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Basic neuron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EF06E6-F3E6-E755-03F1-9A82AB006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252" y="2495610"/>
            <a:ext cx="6351496" cy="40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05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Basic neuron network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The </a:t>
            </a:r>
            <a:r>
              <a:rPr lang="en-GB" dirty="0" err="1">
                <a:solidFill>
                  <a:srgbClr val="FF0000"/>
                </a:solidFill>
              </a:rPr>
              <a:t>softmax</a:t>
            </a:r>
            <a:r>
              <a:rPr lang="en-GB" dirty="0">
                <a:solidFill>
                  <a:srgbClr val="FF0000"/>
                </a:solidFill>
              </a:rPr>
              <a:t> function</a:t>
            </a:r>
            <a:r>
              <a:rPr lang="en-GB" dirty="0"/>
              <a:t> is a function that </a:t>
            </a:r>
            <a:r>
              <a:rPr lang="en-GB" i="1" dirty="0">
                <a:solidFill>
                  <a:srgbClr val="FF0000"/>
                </a:solidFill>
              </a:rPr>
              <a:t>converts a vector of K real values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into a vector of K real values that add up to 1</a:t>
            </a:r>
            <a:r>
              <a:rPr lang="en-GB" dirty="0"/>
              <a:t>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00B050"/>
                </a:solidFill>
              </a:rPr>
              <a:t>input values</a:t>
            </a:r>
            <a:r>
              <a:rPr lang="en-GB" dirty="0"/>
              <a:t> could be </a:t>
            </a:r>
            <a:r>
              <a:rPr lang="en-GB" i="1" dirty="0">
                <a:solidFill>
                  <a:srgbClr val="00B050"/>
                </a:solidFill>
              </a:rPr>
              <a:t>positive, negative, zero, or even greater than one</a:t>
            </a:r>
            <a:r>
              <a:rPr lang="en-GB" dirty="0"/>
              <a:t>, but the </a:t>
            </a:r>
            <a:r>
              <a:rPr lang="en-GB" dirty="0" err="1">
                <a:solidFill>
                  <a:srgbClr val="FF0000"/>
                </a:solidFill>
              </a:rPr>
              <a:t>softmax</a:t>
            </a:r>
            <a:r>
              <a:rPr lang="en-GB" dirty="0">
                <a:solidFill>
                  <a:srgbClr val="FF0000"/>
                </a:solidFill>
              </a:rPr>
              <a:t> transforms </a:t>
            </a:r>
            <a:r>
              <a:rPr lang="en-GB" dirty="0"/>
              <a:t>them into </a:t>
            </a:r>
            <a:r>
              <a:rPr lang="en-GB" i="1" dirty="0">
                <a:solidFill>
                  <a:srgbClr val="FF0000"/>
                </a:solidFill>
              </a:rPr>
              <a:t>values between 0 and 1</a:t>
            </a:r>
            <a:r>
              <a:rPr lang="en-GB" dirty="0"/>
              <a:t> which makes it possible for them to be </a:t>
            </a:r>
            <a:r>
              <a:rPr lang="en-GB" i="1" dirty="0">
                <a:solidFill>
                  <a:srgbClr val="FF0000"/>
                </a:solidFill>
              </a:rPr>
              <a:t>interpreted as probabilities</a:t>
            </a:r>
            <a:r>
              <a:rPr lang="en-GB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159A7-339A-0DC0-5B5E-AF9D185F0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243" y="5252910"/>
            <a:ext cx="3339336" cy="121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57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Basic neuron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E60AA-7820-2F59-B143-56DCF6A00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169" y="2470505"/>
            <a:ext cx="7787661" cy="40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8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Representing a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One Hot Encoding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C4993-68E7-7D50-B176-E563B1F64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975" y="2506662"/>
            <a:ext cx="7405635" cy="420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02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Key idea</a:t>
            </a:r>
            <a:r>
              <a:rPr lang="en-GB" dirty="0"/>
              <a:t>: </a:t>
            </a:r>
            <a:r>
              <a:rPr lang="en-GB" i="1" dirty="0">
                <a:solidFill>
                  <a:srgbClr val="00B050"/>
                </a:solidFill>
              </a:rPr>
              <a:t>Predict surrounding words</a:t>
            </a:r>
            <a:r>
              <a:rPr lang="en-GB" dirty="0"/>
              <a:t> of every word.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Benefits</a:t>
            </a:r>
            <a:r>
              <a:rPr lang="en-GB" dirty="0"/>
              <a:t>: Faster and easier to incorporate new document, words, etc.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Continuous Bag of Words (CBOW)</a:t>
            </a:r>
            <a:r>
              <a:rPr lang="en-GB" dirty="0"/>
              <a:t>: </a:t>
            </a:r>
            <a:r>
              <a:rPr lang="en-GB" dirty="0">
                <a:solidFill>
                  <a:srgbClr val="00B050"/>
                </a:solidFill>
              </a:rPr>
              <a:t>use context words in a window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to predict middle word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Skip-gram</a:t>
            </a:r>
            <a:r>
              <a:rPr lang="en-GB" dirty="0"/>
              <a:t>: </a:t>
            </a:r>
            <a:r>
              <a:rPr lang="en-GB" dirty="0">
                <a:solidFill>
                  <a:srgbClr val="00B050"/>
                </a:solidFill>
              </a:rPr>
              <a:t>use the middle word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to predict surrounding ones in a window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841970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49086A-CB8E-5EFA-3EA1-CC0F0CDCA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59" y="1912678"/>
            <a:ext cx="72090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15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u="sng" dirty="0"/>
              <a:t>Example:</a:t>
            </a:r>
            <a:r>
              <a:rPr lang="en-GB" dirty="0"/>
              <a:t> “The cat sat on floor” (window size 2)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2F725-D835-CE80-8118-FBF2CAC4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72" y="3274604"/>
            <a:ext cx="4443796" cy="3337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F5817A-72E4-D7EB-B30B-444D67CB2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873" y="3274604"/>
            <a:ext cx="6965955" cy="333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64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A4123A-86C0-C4D7-FAC1-D74C5FD4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6" y="2401769"/>
            <a:ext cx="6960791" cy="425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52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A03A2-E0EA-D40C-5764-00A3593FA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180" y="2212105"/>
            <a:ext cx="7721461" cy="445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166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CEFDB-CC72-2ACF-2B5D-D02BF2A1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69" y="2367256"/>
            <a:ext cx="7721461" cy="419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34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F2037-C9A2-B7A9-0560-731A9049E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485" y="2324317"/>
            <a:ext cx="6237273" cy="422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10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A74FE-4A5C-339E-8244-C8B87DD1E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04" y="2373426"/>
            <a:ext cx="7731992" cy="42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02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CBOW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226F19-B5F1-05F9-B96F-60FE0F001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555" y="2177251"/>
            <a:ext cx="7109133" cy="459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61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Skip-Gram Model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200CC-CFF2-15EA-4D37-0D114B392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454" y="1820743"/>
            <a:ext cx="4320914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49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Comparison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CBOW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</a:rPr>
              <a:t>not great for rare words</a:t>
            </a:r>
            <a:r>
              <a:rPr lang="en-GB" dirty="0"/>
              <a:t> and typically needs </a:t>
            </a:r>
            <a:r>
              <a:rPr lang="en-GB" dirty="0">
                <a:solidFill>
                  <a:srgbClr val="00B050"/>
                </a:solidFill>
              </a:rPr>
              <a:t>less data to train.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Skip-gram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better for rate words</a:t>
            </a:r>
            <a:r>
              <a:rPr lang="en-GB" dirty="0"/>
              <a:t> and needs </a:t>
            </a:r>
            <a:r>
              <a:rPr lang="en-GB" dirty="0">
                <a:solidFill>
                  <a:srgbClr val="00B050"/>
                </a:solidFill>
              </a:rPr>
              <a:t>more data to train the model.</a:t>
            </a:r>
            <a:r>
              <a:rPr lang="en-GB" dirty="0"/>
              <a:t>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9259534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A3878-115A-CF55-8B54-1340A354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46C1-1A87-FEB7-AAC4-E1B859A1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doc2vec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8DE9-6AF3-FA5A-09C5-37AD99A7A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2B6AC-20E5-0999-049F-8809DB7A2959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BBDDB5-27CB-8BA9-4DD4-59F81105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727" y="1982449"/>
            <a:ext cx="9250545" cy="380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532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word2vec: Representing the Meaning of Words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Word Analogies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word analogy is a statement of the form “</a:t>
            </a:r>
            <a:r>
              <a:rPr lang="en-GB" dirty="0">
                <a:solidFill>
                  <a:srgbClr val="FF0000"/>
                </a:solidFill>
              </a:rPr>
              <a:t>a is to b as x is to y</a:t>
            </a:r>
            <a:r>
              <a:rPr lang="en-GB" dirty="0"/>
              <a:t>”, which asserts that </a:t>
            </a:r>
            <a:r>
              <a:rPr lang="en-GB" i="1" dirty="0">
                <a:solidFill>
                  <a:srgbClr val="FF0000"/>
                </a:solidFill>
              </a:rPr>
              <a:t>a and x can be transformed in the same way to get b and y</a:t>
            </a:r>
            <a:r>
              <a:rPr lang="en-GB" dirty="0"/>
              <a:t>, and vice-versa.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word analogy f</a:t>
            </a:r>
            <a:r>
              <a:rPr lang="en-GB" dirty="0"/>
              <a:t>  is an </a:t>
            </a:r>
            <a:r>
              <a:rPr lang="en-GB" i="1" dirty="0">
                <a:solidFill>
                  <a:srgbClr val="00B050"/>
                </a:solidFill>
              </a:rPr>
              <a:t>invertible transformation</a:t>
            </a:r>
            <a:r>
              <a:rPr lang="en-GB" dirty="0"/>
              <a:t> that holds over a set of ordered pairs S </a:t>
            </a:r>
            <a:r>
              <a:rPr lang="en-GB" dirty="0" err="1"/>
              <a:t>iff</a:t>
            </a:r>
            <a:r>
              <a:rPr lang="en-GB" dirty="0"/>
              <a:t>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DAD220-7B35-5ECB-3AEC-008A87780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7059" y="4020657"/>
            <a:ext cx="4461057" cy="542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541B60-FF49-6C6F-BB14-AE6DF7283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379" y="4747505"/>
            <a:ext cx="3756834" cy="1850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EEE89B-F69F-5E62-A77C-F3B86B3BC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393" y="5160084"/>
            <a:ext cx="4733913" cy="98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16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08281"/>
                <a:ext cx="10833847" cy="435133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FF0000"/>
                    </a:solidFill>
                  </a:rPr>
                  <a:t>Co-occurrence probabilities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Given two words </a:t>
                </a:r>
                <a:r>
                  <a:rPr lang="en-GB" dirty="0" err="1"/>
                  <a:t>i</a:t>
                </a:r>
                <a:r>
                  <a:rPr lang="en-GB" dirty="0"/>
                  <a:t> and j	that occur in text, their </a:t>
                </a:r>
                <a:r>
                  <a:rPr lang="en-GB" dirty="0">
                    <a:solidFill>
                      <a:srgbClr val="00B050"/>
                    </a:solidFill>
                  </a:rPr>
                  <a:t>co-occurrence probability</a:t>
                </a:r>
                <a:r>
                  <a:rPr lang="en-GB" dirty="0"/>
                  <a:t> is defined as the </a:t>
                </a:r>
                <a:r>
                  <a:rPr lang="en-GB" i="1" dirty="0">
                    <a:solidFill>
                      <a:srgbClr val="00B050"/>
                    </a:solidFill>
                  </a:rPr>
                  <a:t>probability of seeing </a:t>
                </a:r>
                <a:r>
                  <a:rPr lang="en-GB" i="1" dirty="0" err="1">
                    <a:solidFill>
                      <a:srgbClr val="00B050"/>
                    </a:solidFill>
                  </a:rPr>
                  <a:t>i</a:t>
                </a:r>
                <a:r>
                  <a:rPr lang="en-GB" i="1" dirty="0">
                    <a:solidFill>
                      <a:srgbClr val="00B050"/>
                    </a:solidFill>
                  </a:rPr>
                  <a:t> in the context of j</a:t>
                </a:r>
                <a:r>
                  <a:rPr lang="en-GB" dirty="0"/>
                  <a:t>.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𝑐𝑜𝑢𝑛𝑡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𝑐𝑜𝑛𝑡𝑒𝑥𝑡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𝑐𝑜𝑢𝑛𝑡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𝑐𝑜𝑛𝑡𝑒𝑥𝑡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If we want </a:t>
                </a:r>
                <a:r>
                  <a:rPr lang="en-GB" dirty="0">
                    <a:solidFill>
                      <a:srgbClr val="FF0000"/>
                    </a:solidFill>
                  </a:rPr>
                  <a:t>to distinguish between two words</a:t>
                </a:r>
                <a:r>
                  <a:rPr lang="en-GB" dirty="0"/>
                  <a:t>, it is </a:t>
                </a:r>
                <a:r>
                  <a:rPr lang="en-GB" dirty="0">
                    <a:solidFill>
                      <a:srgbClr val="00B050"/>
                    </a:solidFill>
                  </a:rPr>
                  <a:t>not enough</a:t>
                </a:r>
                <a:r>
                  <a:rPr lang="en-GB" dirty="0"/>
                  <a:t> to look at </a:t>
                </a:r>
                <a:r>
                  <a:rPr lang="en-GB" i="1" dirty="0">
                    <a:solidFill>
                      <a:srgbClr val="00B050"/>
                    </a:solidFill>
                  </a:rPr>
                  <a:t>their co-occurrences</a:t>
                </a:r>
                <a:r>
                  <a:rPr lang="en-GB" dirty="0"/>
                  <a:t>, we need to look at the </a:t>
                </a:r>
                <a:r>
                  <a:rPr lang="en-GB" i="1" dirty="0">
                    <a:solidFill>
                      <a:srgbClr val="00B050"/>
                    </a:solidFill>
                  </a:rPr>
                  <a:t>ratio of their co-occurrences with other words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08281"/>
                <a:ext cx="10833847" cy="4351338"/>
              </a:xfrm>
              <a:blipFill>
                <a:blip r:embed="rId2"/>
                <a:stretch>
                  <a:fillRect l="-956" r="-844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247845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Model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 Notation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00B050"/>
                    </a:solidFill>
                  </a:rPr>
                  <a:t>X</a:t>
                </a:r>
                <a:r>
                  <a:rPr lang="en-GB" dirty="0"/>
                  <a:t> - Matrix of word-word co-occurrence, </a:t>
                </a:r>
                <a:r>
                  <a:rPr lang="en-GB" dirty="0" err="1">
                    <a:solidFill>
                      <a:srgbClr val="00B050"/>
                    </a:solidFill>
                  </a:rPr>
                  <a:t>X</a:t>
                </a:r>
                <a:r>
                  <a:rPr lang="en-GB" baseline="-25000" dirty="0" err="1">
                    <a:solidFill>
                      <a:srgbClr val="00B050"/>
                    </a:solidFill>
                  </a:rPr>
                  <a:t>ij</a:t>
                </a:r>
                <a:r>
                  <a:rPr lang="en-GB" dirty="0"/>
                  <a:t> - the </a:t>
                </a:r>
                <a:r>
                  <a:rPr lang="en-GB" i="1" dirty="0">
                    <a:solidFill>
                      <a:srgbClr val="00B050"/>
                    </a:solidFill>
                  </a:rPr>
                  <a:t>number of times</a:t>
                </a:r>
                <a:r>
                  <a:rPr lang="en-GB" dirty="0"/>
                  <a:t> word </a:t>
                </a:r>
                <a:r>
                  <a:rPr lang="en-GB" i="1" dirty="0">
                    <a:solidFill>
                      <a:srgbClr val="00B050"/>
                    </a:solidFill>
                  </a:rPr>
                  <a:t>j occurs</a:t>
                </a:r>
                <a:r>
                  <a:rPr lang="en-GB" dirty="0"/>
                  <a:t> in the </a:t>
                </a:r>
                <a:r>
                  <a:rPr lang="en-GB" i="1" dirty="0">
                    <a:solidFill>
                      <a:srgbClr val="00B050"/>
                    </a:solidFill>
                  </a:rPr>
                  <a:t>context of word </a:t>
                </a:r>
                <a:r>
                  <a:rPr lang="en-GB" i="1" dirty="0" err="1">
                    <a:solidFill>
                      <a:srgbClr val="00B050"/>
                    </a:solidFill>
                  </a:rPr>
                  <a:t>i</a:t>
                </a:r>
                <a:r>
                  <a:rPr lang="en-GB" dirty="0"/>
                  <a:t>. X</a:t>
                </a:r>
                <a:r>
                  <a:rPr lang="en-GB" baseline="-25000" dirty="0"/>
                  <a:t>i</a:t>
                </a:r>
                <a:r>
                  <a:rPr lang="en-GB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be the </a:t>
                </a:r>
                <a:r>
                  <a:rPr lang="en-GB" dirty="0">
                    <a:solidFill>
                      <a:srgbClr val="00B050"/>
                    </a:solidFill>
                  </a:rPr>
                  <a:t>number of times</a:t>
                </a:r>
                <a:r>
                  <a:rPr lang="en-GB" dirty="0"/>
                  <a:t> </a:t>
                </a:r>
                <a:r>
                  <a:rPr lang="en-GB" i="1" dirty="0">
                    <a:solidFill>
                      <a:srgbClr val="00B050"/>
                    </a:solidFill>
                  </a:rPr>
                  <a:t>any word appears</a:t>
                </a:r>
                <a:r>
                  <a:rPr lang="en-GB" dirty="0"/>
                  <a:t> in the </a:t>
                </a:r>
                <a:r>
                  <a:rPr lang="en-GB" i="1" dirty="0">
                    <a:solidFill>
                      <a:srgbClr val="00B050"/>
                    </a:solidFill>
                  </a:rPr>
                  <a:t>context of word </a:t>
                </a:r>
                <a:r>
                  <a:rPr lang="en-GB" i="1" dirty="0" err="1">
                    <a:solidFill>
                      <a:srgbClr val="00B050"/>
                    </a:solidFill>
                  </a:rPr>
                  <a:t>i</a:t>
                </a:r>
                <a:r>
                  <a:rPr lang="en-GB" dirty="0"/>
                  <a:t>.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 err="1">
                    <a:solidFill>
                      <a:srgbClr val="FF0000"/>
                    </a:solidFill>
                  </a:rPr>
                  <a:t>P</a:t>
                </a:r>
                <a:r>
                  <a:rPr lang="en-GB" baseline="-25000" dirty="0" err="1">
                    <a:solidFill>
                      <a:srgbClr val="FF0000"/>
                    </a:solidFill>
                  </a:rPr>
                  <a:t>ij</a:t>
                </a:r>
                <a:r>
                  <a:rPr lang="en-GB" dirty="0">
                    <a:solidFill>
                      <a:srgbClr val="FF0000"/>
                    </a:solidFill>
                  </a:rPr>
                  <a:t> = P(j | </a:t>
                </a:r>
                <a:r>
                  <a:rPr lang="en-GB" dirty="0" err="1">
                    <a:solidFill>
                      <a:srgbClr val="FF0000"/>
                    </a:solidFill>
                  </a:rPr>
                  <a:t>i</a:t>
                </a:r>
                <a:r>
                  <a:rPr lang="en-GB" dirty="0">
                    <a:solidFill>
                      <a:srgbClr val="FF0000"/>
                    </a:solidFill>
                  </a:rPr>
                  <a:t>) = </a:t>
                </a:r>
                <a:r>
                  <a:rPr lang="en-GB" dirty="0" err="1">
                    <a:solidFill>
                      <a:srgbClr val="FF0000"/>
                    </a:solidFill>
                  </a:rPr>
                  <a:t>X</a:t>
                </a:r>
                <a:r>
                  <a:rPr lang="en-GB" baseline="-25000" dirty="0" err="1">
                    <a:solidFill>
                      <a:srgbClr val="FF0000"/>
                    </a:solidFill>
                  </a:rPr>
                  <a:t>ij</a:t>
                </a:r>
                <a:r>
                  <a:rPr lang="en-GB" baseline="-25000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>
                    <a:solidFill>
                      <a:srgbClr val="FF0000"/>
                    </a:solidFill>
                  </a:rPr>
                  <a:t>/ X</a:t>
                </a:r>
                <a:r>
                  <a:rPr lang="en-GB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en-GB" dirty="0"/>
                  <a:t> be the </a:t>
                </a:r>
                <a:r>
                  <a:rPr lang="en-GB" dirty="0">
                    <a:solidFill>
                      <a:srgbClr val="FF0000"/>
                    </a:solidFill>
                  </a:rPr>
                  <a:t>probability</a:t>
                </a:r>
                <a:r>
                  <a:rPr lang="en-GB" dirty="0"/>
                  <a:t> that </a:t>
                </a:r>
                <a:r>
                  <a:rPr lang="en-GB" dirty="0">
                    <a:solidFill>
                      <a:srgbClr val="00B050"/>
                    </a:solidFill>
                  </a:rPr>
                  <a:t>word j appear in the context of word </a:t>
                </a:r>
                <a:r>
                  <a:rPr lang="en-GB" dirty="0" err="1">
                    <a:solidFill>
                      <a:srgbClr val="00B050"/>
                    </a:solidFill>
                  </a:rPr>
                  <a:t>i</a:t>
                </a:r>
                <a:r>
                  <a:rPr lang="en-GB" dirty="0"/>
                  <a:t>.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  <a:blipFill>
                <a:blip r:embed="rId2"/>
                <a:stretch>
                  <a:fillRect l="-956" r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133780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338367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Model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a word </a:t>
            </a:r>
            <a:r>
              <a:rPr lang="en-GB" dirty="0" err="1"/>
              <a:t>w</a:t>
            </a:r>
            <a:r>
              <a:rPr lang="en-GB" baseline="-25000" dirty="0" err="1"/>
              <a:t>k</a:t>
            </a:r>
            <a:r>
              <a:rPr lang="en-GB" dirty="0"/>
              <a:t> that is </a:t>
            </a:r>
            <a:r>
              <a:rPr lang="en-GB" dirty="0">
                <a:solidFill>
                  <a:srgbClr val="00B050"/>
                </a:solidFill>
              </a:rPr>
              <a:t>related to </a:t>
            </a:r>
            <a:r>
              <a:rPr lang="en-GB" dirty="0"/>
              <a:t>“ice” but </a:t>
            </a:r>
            <a:r>
              <a:rPr lang="en-GB" dirty="0">
                <a:solidFill>
                  <a:srgbClr val="00B050"/>
                </a:solidFill>
              </a:rPr>
              <a:t>unrelated to</a:t>
            </a:r>
            <a:r>
              <a:rPr lang="en-GB" dirty="0"/>
              <a:t> “steam”, we expect a </a:t>
            </a:r>
            <a:r>
              <a:rPr lang="en-GB" dirty="0">
                <a:solidFill>
                  <a:srgbClr val="00B050"/>
                </a:solidFill>
              </a:rPr>
              <a:t>larger ratio</a:t>
            </a:r>
            <a:r>
              <a:rPr lang="en-GB" dirty="0"/>
              <a:t> of co-</a:t>
            </a:r>
            <a:r>
              <a:rPr lang="en-GB" dirty="0" err="1"/>
              <a:t>occurence</a:t>
            </a:r>
            <a:r>
              <a:rPr lang="en-GB" dirty="0"/>
              <a:t> probabilities (8.9)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a word  </a:t>
            </a:r>
            <a:r>
              <a:rPr lang="en-GB" dirty="0" err="1"/>
              <a:t>w</a:t>
            </a:r>
            <a:r>
              <a:rPr lang="en-GB" baseline="-25000" dirty="0" err="1"/>
              <a:t>k</a:t>
            </a:r>
            <a:r>
              <a:rPr lang="en-GB" dirty="0"/>
              <a:t> that is </a:t>
            </a:r>
            <a:r>
              <a:rPr lang="en-GB" dirty="0">
                <a:solidFill>
                  <a:srgbClr val="00B050"/>
                </a:solidFill>
              </a:rPr>
              <a:t>related to</a:t>
            </a:r>
            <a:r>
              <a:rPr lang="en-GB" dirty="0"/>
              <a:t> “steam” but </a:t>
            </a:r>
            <a:r>
              <a:rPr lang="en-GB" dirty="0">
                <a:solidFill>
                  <a:srgbClr val="00B050"/>
                </a:solidFill>
              </a:rPr>
              <a:t>unrelated to</a:t>
            </a:r>
            <a:r>
              <a:rPr lang="en-GB" dirty="0"/>
              <a:t> “ice”, we expect a </a:t>
            </a:r>
            <a:r>
              <a:rPr lang="en-GB" dirty="0">
                <a:solidFill>
                  <a:srgbClr val="00B050"/>
                </a:solidFill>
              </a:rPr>
              <a:t>smaller ratio</a:t>
            </a:r>
            <a:r>
              <a:rPr lang="en-GB" dirty="0"/>
              <a:t> of co-</a:t>
            </a:r>
            <a:r>
              <a:rPr lang="en-GB" dirty="0" err="1"/>
              <a:t>occurence</a:t>
            </a:r>
            <a:r>
              <a:rPr lang="en-GB" dirty="0"/>
              <a:t> probabilities ( 0.085).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a word </a:t>
            </a:r>
            <a:r>
              <a:rPr lang="en-GB" dirty="0" err="1"/>
              <a:t>w</a:t>
            </a:r>
            <a:r>
              <a:rPr lang="en-GB" baseline="-25000" dirty="0" err="1"/>
              <a:t>k</a:t>
            </a:r>
            <a:r>
              <a:rPr lang="en-GB" dirty="0"/>
              <a:t> that is </a:t>
            </a:r>
            <a:r>
              <a:rPr lang="en-GB" dirty="0">
                <a:solidFill>
                  <a:srgbClr val="00B050"/>
                </a:solidFill>
              </a:rPr>
              <a:t>related to both</a:t>
            </a:r>
            <a:r>
              <a:rPr lang="en-GB" dirty="0"/>
              <a:t> “ice” and “steam”, we expect a ratio of co-</a:t>
            </a:r>
            <a:r>
              <a:rPr lang="en-GB" dirty="0" err="1"/>
              <a:t>occurence</a:t>
            </a:r>
            <a:r>
              <a:rPr lang="en-GB" dirty="0"/>
              <a:t> probabilities that is </a:t>
            </a:r>
            <a:r>
              <a:rPr lang="en-GB" dirty="0">
                <a:solidFill>
                  <a:srgbClr val="00B050"/>
                </a:solidFill>
              </a:rPr>
              <a:t>close to 1</a:t>
            </a:r>
            <a:r>
              <a:rPr lang="en-GB" dirty="0"/>
              <a:t> (1.36).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a word </a:t>
            </a:r>
            <a:r>
              <a:rPr lang="en-GB" dirty="0" err="1"/>
              <a:t>w</a:t>
            </a:r>
            <a:r>
              <a:rPr lang="en-GB" baseline="-25000" dirty="0" err="1"/>
              <a:t>k</a:t>
            </a:r>
            <a:r>
              <a:rPr lang="en-GB" dirty="0"/>
              <a:t> that is </a:t>
            </a:r>
            <a:r>
              <a:rPr lang="en-GB" dirty="0">
                <a:solidFill>
                  <a:srgbClr val="00B050"/>
                </a:solidFill>
              </a:rPr>
              <a:t>unrelated to both</a:t>
            </a:r>
            <a:r>
              <a:rPr lang="en-GB" dirty="0"/>
              <a:t> “ice” and “steam”, we expect a ratio of co-</a:t>
            </a:r>
            <a:r>
              <a:rPr lang="en-GB" dirty="0" err="1"/>
              <a:t>occurence</a:t>
            </a:r>
            <a:r>
              <a:rPr lang="en-GB" dirty="0"/>
              <a:t> probabilities that is </a:t>
            </a:r>
            <a:r>
              <a:rPr lang="en-GB" dirty="0">
                <a:solidFill>
                  <a:srgbClr val="00B050"/>
                </a:solidFill>
              </a:rPr>
              <a:t>close to 1</a:t>
            </a:r>
            <a:r>
              <a:rPr lang="en-GB" dirty="0"/>
              <a:t> (0.96).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BA823-7416-DBDC-2D61-BD8134185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116" y="4818489"/>
            <a:ext cx="6730506" cy="20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755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Model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It can be seen that </a:t>
                </a:r>
                <a:r>
                  <a:rPr lang="en-GB" dirty="0">
                    <a:solidFill>
                      <a:srgbClr val="FF0000"/>
                    </a:solidFill>
                  </a:rPr>
                  <a:t>the ratio of co-occurrence probabilities</a:t>
                </a:r>
                <a:r>
                  <a:rPr lang="en-GB" dirty="0"/>
                  <a:t> can intuitively </a:t>
                </a:r>
                <a:r>
                  <a:rPr lang="en-GB" dirty="0">
                    <a:solidFill>
                      <a:srgbClr val="00B050"/>
                    </a:solidFill>
                  </a:rPr>
                  <a:t>express the relationship between words</a:t>
                </a:r>
                <a:r>
                  <a:rPr lang="en-GB" dirty="0"/>
                  <a:t>. 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Thus, we can design a </a:t>
                </a:r>
                <a:r>
                  <a:rPr lang="en-GB" dirty="0">
                    <a:solidFill>
                      <a:srgbClr val="00B050"/>
                    </a:solidFill>
                  </a:rPr>
                  <a:t>function of three word vectors</a:t>
                </a:r>
                <a:r>
                  <a:rPr lang="en-GB" dirty="0"/>
                  <a:t> to </a:t>
                </a:r>
                <a:r>
                  <a:rPr lang="en-GB" i="1" dirty="0">
                    <a:solidFill>
                      <a:srgbClr val="00B050"/>
                    </a:solidFill>
                  </a:rPr>
                  <a:t>fit this ratio</a:t>
                </a:r>
                <a:r>
                  <a:rPr lang="en-GB" dirty="0"/>
                  <a:t>. For the ratio of co-occurrence probabilities </a:t>
                </a:r>
                <a:r>
                  <a:rPr lang="en-GB" dirty="0" err="1">
                    <a:solidFill>
                      <a:srgbClr val="FF0000"/>
                    </a:solidFill>
                  </a:rPr>
                  <a:t>p</a:t>
                </a:r>
                <a:r>
                  <a:rPr lang="en-GB" baseline="-25000" dirty="0" err="1">
                    <a:solidFill>
                      <a:srgbClr val="FF0000"/>
                    </a:solidFill>
                  </a:rPr>
                  <a:t>ij</a:t>
                </a:r>
                <a:r>
                  <a:rPr lang="en-GB" dirty="0">
                    <a:solidFill>
                      <a:srgbClr val="FF0000"/>
                    </a:solidFill>
                  </a:rPr>
                  <a:t>/</a:t>
                </a:r>
                <a:r>
                  <a:rPr lang="en-GB" dirty="0" err="1">
                    <a:solidFill>
                      <a:srgbClr val="FF0000"/>
                    </a:solidFill>
                  </a:rPr>
                  <a:t>p</a:t>
                </a:r>
                <a:r>
                  <a:rPr lang="en-GB" baseline="-25000" dirty="0" err="1">
                    <a:solidFill>
                      <a:srgbClr val="FF0000"/>
                    </a:solidFill>
                  </a:rPr>
                  <a:t>ik</a:t>
                </a:r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/>
                  <a:t>with </a:t>
                </a:r>
                <a:r>
                  <a:rPr lang="en-GB" dirty="0" err="1">
                    <a:solidFill>
                      <a:srgbClr val="00B050"/>
                    </a:solidFill>
                  </a:rPr>
                  <a:t>w</a:t>
                </a:r>
                <a:r>
                  <a:rPr lang="en-GB" baseline="-25000" dirty="0" err="1">
                    <a:solidFill>
                      <a:srgbClr val="00B050"/>
                    </a:solidFill>
                  </a:rPr>
                  <a:t>i</a:t>
                </a:r>
                <a:r>
                  <a:rPr lang="en-GB" dirty="0"/>
                  <a:t> being the </a:t>
                </a:r>
                <a:r>
                  <a:rPr lang="en-GB" i="1" dirty="0">
                    <a:solidFill>
                      <a:srgbClr val="00B050"/>
                    </a:solidFill>
                  </a:rPr>
                  <a:t>center word</a:t>
                </a:r>
                <a:r>
                  <a:rPr lang="en-GB" dirty="0"/>
                  <a:t> and </a:t>
                </a:r>
                <a:r>
                  <a:rPr lang="en-GB" dirty="0" err="1">
                    <a:solidFill>
                      <a:srgbClr val="00B050"/>
                    </a:solidFill>
                  </a:rPr>
                  <a:t>w</a:t>
                </a:r>
                <a:r>
                  <a:rPr lang="en-GB" baseline="-25000" dirty="0" err="1">
                    <a:solidFill>
                      <a:srgbClr val="00B050"/>
                    </a:solidFill>
                  </a:rPr>
                  <a:t>j</a:t>
                </a:r>
                <a:r>
                  <a:rPr lang="en-GB" dirty="0">
                    <a:solidFill>
                      <a:srgbClr val="00B050"/>
                    </a:solidFill>
                  </a:rPr>
                  <a:t> and </a:t>
                </a:r>
                <a:r>
                  <a:rPr lang="en-GB" dirty="0" err="1">
                    <a:solidFill>
                      <a:srgbClr val="00B050"/>
                    </a:solidFill>
                  </a:rPr>
                  <a:t>w</a:t>
                </a:r>
                <a:r>
                  <a:rPr lang="en-GB" baseline="-25000" dirty="0" err="1">
                    <a:solidFill>
                      <a:srgbClr val="00B050"/>
                    </a:solidFill>
                  </a:rPr>
                  <a:t>k</a:t>
                </a:r>
                <a:r>
                  <a:rPr lang="en-GB" dirty="0"/>
                  <a:t> being the </a:t>
                </a:r>
                <a:r>
                  <a:rPr lang="en-GB" i="1" dirty="0">
                    <a:solidFill>
                      <a:srgbClr val="00B050"/>
                    </a:solidFill>
                  </a:rPr>
                  <a:t>context words</a:t>
                </a:r>
                <a:r>
                  <a:rPr lang="en-GB" dirty="0"/>
                  <a:t>,</a:t>
                </a:r>
              </a:p>
              <a:p>
                <a:pPr marL="3200400" lvl="7" indent="0" algn="just">
                  <a:lnSpc>
                    <a:spcPct val="140000"/>
                  </a:lnSpc>
                  <a:spcBef>
                    <a:spcPts val="600"/>
                  </a:spcBef>
                  <a:buNone/>
                </a:pPr>
                <a:r>
                  <a:rPr lang="en-GB" dirty="0"/>
                  <a:t>	 </a:t>
                </a:r>
              </a:p>
              <a:p>
                <a:pPr marL="3200400" lvl="7" indent="0" algn="just">
                  <a:lnSpc>
                    <a:spcPct val="140000"/>
                  </a:lnSpc>
                  <a:spcBef>
                    <a:spcPts val="600"/>
                  </a:spcBef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where </a:t>
                </a:r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:r>
                  <a:rPr lang="en-GB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 vectors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:r>
                  <a:rPr lang="en-GB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separate context word vectors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  <a:blipFill>
                <a:blip r:embed="rId2"/>
                <a:stretch>
                  <a:fillRect l="-95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B78B4F-FFE6-8C2B-2C46-5B71C80F3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004" y="5317030"/>
            <a:ext cx="2669834" cy="104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41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Model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would like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to encode the information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the ratio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GB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vector space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Since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spaces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inherently </a:t>
            </a:r>
            <a:r>
              <a:rPr lang="en-GB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structures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most natural way to do this is with vector differences.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 of 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GB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the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right-hand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side is a </a:t>
            </a:r>
            <a:r>
              <a:rPr lang="en-GB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we can first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the dot product of the arguments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2B28F2-E2E4-064D-9217-2F00FCEA9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26" y="3937999"/>
            <a:ext cx="2554806" cy="813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434534-D35E-7B2A-0054-99ADF588F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226" y="5756430"/>
            <a:ext cx="2816568" cy="81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263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Model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word-word co-occurrence matrices, the distinction between a word and a context word is arbitrary and that we are free to exchange the two roles. 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can </a:t>
                </a:r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exchange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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X </a:t>
                </a:r>
                <a:r>
                  <a:rPr lang="en-GB" dirty="0">
                    <a:sym typeface="Symbol" panose="05050102010706020507" pitchFamily="18" charset="2"/>
                  </a:rPr>
                  <a:t>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just">
                  <a:lnSpc>
                    <a:spcPct val="140000"/>
                  </a:lnSpc>
                  <a:spcBef>
                    <a:spcPts val="600"/>
                  </a:spcBef>
                  <a:buNone/>
                </a:pPr>
                <a:r>
                  <a:rPr lang="en-GB" dirty="0"/>
                  <a:t>					</a:t>
                </a:r>
                <a:r>
                  <a:rPr lang="en-GB" sz="2000" dirty="0">
                    <a:solidFill>
                      <a:srgbClr val="00B050"/>
                    </a:solidFill>
                  </a:rPr>
                  <a:t>where</a:t>
                </a:r>
                <a:r>
                  <a:rPr lang="en-GB" sz="2000" dirty="0"/>
                  <a:t>				  </a:t>
                </a:r>
                <a:r>
                  <a:rPr lang="en-GB" sz="2000" dirty="0">
                    <a:solidFill>
                      <a:srgbClr val="00B050"/>
                    </a:solidFill>
                  </a:rPr>
                  <a:t>so</a:t>
                </a:r>
                <a:r>
                  <a:rPr lang="en-GB" sz="2000" dirty="0"/>
                  <a:t>	</a:t>
                </a: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  <a:blipFill>
                <a:blip r:embed="rId2"/>
                <a:stretch>
                  <a:fillRect l="-95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6FCDD-E36A-B0DE-A40D-B43461794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032" y="4430676"/>
            <a:ext cx="3806285" cy="1019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D14924-BE54-5372-0BC2-E6AC200E2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11" y="4514177"/>
            <a:ext cx="2899736" cy="8528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756A2B-7CBF-1100-0E81-D604B0CE6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911" y="5450542"/>
            <a:ext cx="4746563" cy="53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058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Model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log(X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independent of k so it can be absorbed into a bias b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to </a:t>
            </a:r>
            <a:r>
              <a:rPr lang="en-GB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minimum value of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i="1" dirty="0">
              <a:solidFill>
                <a:srgbClr val="FF0000"/>
              </a:solidFill>
            </a:endParaRP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= 0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 should be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non-decreasing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rare co-occurrences are not overweighted.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 should be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relatively small for large values of 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that frequent co-occurrences are not overweighted.</a:t>
            </a:r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r>
              <a:rPr lang="en-GB" dirty="0"/>
              <a:t>				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E0765-A23C-CFA1-A1A7-57DBC2D1A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02" y="2702298"/>
            <a:ext cx="3443633" cy="608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3CDD9A-632E-724E-B2BE-740857F7E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502" y="3696638"/>
            <a:ext cx="4367498" cy="8264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7EDCE-4C7C-96E4-CEEB-FE3F42A2D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02" y="5950966"/>
            <a:ext cx="3307367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483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: </a:t>
            </a:r>
            <a:r>
              <a:rPr lang="en-GB" dirty="0"/>
              <a:t>Global Vectors for Word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Example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Cat’s vector in 50 dimensions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A6061-8AF1-02E7-588B-161D7898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45" y="3231383"/>
            <a:ext cx="7505596" cy="296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13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3A41-13BF-796E-DD55-D76DF7D5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188D-E148-26EA-568D-3601EC15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Practical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096FF-4050-F9D9-1F06-F9756A205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Too many copies of the model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Need for large-scale labelled data for fine-tuning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we can train a model that can perform NLP tasks in a zero-shot manner?</a:t>
            </a:r>
            <a:r>
              <a:rPr lang="en-GB" dirty="0"/>
              <a:t>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AC6CA-8E42-AE80-CDBB-78C7873914FA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6F015-531B-478A-8099-D546C75E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7" y="4464967"/>
            <a:ext cx="10917174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529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Recurrent Neural Networks (RNNs) - </a:t>
            </a:r>
            <a:r>
              <a:rPr lang="en-GB" dirty="0" err="1">
                <a:solidFill>
                  <a:srgbClr val="FF0000"/>
                </a:solidFill>
              </a:rPr>
              <a:t>ReCap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With RNNs the </a:t>
            </a:r>
            <a:r>
              <a:rPr lang="en-GB" dirty="0">
                <a:solidFill>
                  <a:srgbClr val="00B050"/>
                </a:solidFill>
              </a:rPr>
              <a:t>concept of recurrence is introduced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input </a:t>
            </a:r>
            <a:r>
              <a:rPr lang="en-GB" dirty="0" err="1">
                <a:solidFill>
                  <a:srgbClr val="FF0000"/>
                </a:solidFill>
              </a:rPr>
              <a:t>h_t</a:t>
            </a:r>
            <a:r>
              <a:rPr lang="en-GB" dirty="0"/>
              <a:t>, called </a:t>
            </a:r>
            <a:r>
              <a:rPr lang="en-GB" dirty="0">
                <a:solidFill>
                  <a:srgbClr val="00B050"/>
                </a:solidFill>
              </a:rPr>
              <a:t>hidden state</a:t>
            </a:r>
            <a:r>
              <a:rPr lang="en-GB" dirty="0"/>
              <a:t>, </a:t>
            </a:r>
            <a:r>
              <a:rPr lang="en-GB" i="1" dirty="0">
                <a:solidFill>
                  <a:srgbClr val="FF0000"/>
                </a:solidFill>
              </a:rPr>
              <a:t>is added</a:t>
            </a:r>
            <a:r>
              <a:rPr lang="en-GB" dirty="0"/>
              <a:t>. This </a:t>
            </a:r>
            <a:r>
              <a:rPr lang="en-GB" dirty="0">
                <a:solidFill>
                  <a:srgbClr val="00B050"/>
                </a:solidFill>
              </a:rPr>
              <a:t>hidden state</a:t>
            </a:r>
            <a:r>
              <a:rPr lang="en-GB" dirty="0"/>
              <a:t> embodies </a:t>
            </a:r>
            <a:r>
              <a:rPr lang="en-GB" dirty="0" err="1"/>
              <a:t>ŷ_t</a:t>
            </a:r>
            <a:r>
              <a:rPr lang="en-GB" dirty="0"/>
              <a:t> and is given </a:t>
            </a:r>
            <a:r>
              <a:rPr lang="en-GB" i="1" dirty="0">
                <a:solidFill>
                  <a:srgbClr val="00B050"/>
                </a:solidFill>
              </a:rPr>
              <a:t>as an argument to the next prediction</a:t>
            </a:r>
            <a:r>
              <a:rPr lang="en-GB" dirty="0"/>
              <a:t> in addition to the input </a:t>
            </a:r>
            <a:r>
              <a:rPr lang="en-GB" dirty="0" err="1"/>
              <a:t>x_t</a:t>
            </a:r>
            <a:r>
              <a:rPr lang="en-GB" dirty="0"/>
              <a:t>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7D68F0-A514-D369-5FF4-53D73BF06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6" y="3559501"/>
            <a:ext cx="3950587" cy="29757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20F677-EAE4-A42A-476D-3F207790B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603" y="3559501"/>
            <a:ext cx="3089213" cy="29757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B09081-0AE2-C3DD-9C11-60B5BBF89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451" y="3728029"/>
            <a:ext cx="4773533" cy="303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915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Recurrent Neural Networks (RNNs) - </a:t>
            </a:r>
            <a:r>
              <a:rPr lang="en-GB" dirty="0" err="1">
                <a:solidFill>
                  <a:srgbClr val="FF0000"/>
                </a:solidFill>
              </a:rPr>
              <a:t>ReCap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One to many</a:t>
            </a:r>
            <a:r>
              <a:rPr lang="en-GB" dirty="0"/>
              <a:t>, the RNN receives a </a:t>
            </a:r>
            <a:r>
              <a:rPr lang="en-GB" i="1" dirty="0">
                <a:solidFill>
                  <a:srgbClr val="FF0000"/>
                </a:solidFill>
              </a:rPr>
              <a:t>single input</a:t>
            </a:r>
            <a:r>
              <a:rPr lang="en-GB" dirty="0"/>
              <a:t> and returns </a:t>
            </a:r>
            <a:r>
              <a:rPr lang="en-GB" i="1" dirty="0">
                <a:solidFill>
                  <a:srgbClr val="FF0000"/>
                </a:solidFill>
              </a:rPr>
              <a:t>multiple outputs </a:t>
            </a:r>
            <a:r>
              <a:rPr lang="en-GB" dirty="0"/>
              <a:t>(e.g. image legend).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Many to one</a:t>
            </a:r>
            <a:r>
              <a:rPr lang="en-GB" dirty="0"/>
              <a:t>, there are </a:t>
            </a:r>
            <a:r>
              <a:rPr lang="en-GB" i="1" dirty="0">
                <a:solidFill>
                  <a:srgbClr val="FF0000"/>
                </a:solidFill>
              </a:rPr>
              <a:t>several inputs</a:t>
            </a:r>
            <a:r>
              <a:rPr lang="en-GB" dirty="0"/>
              <a:t> and there is a </a:t>
            </a:r>
            <a:r>
              <a:rPr lang="en-GB" i="1" dirty="0">
                <a:solidFill>
                  <a:srgbClr val="FF0000"/>
                </a:solidFill>
              </a:rPr>
              <a:t>single output</a:t>
            </a:r>
            <a:r>
              <a:rPr lang="en-GB" dirty="0"/>
              <a:t> (e.g. sentiment analysis of texts).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Many to many</a:t>
            </a:r>
            <a:r>
              <a:rPr lang="en-GB" dirty="0"/>
              <a:t>, the model can take several inputs and get several outputs (e.g. machine translation).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1864073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 Simple RNN Language Model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RNN Advantages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Can process any length input.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Computation for step t can (in theory) use information from many steps back.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Model size doesn’t increase</a:t>
            </a:r>
            <a:r>
              <a:rPr lang="en-GB" dirty="0"/>
              <a:t> for longer input context.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Same weights applied on every timestep, so there </a:t>
            </a:r>
            <a:r>
              <a:rPr lang="en-GB" dirty="0">
                <a:solidFill>
                  <a:srgbClr val="FF0000"/>
                </a:solidFill>
              </a:rPr>
              <a:t>is symmetry in how inputs are processed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1822162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 Simple RNN Language Model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RNN Disadvantages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Recurrent computation is slow.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In practice, difficult to access information from many steps back.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5303377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Long Short Term Memory (LSTM)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1"/>
            <a:ext cx="5096436" cy="478216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LSTM is a type of RNN that is specifically designed to </a:t>
            </a:r>
            <a:r>
              <a:rPr lang="en-GB" dirty="0">
                <a:solidFill>
                  <a:srgbClr val="00B050"/>
                </a:solidFill>
              </a:rPr>
              <a:t>handle </a:t>
            </a:r>
            <a:r>
              <a:rPr lang="en-GB" dirty="0">
                <a:solidFill>
                  <a:srgbClr val="FF0000"/>
                </a:solidFill>
              </a:rPr>
              <a:t>long-term dependencies in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sequential data</a:t>
            </a:r>
            <a:r>
              <a:rPr lang="en-GB" dirty="0"/>
              <a:t>, such as time series, speech, and text.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LSTMs introduce a </a:t>
            </a:r>
            <a:r>
              <a:rPr lang="en-GB" dirty="0">
                <a:solidFill>
                  <a:srgbClr val="FF0000"/>
                </a:solidFill>
              </a:rPr>
              <a:t>memory cell</a:t>
            </a:r>
            <a:r>
              <a:rPr lang="en-GB" dirty="0"/>
              <a:t>, which can hold information for an extended period of time. The </a:t>
            </a:r>
            <a:r>
              <a:rPr lang="en-GB" dirty="0">
                <a:solidFill>
                  <a:srgbClr val="FF0000"/>
                </a:solidFill>
              </a:rPr>
              <a:t>memory cell</a:t>
            </a:r>
            <a:r>
              <a:rPr lang="en-GB" dirty="0"/>
              <a:t> is </a:t>
            </a:r>
            <a:r>
              <a:rPr lang="en-GB" dirty="0">
                <a:solidFill>
                  <a:srgbClr val="00B050"/>
                </a:solidFill>
              </a:rPr>
              <a:t>controlled by three gates</a:t>
            </a:r>
            <a:r>
              <a:rPr lang="en-GB" dirty="0"/>
              <a:t>: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00B050"/>
                </a:solidFill>
              </a:rPr>
              <a:t>input gate</a:t>
            </a:r>
            <a:r>
              <a:rPr lang="en-GB" dirty="0"/>
              <a:t>, the </a:t>
            </a:r>
            <a:r>
              <a:rPr lang="en-GB" dirty="0">
                <a:solidFill>
                  <a:srgbClr val="00B050"/>
                </a:solidFill>
              </a:rPr>
              <a:t>forget gate</a:t>
            </a:r>
            <a:r>
              <a:rPr lang="en-GB" dirty="0"/>
              <a:t>, and the </a:t>
            </a:r>
            <a:r>
              <a:rPr lang="en-GB" dirty="0">
                <a:solidFill>
                  <a:srgbClr val="00B050"/>
                </a:solidFill>
              </a:rPr>
              <a:t>output gate</a:t>
            </a:r>
            <a:r>
              <a:rPr lang="en-GB" dirty="0"/>
              <a:t>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These gates decide </a:t>
            </a:r>
            <a:r>
              <a:rPr lang="en-GB" dirty="0">
                <a:solidFill>
                  <a:srgbClr val="00B050"/>
                </a:solidFill>
              </a:rPr>
              <a:t>what information</a:t>
            </a:r>
            <a:r>
              <a:rPr lang="en-GB" dirty="0"/>
              <a:t> to </a:t>
            </a:r>
            <a:r>
              <a:rPr lang="en-GB" i="1" dirty="0">
                <a:solidFill>
                  <a:srgbClr val="00B050"/>
                </a:solidFill>
              </a:rPr>
              <a:t>add</a:t>
            </a:r>
            <a:r>
              <a:rPr lang="en-GB" dirty="0"/>
              <a:t> to, </a:t>
            </a:r>
            <a:r>
              <a:rPr lang="en-GB" i="1" dirty="0">
                <a:solidFill>
                  <a:srgbClr val="00B050"/>
                </a:solidFill>
              </a:rPr>
              <a:t>remove</a:t>
            </a:r>
            <a:r>
              <a:rPr lang="en-GB" dirty="0"/>
              <a:t> from, and </a:t>
            </a:r>
            <a:r>
              <a:rPr lang="en-GB" i="1" dirty="0">
                <a:solidFill>
                  <a:srgbClr val="00B050"/>
                </a:solidFill>
              </a:rPr>
              <a:t>output</a:t>
            </a:r>
            <a:r>
              <a:rPr lang="en-GB" dirty="0"/>
              <a:t> from the memory cell.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2052" name="Picture 4" descr="Basic structure of the LSTM model. | Download Scientific Diagram">
            <a:extLst>
              <a:ext uri="{FF2B5EF4-FFF2-40B4-BE49-F238E27FC236}">
                <a16:creationId xmlns:a16="http://schemas.microsoft.com/office/drawing/2014/main" id="{1269DA10-2BFA-8FA4-B105-C9875DED5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63" y="2130714"/>
            <a:ext cx="5380554" cy="393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6948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Long Short Term Memory (LSTM)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Forget Gate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information that is no longer useful in the cell state is removed with the forget gate.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resultant is passed through an activation function which gives a binary output. </a:t>
            </a:r>
          </a:p>
          <a:p>
            <a:pPr lvl="3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If </a:t>
            </a:r>
            <a:r>
              <a:rPr lang="en-GB" dirty="0">
                <a:solidFill>
                  <a:srgbClr val="FF0000"/>
                </a:solidFill>
              </a:rPr>
              <a:t>the output is 0</a:t>
            </a:r>
            <a:r>
              <a:rPr lang="en-GB" dirty="0"/>
              <a:t>, the piece of information</a:t>
            </a:r>
            <a:r>
              <a:rPr lang="en-GB" i="1" dirty="0">
                <a:solidFill>
                  <a:srgbClr val="FF0000"/>
                </a:solidFill>
              </a:rPr>
              <a:t> is forgotten</a:t>
            </a:r>
            <a:r>
              <a:rPr lang="en-GB" dirty="0"/>
              <a:t>, </a:t>
            </a:r>
          </a:p>
          <a:p>
            <a:pPr lvl="3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and for </a:t>
            </a:r>
            <a:r>
              <a:rPr lang="en-GB" dirty="0">
                <a:solidFill>
                  <a:srgbClr val="FF0000"/>
                </a:solidFill>
              </a:rPr>
              <a:t>output 1</a:t>
            </a:r>
            <a:r>
              <a:rPr lang="en-GB" dirty="0"/>
              <a:t>, the information is </a:t>
            </a:r>
            <a:r>
              <a:rPr lang="en-GB" i="1" dirty="0">
                <a:solidFill>
                  <a:srgbClr val="FF0000"/>
                </a:solidFill>
              </a:rPr>
              <a:t>retained for future use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C7030-0121-DCC6-38EE-12FFBD873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101" y="3042159"/>
            <a:ext cx="3531534" cy="39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350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Long Short Term Memory (LSTM)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Input gate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addition of useful information to the cell state is done by the input gate.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Then, a vector is created using tanh function that gives an output from -1 to +1, which contains all the possible values from h</a:t>
            </a:r>
            <a:r>
              <a:rPr lang="en-GB" baseline="-25000" dirty="0"/>
              <a:t>t-1</a:t>
            </a:r>
            <a:r>
              <a:rPr lang="en-GB" dirty="0"/>
              <a:t> and </a:t>
            </a:r>
            <a:r>
              <a:rPr lang="en-GB" dirty="0" err="1"/>
              <a:t>x</a:t>
            </a:r>
            <a:r>
              <a:rPr lang="en-GB" baseline="-25000" dirty="0" err="1"/>
              <a:t>t</a:t>
            </a:r>
            <a:r>
              <a:rPr lang="en-GB" dirty="0" err="1"/>
              <a:t>.</a:t>
            </a: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r>
              <a:rPr lang="en-GB" dirty="0"/>
              <a:t>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38B24A-7022-FD0F-D0DC-951960E92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988" y="3024009"/>
            <a:ext cx="4285075" cy="404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E3509D-0329-9E85-AAB0-220CD2E77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988" y="4744728"/>
            <a:ext cx="4459840" cy="52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667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Long Short Term Memory (LSTM)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Output gate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task of extracting useful information from the current cell state to be presented as output is done by the output gate.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information is regulated using the sigmoid function and filter by the values to be remembered using inputs h</a:t>
            </a:r>
            <a:r>
              <a:rPr lang="en-GB" baseline="-25000" dirty="0"/>
              <a:t>t-1</a:t>
            </a:r>
            <a:r>
              <a:rPr lang="en-GB" dirty="0"/>
              <a:t> and </a:t>
            </a:r>
            <a:r>
              <a:rPr lang="en-GB" dirty="0" err="1"/>
              <a:t>x</a:t>
            </a:r>
            <a:r>
              <a:rPr lang="en-GB" baseline="-25000" dirty="0" err="1"/>
              <a:t>t</a:t>
            </a:r>
            <a:r>
              <a:rPr lang="en-GB" dirty="0" err="1"/>
              <a:t>.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r>
              <a:rPr lang="en-GB" dirty="0"/>
              <a:t>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940BB5-DA2A-5E23-52CB-F168E66F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222" y="3429000"/>
            <a:ext cx="4385332" cy="4437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D10E9-719A-A7B0-115E-B20CB08A9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222" y="4970425"/>
            <a:ext cx="3144254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445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Sequence-to-Sequence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seq2seq Model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First introduced for </a:t>
            </a:r>
            <a:r>
              <a:rPr lang="en-GB" dirty="0">
                <a:solidFill>
                  <a:srgbClr val="00B050"/>
                </a:solidFill>
              </a:rPr>
              <a:t>machine translation</a:t>
            </a:r>
            <a:r>
              <a:rPr lang="en-GB" dirty="0"/>
              <a:t>, by Google.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type of model that is used for tasks such as </a:t>
            </a:r>
            <a:r>
              <a:rPr lang="en-GB" dirty="0">
                <a:solidFill>
                  <a:srgbClr val="00B050"/>
                </a:solidFill>
              </a:rPr>
              <a:t>machine translation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text summarization</a:t>
            </a:r>
            <a:r>
              <a:rPr lang="en-GB" dirty="0"/>
              <a:t>, and </a:t>
            </a:r>
            <a:r>
              <a:rPr lang="en-GB" dirty="0">
                <a:solidFill>
                  <a:srgbClr val="00B050"/>
                </a:solidFill>
              </a:rPr>
              <a:t>image captioning</a:t>
            </a:r>
            <a:r>
              <a:rPr lang="en-GB" dirty="0"/>
              <a:t>. The model consists of two main components: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Encoder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Decoder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Trained</a:t>
            </a:r>
            <a:r>
              <a:rPr lang="en-GB" dirty="0"/>
              <a:t> using a dataset of </a:t>
            </a:r>
            <a:r>
              <a:rPr lang="en-GB" dirty="0">
                <a:solidFill>
                  <a:srgbClr val="FF0000"/>
                </a:solidFill>
              </a:rPr>
              <a:t>input-output pairs</a:t>
            </a:r>
            <a:r>
              <a:rPr lang="en-GB" dirty="0"/>
              <a:t>, where the input is a sequence of tokens and the output is also a sequence of tokens.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4560520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Sequence-to-Sequence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seq2seq Model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  <p:pic>
        <p:nvPicPr>
          <p:cNvPr id="1026" name="Picture 2" descr="encoder decoder with embeddings softmax2">
            <a:extLst>
              <a:ext uri="{FF2B5EF4-FFF2-40B4-BE49-F238E27FC236}">
                <a16:creationId xmlns:a16="http://schemas.microsoft.com/office/drawing/2014/main" id="{C497FEC4-D029-40F7-FEDF-4A0D84272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363" y="2451076"/>
            <a:ext cx="7987273" cy="431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3133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Sequence-to-Sequence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Encoder-Decoder Stack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Encoder Stack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Converts the input words</a:t>
            </a:r>
            <a:r>
              <a:rPr lang="en-GB" dirty="0"/>
              <a:t> to corresponding </a:t>
            </a:r>
            <a:r>
              <a:rPr lang="en-GB" i="1" dirty="0">
                <a:solidFill>
                  <a:srgbClr val="00B050"/>
                </a:solidFill>
              </a:rPr>
              <a:t>hidden vectors</a:t>
            </a:r>
            <a:r>
              <a:rPr lang="en-GB" dirty="0"/>
              <a:t> (each vector represents the current word and the context of the word).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encoder </a:t>
            </a:r>
            <a:r>
              <a:rPr lang="en-GB" dirty="0">
                <a:solidFill>
                  <a:srgbClr val="00B050"/>
                </a:solidFill>
              </a:rPr>
              <a:t>takes the input sequence</a:t>
            </a:r>
            <a:r>
              <a:rPr lang="en-GB" dirty="0"/>
              <a:t>, </a:t>
            </a:r>
            <a:r>
              <a:rPr lang="en-GB" i="1" dirty="0">
                <a:solidFill>
                  <a:srgbClr val="00B050"/>
                </a:solidFill>
              </a:rPr>
              <a:t>one token at a time</a:t>
            </a:r>
            <a:r>
              <a:rPr lang="en-GB" dirty="0"/>
              <a:t>, and uses an RNN or transformer to </a:t>
            </a:r>
            <a:r>
              <a:rPr lang="en-GB" i="1" dirty="0">
                <a:solidFill>
                  <a:srgbClr val="00B050"/>
                </a:solidFill>
              </a:rPr>
              <a:t>update its hidden state</a:t>
            </a:r>
            <a:r>
              <a:rPr lang="en-GB" dirty="0"/>
              <a:t>, which summarizes the information in the input sequence.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00B050"/>
                </a:solidFill>
              </a:rPr>
              <a:t>final hidden state of the encoder</a:t>
            </a:r>
            <a:r>
              <a:rPr lang="en-GB" dirty="0"/>
              <a:t> is then passed </a:t>
            </a:r>
            <a:r>
              <a:rPr lang="en-GB" i="1" dirty="0">
                <a:solidFill>
                  <a:srgbClr val="00B050"/>
                </a:solidFill>
              </a:rPr>
              <a:t>as the context vector to the decoder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8088966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Sequence-to-Sequence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351338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Encoder-Decoder Stack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Decoder Stack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Takes </a:t>
            </a:r>
            <a:r>
              <a:rPr lang="en-GB" dirty="0">
                <a:solidFill>
                  <a:srgbClr val="00B050"/>
                </a:solidFill>
              </a:rPr>
              <a:t>as input</a:t>
            </a:r>
            <a:r>
              <a:rPr lang="en-GB" dirty="0"/>
              <a:t> the </a:t>
            </a:r>
            <a:r>
              <a:rPr lang="en-GB" i="1" dirty="0">
                <a:solidFill>
                  <a:srgbClr val="00B050"/>
                </a:solidFill>
              </a:rPr>
              <a:t>hidden vector generated by the encoder</a:t>
            </a:r>
            <a:r>
              <a:rPr lang="en-GB" dirty="0"/>
              <a:t>, </a:t>
            </a:r>
            <a:r>
              <a:rPr lang="en-GB" i="1" dirty="0">
                <a:solidFill>
                  <a:srgbClr val="00B050"/>
                </a:solidFill>
              </a:rPr>
              <a:t>its own hidden states</a:t>
            </a:r>
            <a:r>
              <a:rPr lang="en-GB" dirty="0"/>
              <a:t>, and the </a:t>
            </a:r>
            <a:r>
              <a:rPr lang="en-GB" i="1" dirty="0">
                <a:solidFill>
                  <a:srgbClr val="00B050"/>
                </a:solidFill>
              </a:rPr>
              <a:t>current word</a:t>
            </a:r>
            <a:r>
              <a:rPr lang="en-GB" dirty="0"/>
              <a:t> to </a:t>
            </a:r>
            <a:r>
              <a:rPr lang="en-GB" i="1" dirty="0">
                <a:solidFill>
                  <a:srgbClr val="FF0000"/>
                </a:solidFill>
              </a:rPr>
              <a:t>produce the next hidden vecto</a:t>
            </a:r>
            <a:r>
              <a:rPr lang="en-GB" dirty="0"/>
              <a:t>r and finally </a:t>
            </a:r>
            <a:r>
              <a:rPr lang="en-GB" i="1" dirty="0">
                <a:solidFill>
                  <a:srgbClr val="FF0000"/>
                </a:solidFill>
              </a:rPr>
              <a:t>predict the next word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At each time step, the decoder uses </a:t>
            </a:r>
            <a:r>
              <a:rPr lang="en-GB" i="1" dirty="0">
                <a:solidFill>
                  <a:srgbClr val="FF0000"/>
                </a:solidFill>
              </a:rPr>
              <a:t>the current hidden state</a:t>
            </a:r>
            <a:r>
              <a:rPr lang="en-GB" dirty="0"/>
              <a:t>, </a:t>
            </a:r>
            <a:r>
              <a:rPr lang="en-GB" i="1" dirty="0">
                <a:solidFill>
                  <a:srgbClr val="FF0000"/>
                </a:solidFill>
              </a:rPr>
              <a:t>the context vector</a:t>
            </a:r>
            <a:r>
              <a:rPr lang="en-GB" dirty="0"/>
              <a:t>, and </a:t>
            </a:r>
            <a:r>
              <a:rPr lang="en-GB" i="1" dirty="0">
                <a:solidFill>
                  <a:srgbClr val="FF0000"/>
                </a:solidFill>
              </a:rPr>
              <a:t>the previous output token</a:t>
            </a:r>
            <a:r>
              <a:rPr lang="en-GB" dirty="0"/>
              <a:t> to </a:t>
            </a:r>
            <a:r>
              <a:rPr lang="en-GB" dirty="0">
                <a:solidFill>
                  <a:srgbClr val="00B050"/>
                </a:solidFill>
              </a:rPr>
              <a:t>generate a probability distribution over the possible next tokens</a:t>
            </a:r>
            <a:r>
              <a:rPr lang="en-GB" dirty="0"/>
              <a:t>. </a:t>
            </a:r>
          </a:p>
          <a:p>
            <a:pPr lvl="3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token with the </a:t>
            </a:r>
            <a:r>
              <a:rPr lang="en-GB" i="1" dirty="0">
                <a:solidFill>
                  <a:srgbClr val="FF0000"/>
                </a:solidFill>
              </a:rPr>
              <a:t>highest probability is then chosen</a:t>
            </a:r>
            <a:r>
              <a:rPr lang="en-GB" dirty="0"/>
              <a:t> as the output.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9386745" y="90707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8654714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04D03-CB03-0016-8266-F285748A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29BA-2B0A-1554-4ECE-39237999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04CA-EA2F-CF53-9DF6-2D805C04D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Language models</a:t>
            </a:r>
            <a:r>
              <a:rPr lang="en-GB" dirty="0"/>
              <a:t> that have </a:t>
            </a:r>
            <a:r>
              <a:rPr lang="en-GB" dirty="0">
                <a:solidFill>
                  <a:srgbClr val="00B050"/>
                </a:solidFill>
              </a:rPr>
              <a:t>many parameters (over 1B)</a:t>
            </a:r>
            <a:r>
              <a:rPr lang="en-GB" dirty="0"/>
              <a:t> and can perform </a:t>
            </a:r>
            <a:r>
              <a:rPr lang="en-GB" dirty="0">
                <a:solidFill>
                  <a:srgbClr val="00B050"/>
                </a:solidFill>
              </a:rPr>
              <a:t>multiple tasks through prompting.</a:t>
            </a:r>
            <a:r>
              <a:rPr lang="en-GB" dirty="0"/>
              <a:t>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Parameters are factors that an AI system learns from its training data and subsequently utilizes </a:t>
            </a:r>
            <a:r>
              <a:rPr lang="en-GB"/>
              <a:t>to process </a:t>
            </a:r>
            <a:r>
              <a:rPr lang="en-GB" dirty="0"/>
              <a:t>input </a:t>
            </a:r>
            <a:r>
              <a:rPr lang="en-GB"/>
              <a:t>and formulate </a:t>
            </a:r>
            <a:r>
              <a:rPr lang="en-GB" dirty="0"/>
              <a:t>output.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i="1" dirty="0" err="1"/>
              <a:t>Eg.</a:t>
            </a:r>
            <a:r>
              <a:rPr lang="en-GB" i="1" dirty="0"/>
              <a:t> GPT, Llama2, Gemini, </a:t>
            </a:r>
            <a:r>
              <a:rPr lang="en-GB" i="1" dirty="0" err="1"/>
              <a:t>PaLM</a:t>
            </a:r>
            <a:r>
              <a:rPr lang="en-GB" i="1" dirty="0"/>
              <a:t>, Mistral, </a:t>
            </a:r>
            <a:r>
              <a:rPr lang="en-GB" i="1" dirty="0" err="1"/>
              <a:t>Mixtral</a:t>
            </a:r>
            <a:r>
              <a:rPr lang="en-GB" i="1" dirty="0"/>
              <a:t> etc.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11DB1-62E0-9A2A-FD4C-6CBCBDCAE88F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8917441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E916-057C-8BB3-6723-40526A51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F00D-C8A7-E8FE-E27A-B0422310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15B1-4FDE-4822-FC4C-C7CDB1FDA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transformer model</a:t>
            </a:r>
            <a:r>
              <a:rPr lang="en-US" dirty="0"/>
              <a:t> allows </a:t>
            </a:r>
            <a:r>
              <a:rPr lang="en-US" dirty="0">
                <a:solidFill>
                  <a:srgbClr val="00B050"/>
                </a:solidFill>
              </a:rPr>
              <a:t>fast parallel computations</a:t>
            </a:r>
            <a:r>
              <a:rPr lang="en-US" dirty="0"/>
              <a:t> on many GPUs (large amounts of compute).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It allows training on </a:t>
            </a:r>
            <a:r>
              <a:rPr lang="en-US" dirty="0">
                <a:solidFill>
                  <a:srgbClr val="FF0000"/>
                </a:solidFill>
              </a:rPr>
              <a:t>large amounts</a:t>
            </a:r>
            <a:r>
              <a:rPr lang="en-US" dirty="0"/>
              <a:t> of data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It allows adding </a:t>
            </a:r>
            <a:r>
              <a:rPr lang="en-US" dirty="0">
                <a:solidFill>
                  <a:srgbClr val="FF0000"/>
                </a:solidFill>
              </a:rPr>
              <a:t>many and many layers</a:t>
            </a:r>
            <a:r>
              <a:rPr lang="en-US" dirty="0"/>
              <a:t> in the model (large model)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large language model</a:t>
            </a:r>
            <a:r>
              <a:rPr lang="en-US" dirty="0"/>
              <a:t> is a language model with a </a:t>
            </a:r>
            <a:r>
              <a:rPr lang="en-US" dirty="0">
                <a:solidFill>
                  <a:srgbClr val="00B050"/>
                </a:solidFill>
              </a:rPr>
              <a:t>large number of parameters</a:t>
            </a:r>
            <a:r>
              <a:rPr lang="en-US" dirty="0"/>
              <a:t>, trained on </a:t>
            </a:r>
            <a:r>
              <a:rPr lang="en-US" dirty="0">
                <a:solidFill>
                  <a:srgbClr val="00B050"/>
                </a:solidFill>
              </a:rPr>
              <a:t>large amounts of data</a:t>
            </a:r>
            <a:r>
              <a:rPr lang="en-US" dirty="0"/>
              <a:t>, for </a:t>
            </a:r>
            <a:r>
              <a:rPr lang="en-US" dirty="0">
                <a:solidFill>
                  <a:srgbClr val="00B050"/>
                </a:solidFill>
              </a:rPr>
              <a:t>long period of time</a:t>
            </a:r>
            <a:r>
              <a:rPr lang="en-US" dirty="0"/>
              <a:t>.</a:t>
            </a:r>
            <a:endParaRPr lang="en-GB" dirty="0"/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642A8-6A8E-4524-DEBF-66D8BA1A1B79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344765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5868-149B-107A-A5B0-1EEC7184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7A8B-4C26-C9C9-684C-6C0B1741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Pre-training in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44B1-A4BD-9D3A-1BE8-E53F2469B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Word embeddings are the basis of deep learning for NLP.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Word embeddings </a:t>
            </a:r>
            <a:r>
              <a:rPr lang="en-US" i="1" dirty="0">
                <a:solidFill>
                  <a:srgbClr val="00B050"/>
                </a:solidFill>
              </a:rPr>
              <a:t>(word2vec, </a:t>
            </a:r>
            <a:r>
              <a:rPr lang="en-US" i="1" dirty="0" err="1">
                <a:solidFill>
                  <a:srgbClr val="00B050"/>
                </a:solidFill>
              </a:rPr>
              <a:t>GloVe</a:t>
            </a:r>
            <a:r>
              <a:rPr lang="en-US" i="1" dirty="0">
                <a:solidFill>
                  <a:srgbClr val="00B050"/>
                </a:solidFill>
              </a:rPr>
              <a:t>)</a:t>
            </a:r>
            <a:r>
              <a:rPr lang="en-US" dirty="0"/>
              <a:t> are often pre-trained on text corpus from co-occurrence statistics.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</a:rPr>
              <a:t>Problem:</a:t>
            </a:r>
            <a:r>
              <a:rPr lang="en-US" dirty="0"/>
              <a:t> Word embeddings are applied in a </a:t>
            </a:r>
            <a:r>
              <a:rPr lang="en-US" b="1" dirty="0">
                <a:solidFill>
                  <a:srgbClr val="FF0000"/>
                </a:solidFill>
              </a:rPr>
              <a:t>context free manner.</a:t>
            </a:r>
            <a:endParaRPr lang="en-GB" b="1" dirty="0">
              <a:solidFill>
                <a:srgbClr val="FF0000"/>
              </a:solidFill>
            </a:endParaRP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8BEAB-6710-04FD-C294-E66302B4F98E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7A825-80BD-A021-9CD8-CE970525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4258868"/>
            <a:ext cx="6583813" cy="1153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2D6E6-17BC-1D52-679A-4BB44E50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53" y="5525578"/>
            <a:ext cx="7655460" cy="11231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29339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11ED-8B96-6B55-58B2-1B00B7AB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E5B3-C46B-CDCD-1483-E4DFDD76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D1A2-DC18-0EBD-AA25-4463E44B1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Encoder-only (BERT)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Pre-training : Masked Language </a:t>
            </a:r>
            <a:r>
              <a:rPr lang="en-GB" dirty="0" err="1"/>
              <a:t>Modeling</a:t>
            </a:r>
            <a:r>
              <a:rPr lang="en-GB" dirty="0"/>
              <a:t> (MLM)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Great for classification tasks, but hard to do generation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Decoder-only (GPT)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Pre-training: Auto-regressive Language </a:t>
            </a:r>
            <a:r>
              <a:rPr lang="en-GB" dirty="0" err="1"/>
              <a:t>Modeling</a:t>
            </a: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Stable training, faster convergence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Better generalization after pre-training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Encoder-decoder (T0/T5)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Pre-training : Masked Span Prediction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Good for tasks like MT, summarization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5C12F-6762-F5A3-170F-542828AC6FE2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0862527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01F3-A395-098D-DA4B-15944BAF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E5EF-C8E9-0BCF-6723-EFF1DBCB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BERT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9783A-1088-1254-8AE8-7ADD5BCA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804D9A-C699-CDB0-D461-8D8899479A92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89787F4-6DB9-D190-3234-FD89BD922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102" y="1708281"/>
            <a:ext cx="4867795" cy="470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9612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F66D-66A2-5347-39B1-8F5E9075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C791-D554-E8BB-A03B-B757B285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BERT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945A-853C-12A6-57C6-DE295A47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Input Embedding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Input text</a:t>
            </a:r>
            <a:r>
              <a:rPr lang="en-US" dirty="0"/>
              <a:t> is first </a:t>
            </a:r>
            <a:r>
              <a:rPr lang="en-US" dirty="0">
                <a:solidFill>
                  <a:srgbClr val="FF0000"/>
                </a:solidFill>
              </a:rPr>
              <a:t>converted into input embeddings</a:t>
            </a:r>
            <a:r>
              <a:rPr lang="en-US" dirty="0"/>
              <a:t>, which are vectorized representations of the words that encapsulate semantic meaning.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 err="1">
                <a:solidFill>
                  <a:srgbClr val="FF0000"/>
                </a:solidFill>
              </a:rPr>
              <a:t>GloVe</a:t>
            </a:r>
            <a:r>
              <a:rPr lang="en-GB" dirty="0">
                <a:solidFill>
                  <a:srgbClr val="FF0000"/>
                </a:solidFill>
              </a:rPr>
              <a:t>, </a:t>
            </a:r>
            <a:r>
              <a:rPr lang="en-GB" dirty="0" err="1">
                <a:solidFill>
                  <a:srgbClr val="FF0000"/>
                </a:solidFill>
              </a:rPr>
              <a:t>Fasttext</a:t>
            </a:r>
            <a:r>
              <a:rPr lang="en-GB" dirty="0">
                <a:solidFill>
                  <a:srgbClr val="FF0000"/>
                </a:solidFill>
              </a:rPr>
              <a:t>, Word2Vec</a:t>
            </a:r>
            <a:r>
              <a:rPr lang="en-GB" dirty="0"/>
              <a:t> … can be used.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0100C-6AF2-6E0F-B25D-7EBA172AEE23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4673848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4C75-3BD7-B135-2420-F5E31BA7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BB08-6565-CF4E-06AA-8DC55D3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BERT model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B98BA9-E40A-4241-BF31-18E42DCFB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00B050"/>
                    </a:solidFill>
                  </a:rPr>
                  <a:t>Positional Encoding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US" dirty="0"/>
                  <a:t>The position of the </a:t>
                </a:r>
                <a:r>
                  <a:rPr lang="en-US" dirty="0">
                    <a:solidFill>
                      <a:srgbClr val="FF0000"/>
                    </a:solidFill>
                  </a:rPr>
                  <a:t>k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dirty="0"/>
                  <a:t> object within input sequence of length </a:t>
                </a:r>
                <a:r>
                  <a:rPr lang="en-US" dirty="0">
                    <a:solidFill>
                      <a:srgbClr val="FF0000"/>
                    </a:solidFill>
                  </a:rPr>
                  <a:t>L</a:t>
                </a:r>
                <a:r>
                  <a:rPr lang="en-US" dirty="0"/>
                  <a:t>.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US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US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US" dirty="0"/>
                  <a:t>Where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US" dirty="0"/>
                  <a:t>k: position of an object in the input sequence,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US" dirty="0"/>
                  <a:t>d: dimension of the output embedding space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US" dirty="0"/>
                  <a:t>P(k, j): position function for mapping a position k in the input sequence to index (k, j) of the positional matrix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US" dirty="0"/>
                  <a:t>n: User-defined scalar, set to 10,000; i: used for mapping to column indices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 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B98BA9-E40A-4241-BF31-18E42DCFB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08281"/>
                <a:ext cx="10833847" cy="4853884"/>
              </a:xfrm>
              <a:blipFill>
                <a:blip r:embed="rId2"/>
                <a:stretch>
                  <a:fillRect l="-844" r="-506" b="-13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C78F05F-B68E-CEA1-8FB1-6C169A9D269A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2FBB42-F659-E1A6-6179-4BD686EB1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225" y="2972134"/>
            <a:ext cx="3055409" cy="12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589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1537-FBDC-FD66-8B43-EA5C640D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A34C-D45A-C8B9-8361-C2E7D79A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BERT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9CED3-E6BA-95E4-F819-C63253020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Positional Encoding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B265A-4914-57A6-D6DC-1A29D36EEFF2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692EF0-E201-B27E-0C85-3AB7D9439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178" y="2394349"/>
            <a:ext cx="7539644" cy="446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4657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CAC6-2037-8C9E-AD3D-7C132F44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E97A-8829-2431-43B2-2165223D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BERT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58B0-F234-906A-6A52-74AFA0CA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643543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Self-Attention </a:t>
            </a:r>
            <a:r>
              <a:rPr lang="en-GB" dirty="0">
                <a:solidFill>
                  <a:srgbClr val="FF0000"/>
                </a:solidFill>
              </a:rPr>
              <a:t>at a High Level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Say the following sentence is an input sentence: </a:t>
            </a:r>
            <a:r>
              <a:rPr lang="en-US" i="1" dirty="0">
                <a:solidFill>
                  <a:srgbClr val="0070C0"/>
                </a:solidFill>
              </a:rPr>
              <a:t>“The </a:t>
            </a:r>
            <a:r>
              <a:rPr lang="en-US" i="1" dirty="0">
                <a:solidFill>
                  <a:srgbClr val="FF0000"/>
                </a:solidFill>
              </a:rPr>
              <a:t>animal</a:t>
            </a:r>
            <a:r>
              <a:rPr lang="en-US" i="1" dirty="0">
                <a:solidFill>
                  <a:srgbClr val="0070C0"/>
                </a:solidFill>
              </a:rPr>
              <a:t> didn't cross the street because </a:t>
            </a:r>
            <a:r>
              <a:rPr lang="en-US" i="1" dirty="0">
                <a:solidFill>
                  <a:srgbClr val="FF0000"/>
                </a:solidFill>
              </a:rPr>
              <a:t>it</a:t>
            </a:r>
            <a:r>
              <a:rPr lang="en-US" i="1" dirty="0">
                <a:solidFill>
                  <a:srgbClr val="0070C0"/>
                </a:solidFill>
              </a:rPr>
              <a:t> was too tired”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What does “it” in this sentence refer to?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Self-attention allows model to associate “it” with “animal”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50B28-9078-2D55-A4F5-82E6C806B67D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5FFB20E-A16D-433C-05B6-2EFC49F35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33" y="2254035"/>
            <a:ext cx="417195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081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B1203-5662-1355-D5B8-5ED4F0AE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9E4D-263C-FE8D-C894-0D2EEABD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BERT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D80A2-AB93-00C9-0EE9-5916CF53D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643543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Self-Attention </a:t>
            </a:r>
            <a:r>
              <a:rPr lang="en-GB" dirty="0">
                <a:solidFill>
                  <a:srgbClr val="FF0000"/>
                </a:solidFill>
              </a:rPr>
              <a:t>at a High Level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31C5F-D51A-CF2E-AFB5-4DBDDE576AC2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FC36D5-DCC3-FCAB-BC43-E33F40B7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514" y="2307362"/>
            <a:ext cx="7008559" cy="438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969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7721-732F-938F-CF7E-117042D8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0397-B626-6D69-B0A3-ADF164A3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Masked 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CA10-CD08-7AE6-1DCD-762E4A521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Solution: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Mask out k% of the input words</a:t>
            </a:r>
            <a:r>
              <a:rPr lang="en-US" dirty="0"/>
              <a:t>, and then predict the masked words.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k = 15%</a:t>
            </a: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00B050"/>
                </a:solidFill>
              </a:rPr>
              <a:t>Too little masking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Too expensive to train</a:t>
            </a:r>
            <a:r>
              <a:rPr lang="en-US" dirty="0"/>
              <a:t>; </a:t>
            </a:r>
            <a:r>
              <a:rPr lang="en-US" dirty="0">
                <a:solidFill>
                  <a:srgbClr val="0070C0"/>
                </a:solidFill>
              </a:rPr>
              <a:t>Too much masking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Not enough context.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2A446-E6D4-AC86-3A39-A8A9802D2819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D62AA-C969-ED77-1C24-E26EDD166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411" y="3695812"/>
            <a:ext cx="8843177" cy="145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139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6285-E841-FCF8-E5B1-401170CB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8E37-0187-999A-72CC-69C19EE8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Masked 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0468-317B-FA67-9E63-5684CE86F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b="1" dirty="0"/>
              <a:t>Problem:</a:t>
            </a:r>
            <a:r>
              <a:rPr lang="en-US" dirty="0"/>
              <a:t> Mask token never seen at fine-tuning.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Solution:</a:t>
            </a:r>
            <a:r>
              <a:rPr lang="en-US" dirty="0"/>
              <a:t> don’t replace with [MASK] 100% of the time.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80% of the time, replace with [MASK]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went to the store → went to the [MASK]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10% of the time, replace random word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went to the store → went to the running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10% of the time, keep same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went to the store → went to the store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33A2F-C51D-4319-EC0A-03A464EF93FF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4434229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725D0-0281-3A7A-2414-9C37AA6A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FCA8-A05E-B8C7-460F-D970A99F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Next Sentence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C078-6C83-9F1A-E3AE-C560416B2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US" dirty="0"/>
              <a:t>To learn </a:t>
            </a:r>
            <a:r>
              <a:rPr lang="en-US" dirty="0">
                <a:solidFill>
                  <a:srgbClr val="FF0000"/>
                </a:solidFill>
              </a:rPr>
              <a:t>relationships between sentences</a:t>
            </a:r>
            <a:r>
              <a:rPr lang="en-US" dirty="0"/>
              <a:t>, predict whether Sentence B is actual sentence that proceeds Sentence A, or a random sentence.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4A796-4F37-1BF6-9211-C1F5F30F09F2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8EFCA4-7D4F-8C34-AE40-6D9999BC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3181246"/>
            <a:ext cx="10196945" cy="311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479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D059-7B5C-A8B9-5299-E46EAAA8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DA1B-008F-8DB1-FCB6-05A12FE9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 Full Decoder-Only Transformer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4080-4E72-B27F-8D8B-5AEB28279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GPT (Generative Pre-trained Transformer)</a:t>
            </a:r>
            <a:r>
              <a:rPr lang="en-GB" dirty="0"/>
              <a:t> is the first decoder-only Transformer model.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6B69C-FDFC-2943-D4AC-A915FBF8631E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D951BB-DFBF-E435-644F-BB4F83055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336" y="3014159"/>
            <a:ext cx="7565328" cy="375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7200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ADDC9-EEE9-E1A5-B13A-6C926CF8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84B7-273A-C1BE-B7C0-71BBD65AB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 Full Decoder-Only Transformer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23441-DF49-3981-681D-1A0E459A2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Layer Normalization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It </a:t>
            </a:r>
            <a:r>
              <a:rPr lang="en-GB" dirty="0">
                <a:solidFill>
                  <a:srgbClr val="FF0000"/>
                </a:solidFill>
              </a:rPr>
              <a:t>calculates the mean and standard deviation</a:t>
            </a:r>
            <a:r>
              <a:rPr lang="en-GB" dirty="0"/>
              <a:t> of all feature dimensions </a:t>
            </a:r>
            <a:r>
              <a:rPr lang="en-GB" dirty="0">
                <a:solidFill>
                  <a:srgbClr val="00B050"/>
                </a:solidFill>
              </a:rPr>
              <a:t>for each sample independently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assists in </a:t>
            </a:r>
            <a:r>
              <a:rPr lang="en-GB" dirty="0">
                <a:solidFill>
                  <a:srgbClr val="FF0000"/>
                </a:solidFill>
              </a:rPr>
              <a:t>stabilizing the learning process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reduces the required number of training steps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5B961-A199-4633-EEC2-1BE0D4DA9A86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7115192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4D1B4-1C6D-8380-36C2-DA204A56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40E1-91FA-8CAA-6CF2-F4C70994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 Full Decoder-Only Transformer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AB125-F9D6-00D7-1507-D73497320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Masked </a:t>
            </a:r>
            <a:r>
              <a:rPr lang="en-GB" dirty="0">
                <a:solidFill>
                  <a:srgbClr val="00B050"/>
                </a:solidFill>
              </a:rPr>
              <a:t>Self-Attention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Used to ensure that the model </a:t>
            </a:r>
            <a:r>
              <a:rPr lang="en-GB" dirty="0" err="1">
                <a:solidFill>
                  <a:srgbClr val="FF0000"/>
                </a:solidFill>
              </a:rPr>
              <a:t>doesnʼt</a:t>
            </a:r>
            <a:r>
              <a:rPr lang="en-GB" dirty="0">
                <a:solidFill>
                  <a:srgbClr val="FF0000"/>
                </a:solidFill>
              </a:rPr>
              <a:t> attend to some of the tokens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in the input sequence during training or generation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example, when working with sequence-to-sequence tasks like Machine Translation, we </a:t>
            </a:r>
            <a:r>
              <a:rPr lang="en-GB" dirty="0" err="1"/>
              <a:t>wouldnʼt</a:t>
            </a:r>
            <a:r>
              <a:rPr lang="en-GB" dirty="0"/>
              <a:t> want the model to attend to words that come after the current word being translated.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In terms of implementation, </a:t>
            </a:r>
            <a:r>
              <a:rPr lang="en-GB" dirty="0">
                <a:solidFill>
                  <a:srgbClr val="00B050"/>
                </a:solidFill>
              </a:rPr>
              <a:t>tokens are masked</a:t>
            </a:r>
            <a:r>
              <a:rPr lang="en-GB" dirty="0"/>
              <a:t> by setting their </a:t>
            </a:r>
            <a:r>
              <a:rPr lang="en-GB" dirty="0">
                <a:solidFill>
                  <a:srgbClr val="00B050"/>
                </a:solidFill>
              </a:rPr>
              <a:t>weights to -inf </a:t>
            </a:r>
            <a:r>
              <a:rPr lang="en-GB" dirty="0"/>
              <a:t>before applying the SoftMax normalization.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16D7A-724D-4E6E-30A4-0DE7AEB2961B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0597006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7756-F62D-969D-3A40-171A7571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DE79-4D28-3325-0516-2154C3AA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 From raw text to aligned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E36B-F75C-2087-2B88-D026E7D4C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C5A5D-7FF7-356C-1841-06805D4BF856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3DE7D-E3C1-E7A7-21CE-5776DEC4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59" y="2391369"/>
            <a:ext cx="11454882" cy="311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453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4498-A467-6070-45B1-5DBDC7EB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B5DD-E687-78D6-5D26-19F90581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4436"/>
            <a:ext cx="10941424" cy="839448"/>
          </a:xfrm>
        </p:spPr>
        <p:txBody>
          <a:bodyPr>
            <a:normAutofit/>
          </a:bodyPr>
          <a:lstStyle/>
          <a:p>
            <a:r>
              <a:rPr lang="en-US" dirty="0"/>
              <a:t> Prompting as inference-time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EE97-D2AD-7D1F-201B-594FC080F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8281"/>
            <a:ext cx="10833847" cy="485388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88BF5-0436-1ECE-805B-E5911798B878}"/>
              </a:ext>
            </a:extLst>
          </p:cNvPr>
          <p:cNvSpPr txBox="1"/>
          <p:nvPr/>
        </p:nvSpPr>
        <p:spPr>
          <a:xfrm>
            <a:off x="8826904" y="907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LARGE LANGUAGE MODELS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27FCC4-1507-9714-D766-0388BC35D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46" y="2065767"/>
            <a:ext cx="10531151" cy="35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0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3817</TotalTime>
  <Words>4026</Words>
  <Application>Microsoft Office PowerPoint</Application>
  <PresentationFormat>Widescreen</PresentationFormat>
  <Paragraphs>463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1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NATURAL LANGUAGE PROCESSING (NLP)</vt:lpstr>
      <vt:lpstr>Motivation</vt:lpstr>
      <vt:lpstr>The language modeling problem</vt:lpstr>
      <vt:lpstr>The language modeling problem</vt:lpstr>
      <vt:lpstr>Language models play the role of ...</vt:lpstr>
      <vt:lpstr>Why language modelling?</vt:lpstr>
      <vt:lpstr>Language model evolution</vt:lpstr>
      <vt:lpstr>Basic Probability Theory</vt:lpstr>
      <vt:lpstr>Basic Probability Theory</vt:lpstr>
      <vt:lpstr>Basic Probability Theory</vt:lpstr>
      <vt:lpstr>Basic Probability Theory</vt:lpstr>
      <vt:lpstr>Probability models</vt:lpstr>
      <vt:lpstr>Language modeling with n-grams</vt:lpstr>
      <vt:lpstr>Language modeling with n-grams</vt:lpstr>
      <vt:lpstr>Estimating N-gram models</vt:lpstr>
      <vt:lpstr>Estimating N-gram models</vt:lpstr>
      <vt:lpstr>How do we use language models?</vt:lpstr>
      <vt:lpstr>Using n-gram models to generate language</vt:lpstr>
      <vt:lpstr>Using n-gram models to generate language</vt:lpstr>
      <vt:lpstr>How do we evaluate models?</vt:lpstr>
      <vt:lpstr>How do we evaluate models?</vt:lpstr>
      <vt:lpstr>Intrinsic Evaluation of Language Models: Perplexity</vt:lpstr>
      <vt:lpstr>Intrinsic Evaluation of Language Models: Perplexity</vt:lpstr>
      <vt:lpstr>Extrinsic Evaluation of LMs: Word Error Rate</vt:lpstr>
      <vt:lpstr>Word embedding</vt:lpstr>
      <vt:lpstr>Word embedding</vt:lpstr>
      <vt:lpstr>Word embedding</vt:lpstr>
      <vt:lpstr>Word embedding</vt:lpstr>
      <vt:lpstr>Word embedding</vt:lpstr>
      <vt:lpstr>Word embedding</vt:lpstr>
      <vt:lpstr>Word embedding</vt:lpstr>
      <vt:lpstr>Representing a word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word2vec: Representing the Meaning of Words</vt:lpstr>
      <vt:lpstr>doc2vec</vt:lpstr>
      <vt:lpstr>word2vec: Representing the Meaning of Words</vt:lpstr>
      <vt:lpstr>GloVe: Global Vectors for Word Representation</vt:lpstr>
      <vt:lpstr>GloVe: Global Vectors for Word Representation</vt:lpstr>
      <vt:lpstr>GloVe: Global Vectors for Word Representation</vt:lpstr>
      <vt:lpstr>GloVe: Global Vectors for Word Representation</vt:lpstr>
      <vt:lpstr>GloVe: Global Vectors for Word Representation</vt:lpstr>
      <vt:lpstr>GloVe: Global Vectors for Word Representation</vt:lpstr>
      <vt:lpstr>GloVe: Global Vectors for Word Representation</vt:lpstr>
      <vt:lpstr>GloVe: Global Vectors for Word Representation</vt:lpstr>
      <vt:lpstr>Practical issues</vt:lpstr>
      <vt:lpstr>Recurrent Neural Networks (RNNs) - ReCap</vt:lpstr>
      <vt:lpstr>Recurrent Neural Networks (RNNs) - ReCap</vt:lpstr>
      <vt:lpstr>A Simple RNN Language Model</vt:lpstr>
      <vt:lpstr>A Simple RNN Language Model</vt:lpstr>
      <vt:lpstr>Long Short Term Memory (LSTM)</vt:lpstr>
      <vt:lpstr>Long Short Term Memory (LSTM)</vt:lpstr>
      <vt:lpstr>Long Short Term Memory (LSTM)</vt:lpstr>
      <vt:lpstr>Long Short Term Memory (LSTM)</vt:lpstr>
      <vt:lpstr>Sequence-to-Sequence</vt:lpstr>
      <vt:lpstr>Sequence-to-Sequence</vt:lpstr>
      <vt:lpstr>Sequence-to-Sequence</vt:lpstr>
      <vt:lpstr>Sequence-to-Sequence</vt:lpstr>
      <vt:lpstr>Introduction</vt:lpstr>
      <vt:lpstr>Introduction</vt:lpstr>
      <vt:lpstr>Pre-training in NLP</vt:lpstr>
      <vt:lpstr>Architecture</vt:lpstr>
      <vt:lpstr>BERT model architecture</vt:lpstr>
      <vt:lpstr>BERT model architecture</vt:lpstr>
      <vt:lpstr>BERT model architecture</vt:lpstr>
      <vt:lpstr>BERT model architecture</vt:lpstr>
      <vt:lpstr>BERT model architecture</vt:lpstr>
      <vt:lpstr>BERT model architecture</vt:lpstr>
      <vt:lpstr>Masked LM</vt:lpstr>
      <vt:lpstr>Masked LM</vt:lpstr>
      <vt:lpstr>Next Sentence Prediction</vt:lpstr>
      <vt:lpstr> Full Decoder-Only Transformer Model</vt:lpstr>
      <vt:lpstr> Full Decoder-Only Transformer Model</vt:lpstr>
      <vt:lpstr> Full Decoder-Only Transformer Model</vt:lpstr>
      <vt:lpstr> From raw text to aligned assistant</vt:lpstr>
      <vt:lpstr> Prompting as inference-time programming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  TECHNOLOGY AND MANAGEMENT</dc:title>
  <dc:creator>Quoc Dinh</dc:creator>
  <cp:lastModifiedBy>Quoc Dinh Truong</cp:lastModifiedBy>
  <cp:revision>480</cp:revision>
  <dcterms:created xsi:type="dcterms:W3CDTF">2023-02-12T07:59:05Z</dcterms:created>
  <dcterms:modified xsi:type="dcterms:W3CDTF">2026-05-28T13:50:08Z</dcterms:modified>
</cp:coreProperties>
</file>